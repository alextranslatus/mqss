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1.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comment2.xml" ContentType="application/vnd.openxmlformats-officedocument.presentationml.comments+xml"/>
  <Override PartName="/ppt/notesSlides/notesSlide17.xml" ContentType="application/vnd.openxmlformats-officedocument.presentationml.notesSlide+xml"/>
  <Override PartName="/ppt/comments/comment3.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omments/comment4.xml" ContentType="application/vnd.openxmlformats-officedocument.presentationml.comment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303" r:id="rId37"/>
    <p:sldId id="307"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4" roundtripDataSignature="AMtx7mh+diUWKDfB17VYnpn5KHKAGBDsc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riane Sessego" initials="" lastIdx="4" clrIdx="0"/>
  <p:cmAuthor id="1" name="Nathan Lévêque"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58"/>
    <p:restoredTop sz="94701"/>
  </p:normalViewPr>
  <p:slideViewPr>
    <p:cSldViewPr snapToGrid="0">
      <p:cViewPr varScale="1">
        <p:scale>
          <a:sx n="110" d="100"/>
          <a:sy n="110" d="100"/>
        </p:scale>
        <p:origin x="1512" y="16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01-02T11:05:10.309" idx="1">
    <p:pos x="294" y="1052"/>
    <p:text>J'ai ajouté cette précision, pour souligner que la standardisation est avant tout une mise en place d'équivalences.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a9tIG_E"/>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01-02T14:35:23.728" idx="2">
    <p:pos x="63" y="1163"/>
    <p:text>Pour mentionner un exemple</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Z8"/>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0" dt="2025-01-02T14:27:10.568" idx="3">
    <p:pos x="294" y="1251"/>
    <p:text>Je sais qu'on en reparle dans l'Intro 2 mais ça me paraissait important d'en parler là. Ce sont des sources classiques et essentielles en démographie et dans de nombreuses études...
Ne vous gênez pas pour changer ou rajouter des choses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Zw"/>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0" dt="2025-01-10T12:15:42.013" idx="4">
    <p:pos x="294" y="1163"/>
    <p:text>Même pendant le confinement?</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aA"/>
      </p:ext>
    </p:extLst>
  </p:cm>
  <p:cm authorId="1" dt="2025-01-10T12:15:42.013" idx="1">
    <p:pos x="294" y="1163"/>
    <p:text>cf texte en complément de la diapo</p:text>
    <p:extLst>
      <p:ext uri="{C676402C-5697-4E1C-873F-D02D1690AC5C}">
        <p15:threadingInfo xmlns:p15="http://schemas.microsoft.com/office/powerpoint/2012/main" timeZoneBias="0">
          <p15:parentCm authorId="0" idx="4"/>
        </p15:threadingInfo>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YhRMKyw"/>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aaa886857f_1_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aaa886857f_1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2aaa886857f_1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a95d21eafb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2a95d21eafb_0_8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a994f7876f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5" name="Google Shape;115;g2a994f7876f_0_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ab55a4ceb1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4" name="Google Shape;124;g2ab55a4ceb1_0_6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2ab55a4ceb1_0_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g2ab55a4ceb1_0_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ab55a4ceb1_0_7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4" name="Google Shape;144;g2ab55a4ceb1_0_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ab795ca10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5" name="Google Shape;155;g2ab795ca10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2abac93716c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4" name="Google Shape;164;g2abac93716c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abac93716c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3" name="Google Shape;173;g2abac93716c_0_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b55a4ceb1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3" name="Google Shape;183;g2ab55a4ceb1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abac93716c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2abac93716c_0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abbb0daa5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2" name="Google Shape;202;g2abbb0daa5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75bd79b03_0_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g2d75bd79b03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2a994f7876f_0_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0" name="Google Shape;220;g2a994f7876f_0_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abbb0daa57_0_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9" name="Google Shape;229;g2abbb0daa57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abbb0daa5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8" name="Google Shape;238;g2abbb0daa57_0_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2d75bd79b0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7" name="Google Shape;247;g2d75bd79b03_0_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a994f7876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2a994f7876f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aaa886857f_1_1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5" name="Google Shape;265;g2aaa886857f_1_1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a994f7876f_0_1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4" name="Google Shape;274;g2a994f7876f_0_1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a994f7876f_0_17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3" name="Google Shape;283;g2a994f7876f_0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2a994f7876f_0_19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2" name="Google Shape;292;g2a994f7876f_0_1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248ac6ffd9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1" name="Google Shape;301;g3248ac6ffd9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2a994f7876f_0_1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sz="1500">
                <a:solidFill>
                  <a:srgbClr val="212427"/>
                </a:solidFill>
                <a:highlight>
                  <a:srgbClr val="FFFFFF"/>
                </a:highlight>
                <a:latin typeface="Georgia"/>
                <a:ea typeface="Georgia"/>
                <a:cs typeface="Georgia"/>
                <a:sym typeface="Georgia"/>
              </a:rPr>
              <a:t>“Enfin, le protocole de l’enquête a dû être ajusté avec la survenue de la pandémie de Covid-19 qui a interrompu la collecte. Conçue pour se dérouler intégralement en face-à-face, l’enquête a été ouverte à la collecte par téléphone : 23 % des entretiens menés après le début du premier confinement (17 mars 2020) ont été réalisés ainsi. S’étalant initialement de juillet 2019 à novembre 2020, la collecte s’est poursuivie jusqu’en janvier 2021. La crise sanitaire a eu des effets non aléatoires sur l’échantillon. Alors que les individus des sous-échantillons de la population générale et des immigré·es n’avaient pas connu la Covid-19 au moment où ils ont été enquêtés (juillet à décembre 2019), près de 60 % des personnes de deuxième génération (enquêtées entre janvier et novembre 2020) et la quasi-totalité de celles de la troisième génération non européenne (mars 2020 - janvier 2021) ont été interrogées après le premier confinement (tableau 2). Les expériences des enquêté·es rapportées dans l’enquête avant et après la crise sanitaire ont pu être affectées par les circonstances. Les analyses devront en tenir compte.”</a:t>
            </a:r>
            <a:endParaRPr/>
          </a:p>
        </p:txBody>
      </p:sp>
      <p:sp>
        <p:nvSpPr>
          <p:cNvPr id="310" name="Google Shape;310;g2a994f7876f_0_18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a994f7876f_0_17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9" name="Google Shape;319;g2a994f7876f_0_1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a994f7876f_0_1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8" name="Google Shape;328;g2a994f7876f_0_1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a994f7876f_0_2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8" name="Google Shape;338;g2a994f7876f_0_2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a994f7876f_0_1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2a994f7876f_0_1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2a994f7876f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8" name="Google Shape;358;g2a994f7876f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2abbb0daa5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7" name="Google Shape;367;g2abbb0daa57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abbb0daa57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6" name="Google Shape;376;g2abbb0daa57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2abbb0daa57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5" name="Google Shape;385;g2abbb0daa57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2abbb0daa5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5" name="Google Shape;395;g2abbb0daa57_0_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32040ae3fd7_0_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91532A7-FFFC-93F6-2D68-1F2A0CE29AC3}"/>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028A44AF-1DD6-EB1A-EF1A-779C6C2DDA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86864241-2B38-8A72-DC06-51582814621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273540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37F41F6F-11E5-466C-789E-417625B64182}"/>
            </a:ext>
          </a:extLst>
        </p:cNvPr>
        <p:cNvGrpSpPr/>
        <p:nvPr/>
      </p:nvGrpSpPr>
      <p:grpSpPr>
        <a:xfrm>
          <a:off x="0" y="0"/>
          <a:ext cx="0" cy="0"/>
          <a:chOff x="0" y="0"/>
          <a:chExt cx="0" cy="0"/>
        </a:xfrm>
      </p:grpSpPr>
      <p:sp>
        <p:nvSpPr>
          <p:cNvPr id="403" name="Google Shape;403;g32040ae3fd7_0_2:notes">
            <a:extLst>
              <a:ext uri="{FF2B5EF4-FFF2-40B4-BE49-F238E27FC236}">
                <a16:creationId xmlns:a16="http://schemas.microsoft.com/office/drawing/2014/main" id="{DC6F4CD1-38AD-A7E6-80DD-E87B9C88FFC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a:extLst>
              <a:ext uri="{FF2B5EF4-FFF2-40B4-BE49-F238E27FC236}">
                <a16:creationId xmlns:a16="http://schemas.microsoft.com/office/drawing/2014/main" id="{3952C95B-DC2F-7F50-176F-71A07DA80CA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702662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a994f7876f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3" name="Google Shape;413;g2a994f7876f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2ab55a4ceb1_2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2" name="Google Shape;422;g2ab55a4ceb1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a994f7876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1" name="Google Shape;431;g2a994f7876f_0_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2ab55a4ceb1_2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0" name="Google Shape;440;g2ab55a4ceb1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a994f7876f_0_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9" name="Google Shape;449;g2a994f7876f_0_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2ab55a4ceb1_2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8" name="Google Shape;458;g2ab55a4ceb1_2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ab55a4ce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7" name="Google Shape;467;g2ab55a4ceb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a994f7876f_0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6" name="Google Shape;476;g2a994f7876f_0_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ab55a4ceb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5" name="Google Shape;485;g2ab55a4ceb1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ab55a4ceb1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4" name="Google Shape;494;g2ab55a4ceb1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2ae90372f6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3" name="Google Shape;503;g2ae90372f6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2abac93716c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2" name="Google Shape;512;g2abac93716c_0_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e de titre" type="title">
  <p:cSld name="TITLE">
    <p:spTree>
      <p:nvGrpSpPr>
        <p:cNvPr id="1" name="Shape 15"/>
        <p:cNvGrpSpPr/>
        <p:nvPr/>
      </p:nvGrpSpPr>
      <p:grpSpPr>
        <a:xfrm>
          <a:off x="0" y="0"/>
          <a:ext cx="0" cy="0"/>
          <a:chOff x="0" y="0"/>
          <a:chExt cx="0" cy="0"/>
        </a:xfrm>
      </p:grpSpPr>
      <p:sp>
        <p:nvSpPr>
          <p:cNvPr id="16" name="Google Shape;16;p9"/>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9"/>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Deux contenus" type="twoObj">
  <p:cSld name="TWO_OBJECTS">
    <p:spTree>
      <p:nvGrpSpPr>
        <p:cNvPr id="1" name="Shape 33"/>
        <p:cNvGrpSpPr/>
        <p:nvPr/>
      </p:nvGrpSpPr>
      <p:grpSpPr>
        <a:xfrm>
          <a:off x="0" y="0"/>
          <a:ext cx="0" cy="0"/>
          <a:chOff x="0" y="0"/>
          <a:chExt cx="0" cy="0"/>
        </a:xfrm>
      </p:grpSpPr>
      <p:sp>
        <p:nvSpPr>
          <p:cNvPr id="34" name="Google Shape;34;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aison" type="twoTxTwoObj">
  <p:cSld name="TWO_OBJECTS_WITH_TEXT">
    <p:spTree>
      <p:nvGrpSpPr>
        <p:cNvPr id="1" name="Shape 40"/>
        <p:cNvGrpSpPr/>
        <p:nvPr/>
      </p:nvGrpSpPr>
      <p:grpSpPr>
        <a:xfrm>
          <a:off x="0" y="0"/>
          <a:ext cx="0" cy="0"/>
          <a:chOff x="0" y="0"/>
          <a:chExt cx="0" cy="0"/>
        </a:xfrm>
      </p:grpSpPr>
      <p:sp>
        <p:nvSpPr>
          <p:cNvPr id="41" name="Google Shape;41;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re seul" type="titleOnly">
  <p:cSld name="TITLE_ONLY">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Vide" type="blank">
  <p:cSld name="BLANK">
    <p:spTree>
      <p:nvGrpSpPr>
        <p:cNvPr id="1" name="Shape 54"/>
        <p:cNvGrpSpPr/>
        <p:nvPr/>
      </p:nvGrpSpPr>
      <p:grpSpPr>
        <a:xfrm>
          <a:off x="0" y="0"/>
          <a:ext cx="0" cy="0"/>
          <a:chOff x="0" y="0"/>
          <a:chExt cx="0" cy="0"/>
        </a:xfrm>
      </p:grpSpPr>
      <p:sp>
        <p:nvSpPr>
          <p:cNvPr id="55" name="Google Shape;55;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u avec légende" type="objTx">
  <p:cSld name="OBJECT_WITH_CAPTION_TEXT">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5"/>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15"/>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avec légende" type="picTx">
  <p:cSld name="PICTURE_WITH_CAPTION_TEXT">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6"/>
          <p:cNvSpPr>
            <a:spLocks noGrp="1"/>
          </p:cNvSpPr>
          <p:nvPr>
            <p:ph type="pic" idx="2"/>
          </p:nvPr>
        </p:nvSpPr>
        <p:spPr>
          <a:xfrm>
            <a:off x="1792288" y="612775"/>
            <a:ext cx="5486400" cy="4114800"/>
          </a:xfrm>
          <a:prstGeom prst="rect">
            <a:avLst/>
          </a:prstGeom>
          <a:noFill/>
          <a:ln>
            <a:noFill/>
          </a:ln>
        </p:spPr>
      </p:sp>
      <p:sp>
        <p:nvSpPr>
          <p:cNvPr id="68" name="Google Shape;68;p1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re et texte vertical" type="vertTx">
  <p:cSld name="VERTICAL_TEXT">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7"/>
          <p:cNvSpPr txBox="1">
            <a:spLocks noGrp="1"/>
          </p:cNvSpPr>
          <p:nvPr>
            <p:ph type="body" idx="1"/>
          </p:nvPr>
        </p:nvSpPr>
        <p:spPr>
          <a:xfrm rot="5400000">
            <a:off x="2309018" y="-251619"/>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re vertical et texte" type="vertTitleAndTx">
  <p:cSld name="VERTICAL_TITLE_AND_VERTICAL_TEXT">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8"/>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7"/>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3" r:id="rId3"/>
    <p:sldLayoutId id="2147483654" r:id="rId4"/>
    <p:sldLayoutId id="2147483655" r:id="rId5"/>
    <p:sldLayoutId id="2147483656" r:id="rId6"/>
    <p:sldLayoutId id="2147483657"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sites.google.com/view/collectifpof/accueil#h.q2lfs3mbrdl5"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s://github.com/alextranslatus/MQSS/"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hyperlink" Target="https://posit.co/download/rstudio-desktop/" TargetMode="Externa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hyperlink" Target="mailto:alain.gnanou@sciencespo-saintgermain.fr" TargetMode="External"/><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5D5A"/>
        </a:solidFill>
        <a:effectLst/>
      </p:bgPr>
    </p:bg>
    <p:spTree>
      <p:nvGrpSpPr>
        <p:cNvPr id="1" name="Shape 88"/>
        <p:cNvGrpSpPr/>
        <p:nvPr/>
      </p:nvGrpSpPr>
      <p:grpSpPr>
        <a:xfrm>
          <a:off x="0" y="0"/>
          <a:ext cx="0" cy="0"/>
          <a:chOff x="0" y="0"/>
          <a:chExt cx="0" cy="0"/>
        </a:xfrm>
      </p:grpSpPr>
      <p:sp>
        <p:nvSpPr>
          <p:cNvPr id="89" name="Google Shape;89;g2aaa886857f_1_9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
        <p:nvSpPr>
          <p:cNvPr id="90" name="Google Shape;90;g2aaa886857f_1_91"/>
          <p:cNvSpPr txBox="1">
            <a:spLocks noGrp="1"/>
          </p:cNvSpPr>
          <p:nvPr>
            <p:ph type="ctrTitle"/>
          </p:nvPr>
        </p:nvSpPr>
        <p:spPr>
          <a:xfrm>
            <a:off x="892950" y="1789775"/>
            <a:ext cx="5031600" cy="1143300"/>
          </a:xfrm>
          <a:prstGeom prst="rect">
            <a:avLst/>
          </a:prstGeom>
          <a:noFill/>
          <a:ln>
            <a:noFill/>
          </a:ln>
        </p:spPr>
        <p:txBody>
          <a:bodyPr spcFirstLastPara="1" wrap="square" lIns="0" tIns="45700" rIns="0" bIns="45700" anchor="b" anchorCtr="0">
            <a:noAutofit/>
          </a:bodyPr>
          <a:lstStyle/>
          <a:p>
            <a:pPr marL="0" lvl="0" indent="0" algn="l" rtl="0">
              <a:lnSpc>
                <a:spcPct val="100000"/>
              </a:lnSpc>
              <a:spcBef>
                <a:spcPts val="0"/>
              </a:spcBef>
              <a:spcAft>
                <a:spcPts val="0"/>
              </a:spcAft>
              <a:buClr>
                <a:schemeClr val="lt1"/>
              </a:buClr>
              <a:buSzPts val="4000"/>
              <a:buFont typeface="Arial"/>
              <a:buNone/>
            </a:pPr>
            <a:r>
              <a:rPr lang="fr-FR">
                <a:solidFill>
                  <a:schemeClr val="lt1"/>
                </a:solidFill>
              </a:rPr>
              <a:t>Séance 1</a:t>
            </a:r>
            <a:endParaRPr>
              <a:solidFill>
                <a:schemeClr val="lt1"/>
              </a:solidFill>
            </a:endParaRPr>
          </a:p>
        </p:txBody>
      </p:sp>
      <p:sp>
        <p:nvSpPr>
          <p:cNvPr id="91" name="Google Shape;91;g2aaa886857f_1_91"/>
          <p:cNvSpPr txBox="1"/>
          <p:nvPr/>
        </p:nvSpPr>
        <p:spPr>
          <a:xfrm>
            <a:off x="485776" y="5512050"/>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b="1" i="0" u="none" strike="noStrike" cap="none" dirty="0">
                <a:solidFill>
                  <a:schemeClr val="lt1"/>
                </a:solidFill>
                <a:latin typeface="Calibri"/>
                <a:ea typeface="Calibri"/>
                <a:cs typeface="Calibri"/>
                <a:sym typeface="Calibri"/>
              </a:rPr>
              <a:t>Campus Saint-Germain-en-Laye - Printemps 2026</a:t>
            </a:r>
            <a:endParaRPr sz="2100" b="1" dirty="0">
              <a:solidFill>
                <a:schemeClr val="lt1"/>
              </a:solidFill>
              <a:latin typeface="Calibri"/>
              <a:ea typeface="Calibri"/>
              <a:cs typeface="Calibri"/>
              <a:sym typeface="Calibri"/>
            </a:endParaRPr>
          </a:p>
        </p:txBody>
      </p:sp>
      <p:sp>
        <p:nvSpPr>
          <p:cNvPr id="92" name="Google Shape;92;g2aaa886857f_1_91"/>
          <p:cNvSpPr txBox="1">
            <a:spLocks noGrp="1"/>
          </p:cNvSpPr>
          <p:nvPr>
            <p:ph type="subTitle" idx="1"/>
          </p:nvPr>
        </p:nvSpPr>
        <p:spPr>
          <a:xfrm>
            <a:off x="892950" y="3111163"/>
            <a:ext cx="7358100" cy="1742700"/>
          </a:xfrm>
          <a:prstGeom prst="rect">
            <a:avLst/>
          </a:prstGeom>
          <a:noFill/>
          <a:ln>
            <a:noFill/>
          </a:ln>
        </p:spPr>
        <p:txBody>
          <a:bodyPr spcFirstLastPara="1" wrap="square" lIns="0" tIns="0" rIns="91425" bIns="0" anchor="ctr" anchorCtr="0">
            <a:noAutofit/>
          </a:bodyPr>
          <a:lstStyle/>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Cours introductif </a:t>
            </a: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Méthodes Quantitatives en Sciences Sociales</a:t>
            </a:r>
            <a:endParaRPr sz="2700" dirty="0">
              <a:solidFill>
                <a:schemeClr val="lt1"/>
              </a:solidFill>
            </a:endParaRPr>
          </a:p>
          <a:p>
            <a:pPr marL="0" lvl="0" indent="0" algn="l" rtl="0">
              <a:lnSpc>
                <a:spcPct val="100000"/>
              </a:lnSpc>
              <a:spcBef>
                <a:spcPts val="0"/>
              </a:spcBef>
              <a:spcAft>
                <a:spcPts val="0"/>
              </a:spcAft>
              <a:buSzPts val="3200"/>
              <a:buNone/>
            </a:pPr>
            <a:endParaRPr dirty="0">
              <a:solidFill>
                <a:schemeClr val="lt1"/>
              </a:solidFill>
            </a:endParaRPr>
          </a:p>
        </p:txBody>
      </p:sp>
      <p:pic>
        <p:nvPicPr>
          <p:cNvPr id="93" name="Google Shape;93;g2aaa886857f_1_91"/>
          <p:cNvPicPr preferRelativeResize="0"/>
          <p:nvPr/>
        </p:nvPicPr>
        <p:blipFill rotWithShape="1">
          <a:blip r:embed="rId3">
            <a:alphaModFix/>
          </a:blip>
          <a:srcRect/>
          <a:stretch/>
        </p:blipFill>
        <p:spPr>
          <a:xfrm>
            <a:off x="5499675" y="468375"/>
            <a:ext cx="3187136" cy="1143300"/>
          </a:xfrm>
          <a:prstGeom prst="rect">
            <a:avLst/>
          </a:prstGeom>
          <a:noFill/>
          <a:ln>
            <a:noFill/>
          </a:ln>
        </p:spPr>
      </p:pic>
      <p:sp>
        <p:nvSpPr>
          <p:cNvPr id="2" name="Google Shape;91;g2aaa886857f_1_91">
            <a:extLst>
              <a:ext uri="{FF2B5EF4-FFF2-40B4-BE49-F238E27FC236}">
                <a16:creationId xmlns:a16="http://schemas.microsoft.com/office/drawing/2014/main" id="{8BEE7AE7-FBB9-28C7-B38F-34908999C808}"/>
              </a:ext>
            </a:extLst>
          </p:cNvPr>
          <p:cNvSpPr txBox="1"/>
          <p:nvPr/>
        </p:nvSpPr>
        <p:spPr>
          <a:xfrm>
            <a:off x="485776" y="5895944"/>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dirty="0">
                <a:solidFill>
                  <a:schemeClr val="lt1"/>
                </a:solidFill>
                <a:latin typeface="Calibri"/>
                <a:ea typeface="Calibri"/>
                <a:cs typeface="Calibri"/>
                <a:sym typeface="Calibri"/>
              </a:rPr>
              <a:t>Alex Sheridan – </a:t>
            </a:r>
            <a:r>
              <a:rPr lang="fr-FR" sz="2100" dirty="0" err="1">
                <a:solidFill>
                  <a:schemeClr val="lt1"/>
                </a:solidFill>
                <a:latin typeface="Calibri"/>
                <a:ea typeface="Calibri"/>
                <a:cs typeface="Calibri"/>
                <a:sym typeface="Calibri"/>
              </a:rPr>
              <a:t>alex.sheridan@ined.fr</a:t>
            </a:r>
            <a:endParaRPr sz="2100" dirty="0">
              <a:solidFill>
                <a:schemeClr val="lt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a:t>
            </a:fld>
            <a:endParaRPr sz="1000">
              <a:solidFill>
                <a:srgbClr val="808080"/>
              </a:solidFill>
              <a:latin typeface="Arial"/>
              <a:ea typeface="Arial"/>
              <a:cs typeface="Arial"/>
              <a:sym typeface="Arial"/>
            </a:endParaRPr>
          </a:p>
        </p:txBody>
      </p:sp>
      <p:sp>
        <p:nvSpPr>
          <p:cNvPr id="100" name="Google Shape;100;p3"/>
          <p:cNvSpPr/>
          <p:nvPr/>
        </p:nvSpPr>
        <p:spPr>
          <a:xfrm>
            <a:off x="0" y="0"/>
            <a:ext cx="9144000" cy="697957"/>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1" name="Google Shape;101;p3"/>
          <p:cNvSpPr txBox="1"/>
          <p:nvPr/>
        </p:nvSpPr>
        <p:spPr>
          <a:xfrm>
            <a:off x="6904408" y="142212"/>
            <a:ext cx="1975396" cy="428322"/>
          </a:xfrm>
          <a:prstGeom prst="rect">
            <a:avLst/>
          </a:prstGeom>
          <a:noFill/>
          <a:ln>
            <a:noFill/>
          </a:ln>
        </p:spPr>
        <p:txBody>
          <a:bodyPr spcFirstLastPara="1" wrap="square" lIns="91425" tIns="45700" rIns="91425" bIns="45700" anchor="t" anchorCtr="0">
            <a:sp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02" name="Google Shape;102;p3"/>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1. Les méthodes quantitatives en sciences sociales : qu’est-ce que c’est ?</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1.1. Définitions et principes des méthodes quantitatives en sciences sociales</a:t>
            </a: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1.2. L’élaboration d’une enquête de la statistique publique : illustration avec l’exemple de l’enquête Trajectoires et Origines </a:t>
            </a:r>
            <a:endParaRPr sz="1665" b="0" i="0" u="none" strike="noStrike" cap="none">
              <a:solidFill>
                <a:schemeClr val="dk1"/>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2. Objectifs et programme du cours</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None/>
            </a:pPr>
            <a:r>
              <a:rPr lang="fr-FR" sz="1665" b="0" i="0" u="none" strike="noStrike" cap="none">
                <a:solidFill>
                  <a:schemeClr val="dk1"/>
                </a:solidFill>
                <a:latin typeface="Arial"/>
                <a:ea typeface="Arial"/>
                <a:cs typeface="Arial"/>
                <a:sym typeface="Arial"/>
              </a:rPr>
              <a:t>2.1. Apprentissages théoriques et pratiques sur R avec l’enquête </a:t>
            </a:r>
            <a:r>
              <a:rPr lang="fr-FR" sz="1665">
                <a:solidFill>
                  <a:schemeClr val="dk1"/>
                </a:solidFill>
              </a:rPr>
              <a:t>Usages sociaux du temps</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2.2. Planning du semestre</a:t>
            </a:r>
            <a:r>
              <a:rPr lang="fr-FR" sz="1800" b="0" i="0" u="none" strike="noStrike" cap="none">
                <a:solidFill>
                  <a:schemeClr val="dk1"/>
                </a:solidFill>
                <a:latin typeface="Arial"/>
                <a:ea typeface="Arial"/>
                <a:cs typeface="Arial"/>
                <a:sym typeface="Arial"/>
              </a:rPr>
              <a:t> : </a:t>
            </a:r>
            <a:r>
              <a:rPr lang="fr-FR" sz="1670" b="0" i="0" u="none" strike="noStrike" cap="none">
                <a:solidFill>
                  <a:schemeClr val="dk1"/>
                </a:solidFill>
                <a:latin typeface="Arial"/>
                <a:ea typeface="Arial"/>
                <a:cs typeface="Arial"/>
                <a:sym typeface="Arial"/>
              </a:rPr>
              <a:t>contenu des cours et évaluations</a:t>
            </a:r>
            <a:endParaRPr sz="1670" b="0" i="0" u="none" strike="noStrike" cap="none">
              <a:solidFill>
                <a:srgbClr val="E6142D"/>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3. Modalités d’évaluation</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3.1. Devoirs sur table</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3.2. Compte rendu collectif</a:t>
            </a:r>
            <a:endParaRPr sz="1800" b="0" i="0" u="none" strike="noStrike" cap="none">
              <a:solidFill>
                <a:schemeClr val="dk1"/>
              </a:solidFill>
              <a:latin typeface="Arial"/>
              <a:ea typeface="Arial"/>
              <a:cs typeface="Arial"/>
              <a:sym typeface="Arial"/>
            </a:endParaRPr>
          </a:p>
          <a:p>
            <a:pPr marL="558800" marR="0" lvl="1" indent="0" algn="l" rtl="0">
              <a:lnSpc>
                <a:spcPct val="90000"/>
              </a:lnSpc>
              <a:spcBef>
                <a:spcPts val="25"/>
              </a:spcBef>
              <a:spcAft>
                <a:spcPts val="0"/>
              </a:spcAft>
              <a:buClr>
                <a:schemeClr val="dk1"/>
              </a:buClr>
              <a:buSzPts val="1800"/>
              <a:buFont typeface="Arial"/>
              <a:buNone/>
            </a:pP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103" name="Google Shape;103;p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Plan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2a95d21eafb_0_8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a:t>
            </a:fld>
            <a:endParaRPr sz="1000">
              <a:solidFill>
                <a:srgbClr val="808080"/>
              </a:solidFill>
              <a:latin typeface="Arial"/>
              <a:ea typeface="Arial"/>
              <a:cs typeface="Arial"/>
              <a:sym typeface="Arial"/>
            </a:endParaRPr>
          </a:p>
        </p:txBody>
      </p:sp>
      <p:sp>
        <p:nvSpPr>
          <p:cNvPr id="109" name="Google Shape;109;g2a95d21eafb_0_8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0" name="Google Shape;110;g2a95d21eafb_0_8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11" name="Google Shape;111;g2a95d21eafb_0_8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1.1. Définitions et principes des méthodes quantitatives en sciences sociales</a:t>
            </a: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1.2. L’élaboration d’une enquête de la statistique publique : illustration avec l’exemple de l’enquête Trajectoires et Origines</a:t>
            </a:r>
            <a:endParaRPr sz="4100" b="0" i="0" u="none" strike="noStrike" cap="none">
              <a:solidFill>
                <a:srgbClr val="CCCCCC"/>
              </a:solidFill>
              <a:latin typeface="Calibri"/>
              <a:ea typeface="Calibri"/>
              <a:cs typeface="Calibri"/>
              <a:sym typeface="Calibri"/>
            </a:endParaRPr>
          </a:p>
        </p:txBody>
      </p:sp>
      <p:sp>
        <p:nvSpPr>
          <p:cNvPr id="112" name="Google Shape;112;g2a95d21eafb_0_8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2a994f7876f_0_8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a:t>
            </a:fld>
            <a:endParaRPr sz="1000">
              <a:solidFill>
                <a:srgbClr val="808080"/>
              </a:solidFill>
              <a:latin typeface="Arial"/>
              <a:ea typeface="Arial"/>
              <a:cs typeface="Arial"/>
              <a:sym typeface="Arial"/>
            </a:endParaRPr>
          </a:p>
        </p:txBody>
      </p:sp>
      <p:sp>
        <p:nvSpPr>
          <p:cNvPr id="118" name="Google Shape;118;g2a994f7876f_0_8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19" name="Google Shape;119;g2a994f7876f_0_8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0" name="Google Shape;120;g2a994f7876f_0_8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3000"/>
              <a:buFont typeface="Arial"/>
              <a:buNone/>
            </a:pPr>
            <a:r>
              <a:rPr lang="fr-FR" sz="3000" b="0" i="0" u="none" strike="noStrike" cap="none">
                <a:solidFill>
                  <a:schemeClr val="dk1"/>
                </a:solidFill>
                <a:latin typeface="Calibri"/>
                <a:ea typeface="Calibri"/>
                <a:cs typeface="Calibri"/>
                <a:sym typeface="Calibri"/>
              </a:rPr>
              <a:t>On distingue généralement les </a:t>
            </a:r>
            <a:r>
              <a:rPr lang="fr-FR" sz="3000" b="1" i="0" u="none" strike="noStrike" cap="none">
                <a:solidFill>
                  <a:schemeClr val="dk1"/>
                </a:solidFill>
                <a:latin typeface="Calibri"/>
                <a:ea typeface="Calibri"/>
                <a:cs typeface="Calibri"/>
                <a:sym typeface="Calibri"/>
              </a:rPr>
              <a:t>méthodes quantitatives </a:t>
            </a:r>
            <a:r>
              <a:rPr lang="fr-FR" sz="3000" b="0" i="0" u="none" strike="noStrike" cap="none">
                <a:solidFill>
                  <a:schemeClr val="dk1"/>
                </a:solidFill>
                <a:latin typeface="Calibri"/>
                <a:ea typeface="Calibri"/>
                <a:cs typeface="Calibri"/>
                <a:sym typeface="Calibri"/>
              </a:rPr>
              <a:t>des </a:t>
            </a:r>
            <a:r>
              <a:rPr lang="fr-FR" sz="3000" b="1" i="0" u="none" strike="noStrike" cap="none">
                <a:solidFill>
                  <a:schemeClr val="dk1"/>
                </a:solidFill>
                <a:latin typeface="Calibri"/>
                <a:ea typeface="Calibri"/>
                <a:cs typeface="Calibri"/>
                <a:sym typeface="Calibri"/>
              </a:rPr>
              <a:t>méthodes qualitatives</a:t>
            </a: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3000"/>
              <a:buFont typeface="Arial"/>
              <a:buNone/>
            </a:pP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méthodes quantitatives en sciences sociales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21" name="Google Shape;121;g2a994f7876f_0_80"/>
          <p:cNvSpPr txBox="1"/>
          <p:nvPr/>
        </p:nvSpPr>
        <p:spPr>
          <a:xfrm>
            <a:off x="264092" y="757188"/>
            <a:ext cx="8879908" cy="959138"/>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1.1.1. Les MQSS, </a:t>
            </a:r>
            <a:r>
              <a:rPr lang="fr-FR" sz="3000" b="1" i="1" u="none" strike="noStrike" cap="none">
                <a:solidFill>
                  <a:schemeClr val="dk1"/>
                </a:solidFill>
                <a:latin typeface="Calibri"/>
                <a:ea typeface="Calibri"/>
                <a:cs typeface="Calibri"/>
                <a:sym typeface="Calibri"/>
              </a:rPr>
              <a:t>un type </a:t>
            </a:r>
            <a:r>
              <a:rPr lang="fr-FR" sz="3000" b="1" i="0" u="none" strike="noStrike" cap="none">
                <a:solidFill>
                  <a:schemeClr val="dk1"/>
                </a:solidFill>
                <a:latin typeface="Calibri"/>
                <a:ea typeface="Calibri"/>
                <a:cs typeface="Calibri"/>
                <a:sym typeface="Calibri"/>
              </a:rPr>
              <a:t>de méthode en sciences sociales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g2ab55a4ceb1_0_6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5</a:t>
            </a:fld>
            <a:endParaRPr sz="1000">
              <a:solidFill>
                <a:srgbClr val="808080"/>
              </a:solidFill>
              <a:latin typeface="Arial"/>
              <a:ea typeface="Arial"/>
              <a:cs typeface="Arial"/>
              <a:sym typeface="Arial"/>
            </a:endParaRPr>
          </a:p>
        </p:txBody>
      </p:sp>
      <p:sp>
        <p:nvSpPr>
          <p:cNvPr id="127" name="Google Shape;127;g2ab55a4ceb1_0_6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28" name="Google Shape;128;g2ab55a4ceb1_0_6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9" name="Google Shape;129;g2ab55a4ceb1_0_6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les méthodes quantitatives en sciences sociales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Méthodes utilisées pour recueillir des données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Outils utilisés 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0" name="Google Shape;130;g2ab55a4ceb1_0_6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2ab55a4ceb1_0_5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6</a:t>
            </a:fld>
            <a:endParaRPr sz="1000">
              <a:solidFill>
                <a:srgbClr val="808080"/>
              </a:solidFill>
              <a:latin typeface="Arial"/>
              <a:ea typeface="Arial"/>
              <a:cs typeface="Arial"/>
              <a:sym typeface="Arial"/>
            </a:endParaRPr>
          </a:p>
        </p:txBody>
      </p:sp>
      <p:sp>
        <p:nvSpPr>
          <p:cNvPr id="136" name="Google Shape;136;g2ab55a4ceb1_0_5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37" name="Google Shape;137;g2ab55a4ceb1_0_5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38" name="Google Shape;138;g2ab55a4ceb1_0_5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modes de recueil des données</a:t>
            </a:r>
            <a:endParaRPr sz="29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9" name="Google Shape;139;g2ab55a4ceb1_0_5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40" name="Google Shape;140;g2ab55a4ceb1_0_58"/>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biographiques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auprès d’experts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Observations </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41" name="Google Shape;141;g2ab55a4ceb1_0_58"/>
          <p:cNvSpPr/>
          <p:nvPr/>
        </p:nvSpPr>
        <p:spPr>
          <a:xfrm>
            <a:off x="4862225" y="2987550"/>
            <a:ext cx="3597000" cy="2279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distribués sur un terrain d’enquête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issus de la statistique publique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Registres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Données recueillies sur les réseaux sociaux ou des applications </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2ab55a4ceb1_0_7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7</a:t>
            </a:fld>
            <a:endParaRPr sz="1000">
              <a:solidFill>
                <a:srgbClr val="808080"/>
              </a:solidFill>
              <a:latin typeface="Arial"/>
              <a:ea typeface="Arial"/>
              <a:cs typeface="Arial"/>
              <a:sym typeface="Arial"/>
            </a:endParaRPr>
          </a:p>
        </p:txBody>
      </p:sp>
      <p:sp>
        <p:nvSpPr>
          <p:cNvPr id="147" name="Google Shape;147;g2ab55a4ceb1_0_7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48" name="Google Shape;148;g2ab55a4ceb1_0_7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49" name="Google Shape;149;g2ab55a4ceb1_0_7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outils utilisés </a:t>
            </a:r>
            <a:r>
              <a:rPr lang="fr-FR" sz="2900" b="0" i="0" u="none" strike="noStrike" cap="none">
                <a:solidFill>
                  <a:schemeClr val="dk1"/>
                </a:solidFill>
                <a:latin typeface="Calibri"/>
                <a:ea typeface="Calibri"/>
                <a:cs typeface="Calibri"/>
                <a:sym typeface="Calibri"/>
              </a:rPr>
              <a:t>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50" name="Google Shape;150;g2ab55a4ceb1_0_7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51" name="Google Shape;151;g2ab55a4ceb1_0_76"/>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Analyse des discours des enquêté.es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entretiens/observations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52" name="Google Shape;152;g2ab55a4ceb1_0_76"/>
          <p:cNvSpPr/>
          <p:nvPr/>
        </p:nvSpPr>
        <p:spPr>
          <a:xfrm>
            <a:off x="4862225"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Outils d’analyse mathématiques et statistiques </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2ab795ca104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8</a:t>
            </a:fld>
            <a:endParaRPr sz="1000">
              <a:solidFill>
                <a:srgbClr val="808080"/>
              </a:solidFill>
              <a:latin typeface="Arial"/>
              <a:ea typeface="Arial"/>
              <a:cs typeface="Arial"/>
              <a:sym typeface="Arial"/>
            </a:endParaRPr>
          </a:p>
        </p:txBody>
      </p:sp>
      <p:sp>
        <p:nvSpPr>
          <p:cNvPr id="158" name="Google Shape;158;g2ab795ca104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59" name="Google Shape;159;g2ab795ca104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0" name="Google Shape;160;g2ab795ca104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Mais les frontières de cette bipartition entre méthodes qualitatives et quantitatives sont poreuses.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sng" strike="noStrike" cap="none">
                <a:solidFill>
                  <a:schemeClr val="dk1"/>
                </a:solidFill>
                <a:latin typeface="Calibri"/>
                <a:ea typeface="Calibri"/>
                <a:cs typeface="Calibri"/>
                <a:sym typeface="Calibri"/>
              </a:rPr>
              <a:t>Deux exemples </a:t>
            </a:r>
            <a:r>
              <a:rPr lang="fr-FR" sz="2900" b="0" i="0" u="none" strike="noStrike" cap="none">
                <a:solidFill>
                  <a:schemeClr val="dk1"/>
                </a:solidFill>
                <a:latin typeface="Calibri"/>
                <a:ea typeface="Calibri"/>
                <a:cs typeface="Calibri"/>
                <a:sym typeface="Calibri"/>
              </a:rPr>
              <a:t>: </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Codage d’entretiens biographiques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Lexicométrie (occurrences de mots/expressions dans un entretien,...)</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 Formes de </a:t>
            </a:r>
            <a:r>
              <a:rPr lang="fr-FR" sz="2900" b="1" i="0" u="none" strike="noStrike" cap="none">
                <a:solidFill>
                  <a:schemeClr val="dk1"/>
                </a:solidFill>
                <a:latin typeface="Calibri"/>
                <a:ea typeface="Calibri"/>
                <a:cs typeface="Calibri"/>
                <a:sym typeface="Calibri"/>
              </a:rPr>
              <a:t>quantification </a:t>
            </a:r>
            <a:r>
              <a:rPr lang="fr-FR" sz="2900" b="0" i="0" u="none" strike="noStrike" cap="none">
                <a:solidFill>
                  <a:schemeClr val="dk1"/>
                </a:solidFill>
                <a:latin typeface="Calibri"/>
                <a:ea typeface="Calibri"/>
                <a:cs typeface="Calibri"/>
                <a:sym typeface="Calibri"/>
              </a:rPr>
              <a:t>des données (initialement recueillies par méthodes qualitatives)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61" name="Google Shape;161;g2ab795ca104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g2abac93716c_0_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9</a:t>
            </a:fld>
            <a:endParaRPr sz="1000">
              <a:solidFill>
                <a:srgbClr val="808080"/>
              </a:solidFill>
              <a:latin typeface="Arial"/>
              <a:ea typeface="Arial"/>
              <a:cs typeface="Arial"/>
              <a:sym typeface="Arial"/>
            </a:endParaRPr>
          </a:p>
        </p:txBody>
      </p:sp>
      <p:sp>
        <p:nvSpPr>
          <p:cNvPr id="167" name="Google Shape;167;g2abac93716c_0_1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68" name="Google Shape;168;g2abac93716c_0_1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9" name="Google Shape;169;g2abac93716c_0_18"/>
          <p:cNvSpPr txBox="1"/>
          <p:nvPr/>
        </p:nvSpPr>
        <p:spPr>
          <a:xfrm>
            <a:off x="467650" y="16715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Les méthodes quantitatives consistent à recueillir et traiter des </a:t>
            </a:r>
            <a:r>
              <a:rPr lang="fr-FR" sz="2700" b="1" i="0" u="none" strike="noStrike" cap="none">
                <a:solidFill>
                  <a:schemeClr val="dk1"/>
                </a:solidFill>
                <a:latin typeface="Calibri"/>
                <a:ea typeface="Calibri"/>
                <a:cs typeface="Calibri"/>
                <a:sym typeface="Calibri"/>
              </a:rPr>
              <a:t>données quantitatives</a:t>
            </a:r>
            <a:r>
              <a:rPr lang="fr-FR" sz="2700" b="0" i="0" u="none" strike="noStrike" cap="none">
                <a:solidFill>
                  <a:schemeClr val="dk1"/>
                </a:solidFill>
                <a:latin typeface="Calibri"/>
                <a:ea typeface="Calibri"/>
                <a:cs typeface="Calibri"/>
                <a:sym typeface="Calibri"/>
              </a:rPr>
              <a: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Cela ne signifie pas que ces données expriment des quantités, mais qu’elles sont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12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nombreuses</a:t>
            </a:r>
            <a:r>
              <a:rPr lang="fr-FR" sz="2700" b="0" i="0" u="none" strike="noStrike" cap="none">
                <a:solidFill>
                  <a:schemeClr val="dk1"/>
                </a:solidFill>
                <a:latin typeface="Calibri"/>
                <a:ea typeface="Calibri"/>
                <a:cs typeface="Calibri"/>
                <a:sym typeface="Calibri"/>
              </a:rPr>
              <a:t>, c’est-à-dire disponibles en grande quantité (d’où l’usage des méthodes statistiques), et </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standardisées</a:t>
            </a:r>
            <a:r>
              <a:rPr lang="fr-FR" sz="2700" b="1">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selon des </a:t>
            </a:r>
            <a:r>
              <a:rPr lang="fr-FR" sz="2700" i="0" u="none" strike="noStrike" cap="none">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unités de mesure</a:t>
            </a:r>
            <a:r>
              <a:rPr lang="fr-FR" sz="27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 ou des catégories dans lesquelles les réponses sont supposées suffisamment “équivalentes” </a:t>
            </a:r>
            <a:r>
              <a:rPr lang="fr-FR" sz="2700">
                <a:solidFill>
                  <a:schemeClr val="dk1"/>
                </a:solidFill>
                <a:latin typeface="Calibri"/>
                <a:ea typeface="Calibri"/>
                <a:cs typeface="Calibri"/>
                <a:sym typeface="Calibri"/>
              </a:rPr>
              <a:t>pour former une unité </a:t>
            </a:r>
            <a:r>
              <a:rPr lang="fr-FR" sz="2700" b="0" i="0" u="none" strike="noStrike" cap="none">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rPr>
              <a:t>nécessite parfois </a:t>
            </a:r>
            <a:r>
              <a:rPr lang="fr-FR" sz="2700" b="0" i="0" u="none" strike="noStrike" cap="none">
                <a:solidFill>
                  <a:schemeClr val="dk1"/>
                </a:solidFill>
                <a:latin typeface="Calibri"/>
                <a:ea typeface="Calibri"/>
                <a:cs typeface="Calibri"/>
                <a:sym typeface="Calibri"/>
              </a:rPr>
              <a:t>un codage et/ou d’un nettoyage)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p:txBody>
      </p:sp>
      <p:sp>
        <p:nvSpPr>
          <p:cNvPr id="170" name="Google Shape;170;g2abac93716c_0_1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1.1.2. Quantifier en sciences sociales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2abac93716c_0_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10</a:t>
            </a:fld>
            <a:endParaRPr sz="1000">
              <a:solidFill>
                <a:srgbClr val="808080"/>
              </a:solidFill>
              <a:latin typeface="Arial"/>
              <a:ea typeface="Arial"/>
              <a:cs typeface="Arial"/>
              <a:sym typeface="Arial"/>
            </a:endParaRPr>
          </a:p>
        </p:txBody>
      </p:sp>
      <p:sp>
        <p:nvSpPr>
          <p:cNvPr id="176" name="Google Shape;176;g2abac93716c_0_2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77" name="Google Shape;177;g2abac93716c_0_2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78" name="Google Shape;178;g2abac93716c_0_26"/>
          <p:cNvSpPr txBox="1"/>
          <p:nvPr/>
        </p:nvSpPr>
        <p:spPr>
          <a:xfrm>
            <a:off x="325421" y="11678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En MQSS, il n’est pas nécessaire de faire appel à l’abstraction de manière aussi poussée qu’en mathématique. Le plus souvent, les logiciels de programmation se charge pour nous d’une grande partie de la formalisation mathématique. </a:t>
            </a:r>
            <a:endParaRPr/>
          </a:p>
          <a:p>
            <a:pPr marL="44450" marR="0" lvl="0" indent="0" algn="l" rtl="0">
              <a:lnSpc>
                <a:spcPct val="90000"/>
              </a:lnSpc>
              <a:spcBef>
                <a:spcPts val="25"/>
              </a:spcBef>
              <a:spcAft>
                <a:spcPts val="0"/>
              </a:spcAft>
              <a:buNone/>
            </a:pPr>
            <a:endParaRPr sz="2900" b="1" i="0" u="none" strike="noStrike" cap="none">
              <a:solidFill>
                <a:schemeClr val="dk1"/>
              </a:solidFill>
              <a:latin typeface="Calibri"/>
              <a:ea typeface="Calibri"/>
              <a:cs typeface="Calibri"/>
              <a:sym typeface="Calibri"/>
            </a:endParaRPr>
          </a:p>
          <a:p>
            <a:pPr marL="44450" marR="0" lvl="2" indent="0" algn="l" rtl="0">
              <a:lnSpc>
                <a:spcPct val="90000"/>
              </a:lnSpc>
              <a:spcBef>
                <a:spcPts val="25"/>
              </a:spcBef>
              <a:spcAft>
                <a:spcPts val="0"/>
              </a:spcAft>
              <a:buNone/>
            </a:pPr>
            <a:r>
              <a:rPr lang="fr-FR" sz="2900" b="1" i="0" u="none" strike="noStrike" cap="none">
                <a:solidFill>
                  <a:schemeClr val="dk1"/>
                </a:solidFill>
                <a:latin typeface="Calibri"/>
                <a:ea typeface="Calibri"/>
                <a:cs typeface="Calibri"/>
                <a:sym typeface="Calibri"/>
              </a:rPr>
              <a:t>	</a:t>
            </a:r>
            <a:endParaRPr/>
          </a:p>
          <a:p>
            <a:pPr marL="44450" marR="0" lvl="5" indent="0" algn="l" rtl="0">
              <a:lnSpc>
                <a:spcPct val="90000"/>
              </a:lnSpc>
              <a:spcBef>
                <a:spcPts val="25"/>
              </a:spcBef>
              <a:spcAft>
                <a:spcPts val="0"/>
              </a:spcAft>
              <a:buNone/>
            </a:pPr>
            <a:r>
              <a:rPr lang="fr-FR" sz="2400" b="1" i="0" u="none" strike="noStrike" cap="none">
                <a:solidFill>
                  <a:schemeClr val="dk1"/>
                </a:solidFill>
                <a:latin typeface="Calibri"/>
                <a:ea typeface="Calibri"/>
                <a:cs typeface="Calibri"/>
                <a:sym typeface="Calibri"/>
              </a:rPr>
              <a:t>	Visée exploratoire, descriptive et explicative</a:t>
            </a:r>
            <a:r>
              <a:rPr lang="fr-FR" sz="2400" b="0" i="0" u="none" strike="noStrike" cap="none">
                <a:solidFill>
                  <a:schemeClr val="dk1"/>
                </a:solidFill>
                <a:latin typeface="Calibri"/>
                <a:ea typeface="Calibri"/>
                <a:cs typeface="Calibri"/>
                <a:sym typeface="Calibri"/>
              </a:rPr>
              <a:t> en MQSS, 	en partant de données concrètes, empiriques collectées sur un terrain plus ou moins élargi</a:t>
            </a:r>
            <a:endParaRPr sz="2400" b="0" i="0" u="none" strike="noStrike" cap="none">
              <a:solidFill>
                <a:schemeClr val="dk1"/>
              </a:solidFill>
              <a:latin typeface="Calibri"/>
              <a:ea typeface="Calibri"/>
              <a:cs typeface="Calibri"/>
              <a:sym typeface="Calibri"/>
            </a:endParaRPr>
          </a:p>
          <a:p>
            <a:pPr marL="457200" marR="0" lvl="2"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79" name="Google Shape;179;g2abac93716c_0_26"/>
          <p:cNvSpPr/>
          <p:nvPr/>
        </p:nvSpPr>
        <p:spPr>
          <a:xfrm>
            <a:off x="169400" y="4814428"/>
            <a:ext cx="629400" cy="428400"/>
          </a:xfrm>
          <a:prstGeom prst="rightArrow">
            <a:avLst>
              <a:gd name="adj1" fmla="val 50000"/>
              <a:gd name="adj2" fmla="val 50000"/>
            </a:avLst>
          </a:prstGeom>
          <a:solidFill>
            <a:schemeClr val="accent1"/>
          </a:solidFill>
          <a:ln w="25400" cap="flat" cmpd="sng">
            <a:solidFill>
              <a:srgbClr val="21364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80" name="Google Shape;180;g2abac93716c_0_26"/>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2ab55a4ceb1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11</a:t>
            </a:fld>
            <a:endParaRPr sz="1000">
              <a:solidFill>
                <a:srgbClr val="808080"/>
              </a:solidFill>
              <a:latin typeface="Arial"/>
              <a:ea typeface="Arial"/>
              <a:cs typeface="Arial"/>
              <a:sym typeface="Arial"/>
            </a:endParaRPr>
          </a:p>
        </p:txBody>
      </p:sp>
      <p:sp>
        <p:nvSpPr>
          <p:cNvPr id="186" name="Google Shape;186;g2ab55a4ceb1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87" name="Google Shape;187;g2ab55a4ceb1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88" name="Google Shape;188;g2ab55a4ceb1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La quantification renvoie à un </a:t>
            </a:r>
            <a:r>
              <a:rPr lang="fr-FR" sz="2900" b="1" i="0" u="none" strike="noStrike" cap="none">
                <a:solidFill>
                  <a:schemeClr val="dk1"/>
                </a:solidFill>
                <a:latin typeface="Calibri"/>
                <a:ea typeface="Calibri"/>
                <a:cs typeface="Calibri"/>
                <a:sym typeface="Calibri"/>
              </a:rPr>
              <a:t>processus de codage d’informations</a:t>
            </a:r>
            <a:r>
              <a:rPr lang="fr-FR" sz="2900" b="0" i="0" u="none" strike="noStrike" cap="none">
                <a:solidFill>
                  <a:schemeClr val="dk1"/>
                </a:solidFill>
                <a:latin typeface="Calibri"/>
                <a:ea typeface="Calibri"/>
                <a:cs typeface="Calibri"/>
                <a:sym typeface="Calibri"/>
              </a:rPr>
              <a:t> qui permet de synthétiser et de traiter ces informations avec des outils statistiques et mathématiques</a:t>
            </a: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89" name="Google Shape;189;g2ab55a4ceb1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90" name="Google Shape;190;g2ab55a4ceb1_0_48"/>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2abac93716c_0_3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12</a:t>
            </a:fld>
            <a:endParaRPr sz="1000">
              <a:solidFill>
                <a:srgbClr val="808080"/>
              </a:solidFill>
              <a:latin typeface="Arial"/>
              <a:ea typeface="Arial"/>
              <a:cs typeface="Arial"/>
              <a:sym typeface="Arial"/>
            </a:endParaRPr>
          </a:p>
        </p:txBody>
      </p:sp>
      <p:sp>
        <p:nvSpPr>
          <p:cNvPr id="196" name="Google Shape;196;g2abac93716c_0_3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97" name="Google Shape;197;g2abac93716c_0_3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98" name="Google Shape;198;g2abac93716c_0_3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Il est possible de quantifier beaucoup de choses dans le monde social, à commencer par… soi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notion de “Quantified self” ou “</a:t>
            </a:r>
            <a:r>
              <a:rPr lang="fr-FR" sz="2900" b="1" i="0" u="none" strike="noStrike" cap="none">
                <a:solidFill>
                  <a:schemeClr val="dk1"/>
                </a:solidFill>
                <a:latin typeface="Calibri"/>
                <a:ea typeface="Calibri"/>
                <a:cs typeface="Calibri"/>
                <a:sym typeface="Calibri"/>
              </a:rPr>
              <a:t>Quantification de soi</a:t>
            </a:r>
            <a:r>
              <a:rPr lang="fr-FR" sz="2900" b="0" i="0" u="none" strike="noStrike" cap="none">
                <a:solidFill>
                  <a:schemeClr val="dk1"/>
                </a:solidFill>
                <a:latin typeface="Calibri"/>
                <a:ea typeface="Calibri"/>
                <a:cs typeface="Calibri"/>
                <a:sym typeface="Calibri"/>
              </a:rPr>
              <a:t>”, un champ de recherche en plein essor avec le développement des nouvelles technologies (Dagiral et al, 2019).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99" name="Google Shape;199;g2abac93716c_0_3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r>
              <a:rPr lang="fr-FR" sz="3200" b="1" i="0" u="none" strike="noStrike" cap="none">
                <a:solidFill>
                  <a:schemeClr val="dk1"/>
                </a:solidFill>
                <a:latin typeface="Calibri"/>
                <a:ea typeface="Calibri"/>
                <a:cs typeface="Calibri"/>
                <a:sym typeface="Calibri"/>
              </a:rPr>
              <a:t>1.1.3. Que recueillir, que quantifier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g2abbb0daa5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13</a:t>
            </a:fld>
            <a:endParaRPr sz="1000">
              <a:solidFill>
                <a:srgbClr val="808080"/>
              </a:solidFill>
              <a:latin typeface="Arial"/>
              <a:ea typeface="Arial"/>
              <a:cs typeface="Arial"/>
              <a:sym typeface="Arial"/>
            </a:endParaRPr>
          </a:p>
        </p:txBody>
      </p:sp>
      <p:sp>
        <p:nvSpPr>
          <p:cNvPr id="205" name="Google Shape;205;g2abbb0daa5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06" name="Google Shape;206;g2abbb0daa5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07" name="Google Shape;207;g2abbb0daa5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08" name="Google Shape;208;g2abbb0daa5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g2d75bd79b03_0_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14</a:t>
            </a:fld>
            <a:endParaRPr sz="1000">
              <a:solidFill>
                <a:srgbClr val="808080"/>
              </a:solidFill>
              <a:latin typeface="Arial"/>
              <a:ea typeface="Arial"/>
              <a:cs typeface="Arial"/>
              <a:sym typeface="Arial"/>
            </a:endParaRPr>
          </a:p>
        </p:txBody>
      </p:sp>
      <p:sp>
        <p:nvSpPr>
          <p:cNvPr id="214" name="Google Shape;214;g2d75bd79b03_0_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15" name="Google Shape;215;g2d75bd79b03_0_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16" name="Google Shape;216;g2d75bd79b03_0_7"/>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running, montres intelligentes mesurant la fréquence cardiaque, applications menstruelles, ou même Spotify et ses Rétrospectives</a:t>
            </a:r>
            <a:r>
              <a:rPr lang="fr-FR" sz="2900">
                <a:solidFill>
                  <a:schemeClr val="dk1"/>
                </a:solidFill>
                <a:latin typeface="Calibri"/>
                <a:ea typeface="Calibri"/>
                <a:cs typeface="Calibri"/>
                <a:sym typeface="Calibri"/>
              </a:rPr>
              <a:t>…</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900">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Une pratique de la quantification qui peut en retour avoir des effets sur les comportements et les perceptions (sociologie de la quantification, Dagiral et al.)</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17" name="Google Shape;217;g2d75bd79b03_0_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g2a994f7876f_0_8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15</a:t>
            </a:fld>
            <a:endParaRPr sz="1000">
              <a:solidFill>
                <a:srgbClr val="808080"/>
              </a:solidFill>
              <a:latin typeface="Arial"/>
              <a:ea typeface="Arial"/>
              <a:cs typeface="Arial"/>
              <a:sym typeface="Arial"/>
            </a:endParaRPr>
          </a:p>
        </p:txBody>
      </p:sp>
      <p:sp>
        <p:nvSpPr>
          <p:cNvPr id="223" name="Google Shape;223;g2a994f7876f_0_8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24" name="Google Shape;224;g2a994f7876f_0_8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25" name="Google Shape;225;g2a994f7876f_0_8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chemeClr val="dk1"/>
                </a:solidFill>
                <a:latin typeface="Calibri"/>
                <a:ea typeface="Calibri"/>
                <a:cs typeface="Calibri"/>
                <a:sym typeface="Calibri"/>
              </a:rPr>
              <a:t>L’usage des applications mais aussi des réseaux sociaux génère beaucoup de données. Celles-ci peuvent être ainsi utilisées dans le cadre du </a:t>
            </a:r>
            <a:r>
              <a:rPr lang="fr-FR" sz="2900" b="1" i="0" u="none" strike="noStrike" cap="none">
                <a:solidFill>
                  <a:schemeClr val="dk1"/>
                </a:solidFill>
                <a:latin typeface="Calibri"/>
                <a:ea typeface="Calibri"/>
                <a:cs typeface="Calibri"/>
                <a:sym typeface="Calibri"/>
              </a:rPr>
              <a:t>web-scraping </a:t>
            </a:r>
            <a:r>
              <a:rPr lang="fr-FR" sz="2900" b="0" i="0" u="none" strike="noStrike" cap="none">
                <a:solidFill>
                  <a:schemeClr val="dk1"/>
                </a:solidFill>
                <a:latin typeface="Calibri"/>
                <a:ea typeface="Calibri"/>
                <a:cs typeface="Calibri"/>
                <a:sym typeface="Calibri"/>
              </a:rPr>
              <a:t>(= aspirer des données disponibles sur Internet)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26" name="Google Shape;226;g2a994f7876f_0_8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Le web-scraping</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g2abbb0daa57_0_5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16</a:t>
            </a:fld>
            <a:endParaRPr sz="1000">
              <a:solidFill>
                <a:srgbClr val="808080"/>
              </a:solidFill>
              <a:latin typeface="Arial"/>
              <a:ea typeface="Arial"/>
              <a:cs typeface="Arial"/>
              <a:sym typeface="Arial"/>
            </a:endParaRPr>
          </a:p>
        </p:txBody>
      </p:sp>
      <p:sp>
        <p:nvSpPr>
          <p:cNvPr id="232" name="Google Shape;232;g2abbb0daa57_0_5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33" name="Google Shape;233;g2abbb0daa57_0_5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34" name="Google Shape;234;g2abbb0daa57_0_57"/>
          <p:cNvSpPr txBox="1"/>
          <p:nvPr/>
        </p:nvSpPr>
        <p:spPr>
          <a:xfrm>
            <a:off x="100350" y="1846650"/>
            <a:ext cx="90438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Réseaux sociaux comme LinkedIn, Twitter, Facebook, Instagram,...</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rencontre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Peuvent être utilisées pour des études en sciences sociales: </a:t>
            </a: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5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rPr>
              <a:t>Marie Bergström,</a:t>
            </a:r>
            <a:r>
              <a:rPr lang="fr-FR" sz="2500" i="1">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 Les nouvelles lois de l’amour</a:t>
            </a:r>
            <a:r>
              <a:rPr lang="fr-FR" sz="2500">
                <a:solidFill>
                  <a:schemeClr val="dk1"/>
                </a:solidFill>
                <a:latin typeface="Calibri"/>
                <a:ea typeface="Calibri"/>
                <a:cs typeface="Calibri"/>
                <a:sym typeface="Calibri"/>
              </a:rPr>
              <a:t>, 2019, le rôle des sites de rencontre avec des données de Meetic</a:t>
            </a:r>
            <a:endParaRPr sz="25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p:txBody>
      </p:sp>
      <p:sp>
        <p:nvSpPr>
          <p:cNvPr id="235" name="Google Shape;235;g2abbb0daa57_0_5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2abbb0daa57_0_6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17</a:t>
            </a:fld>
            <a:endParaRPr sz="1000">
              <a:solidFill>
                <a:srgbClr val="808080"/>
              </a:solidFill>
              <a:latin typeface="Arial"/>
              <a:ea typeface="Arial"/>
              <a:cs typeface="Arial"/>
              <a:sym typeface="Arial"/>
            </a:endParaRPr>
          </a:p>
        </p:txBody>
      </p:sp>
      <p:sp>
        <p:nvSpPr>
          <p:cNvPr id="241" name="Google Shape;241;g2abbb0daa57_0_65"/>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42" name="Google Shape;242;g2abbb0daa57_0_65"/>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43" name="Google Shape;243;g2abbb0daa57_0_65"/>
          <p:cNvSpPr txBox="1"/>
          <p:nvPr/>
        </p:nvSpPr>
        <p:spPr>
          <a:xfrm>
            <a:off x="467925" y="1986750"/>
            <a:ext cx="8219100" cy="40749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Etat civil (naissances, décès, mariages, divorces, immigration)</a:t>
            </a: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7"/>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Données produites par les administrations publiques et privées : éducation nationale, registres d’entreprises, d’ONG…</a:t>
            </a: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0"/>
                </a:ext>
              </a:extLst>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1"/>
                  </a:ext>
                </a:extLst>
              </a:rPr>
              <a:t>Mais des sources de données qui ne sont pas produites initialement pour la recherche.</a:t>
            </a:r>
            <a:r>
              <a:rPr lang="fr-FR" sz="2900">
                <a:solidFill>
                  <a:schemeClr val="dk1"/>
                </a:solidFill>
                <a:latin typeface="Calibri"/>
                <a:ea typeface="Calibri"/>
                <a:cs typeface="Calibri"/>
                <a:sym typeface="Calibri"/>
              </a:rPr>
              <a:t> </a:t>
            </a:r>
            <a:endParaRPr sz="2900">
              <a:solidFill>
                <a:schemeClr val="dk1"/>
              </a:solidFill>
              <a:latin typeface="Calibri"/>
              <a:ea typeface="Calibri"/>
              <a:cs typeface="Calibri"/>
              <a:sym typeface="Calibri"/>
            </a:endParaRPr>
          </a:p>
          <a:p>
            <a:pPr marL="457200" marR="0" lvl="0" indent="-381000" algn="l" rtl="0">
              <a:lnSpc>
                <a:spcPct val="90000"/>
              </a:lnSpc>
              <a:spcBef>
                <a:spcPts val="0"/>
              </a:spcBef>
              <a:spcAft>
                <a:spcPts val="0"/>
              </a:spcAft>
              <a:buClr>
                <a:schemeClr val="dk1"/>
              </a:buClr>
              <a:buSzPts val="2400"/>
              <a:buFont typeface="Calibri"/>
              <a:buChar char="●"/>
            </a:pPr>
            <a:r>
              <a:rPr lang="fr-FR" sz="2400">
                <a:solidFill>
                  <a:schemeClr val="dk1"/>
                </a:solidFill>
                <a:latin typeface="Calibri"/>
                <a:ea typeface="Calibri"/>
                <a:cs typeface="Calibri"/>
                <a:sym typeface="Calibri"/>
              </a:rPr>
              <a:t>Limite: pose la question de l’adéquation de la question de recherche aux catégories et aux outils de quantifications utilisées par les administrations</a:t>
            </a:r>
            <a:endParaRPr sz="2400">
              <a:solidFill>
                <a:schemeClr val="dk1"/>
              </a:solidFill>
              <a:latin typeface="Calibri"/>
              <a:ea typeface="Calibri"/>
              <a:cs typeface="Calibri"/>
              <a:sym typeface="Calibri"/>
            </a:endParaRPr>
          </a:p>
        </p:txBody>
      </p:sp>
      <p:sp>
        <p:nvSpPr>
          <p:cNvPr id="244" name="Google Shape;244;g2abbb0daa57_0_65"/>
          <p:cNvSpPr txBox="1"/>
          <p:nvPr/>
        </p:nvSpPr>
        <p:spPr>
          <a:xfrm>
            <a:off x="356850" y="973475"/>
            <a:ext cx="87873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Des sources de données plus classiques:</a:t>
            </a:r>
            <a:endParaRPr sz="30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Les registres administratifs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g2d75bd79b03_0_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18</a:t>
            </a:fld>
            <a:endParaRPr sz="1000">
              <a:solidFill>
                <a:srgbClr val="808080"/>
              </a:solidFill>
              <a:latin typeface="Arial"/>
              <a:ea typeface="Arial"/>
              <a:cs typeface="Arial"/>
              <a:sym typeface="Arial"/>
            </a:endParaRPr>
          </a:p>
        </p:txBody>
      </p:sp>
      <p:sp>
        <p:nvSpPr>
          <p:cNvPr id="250" name="Google Shape;250;g2d75bd79b03_0_2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51" name="Google Shape;251;g2d75bd79b03_0_2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52" name="Google Shape;252;g2d75bd79b03_0_2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…qui consistent à recueillir des données dans l’objectif précis de produire des statistiques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 du temps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 Histoire de Vie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Trajectoires et Origines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Et les registres administratifs</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Etat civil</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Administration: education nationale, </a:t>
            </a:r>
            <a:endParaRPr sz="2900">
              <a:solidFill>
                <a:schemeClr val="dk1"/>
              </a:solidFill>
              <a:latin typeface="Calibri"/>
              <a:ea typeface="Calibri"/>
              <a:cs typeface="Calibri"/>
              <a:sym typeface="Calibri"/>
            </a:endParaRPr>
          </a:p>
        </p:txBody>
      </p:sp>
      <p:sp>
        <p:nvSpPr>
          <p:cNvPr id="253" name="Google Shape;253;g2d75bd79b03_0_22"/>
          <p:cNvSpPr txBox="1"/>
          <p:nvPr/>
        </p:nvSpPr>
        <p:spPr>
          <a:xfrm>
            <a:off x="0" y="973475"/>
            <a:ext cx="91440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Mais surtout : les </a:t>
            </a:r>
            <a:r>
              <a:rPr lang="fr-FR" sz="3000" b="1">
                <a:solidFill>
                  <a:schemeClr val="dk1"/>
                </a:solidFill>
                <a:latin typeface="Calibri"/>
                <a:ea typeface="Calibri"/>
                <a:cs typeface="Calibri"/>
                <a:sym typeface="Calibri"/>
              </a:rPr>
              <a:t>grandes enquêtes par questionnaire</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g2a994f7876f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19</a:t>
            </a:fld>
            <a:endParaRPr sz="1000">
              <a:solidFill>
                <a:srgbClr val="808080"/>
              </a:solidFill>
              <a:latin typeface="Arial"/>
              <a:ea typeface="Arial"/>
              <a:cs typeface="Arial"/>
              <a:sym typeface="Arial"/>
            </a:endParaRPr>
          </a:p>
        </p:txBody>
      </p:sp>
      <p:sp>
        <p:nvSpPr>
          <p:cNvPr id="259" name="Google Shape;259;g2a994f7876f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260" name="Google Shape;260;g2a994f7876f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61" name="Google Shape;261;g2a994f7876f_0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1.1.  Définitions et principes des méthodes quantitatives en sciences sociales</a:t>
            </a:r>
            <a:endParaRPr sz="2565"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1.2.  L’élaboration d’une enquête de la statistique publique : Trajectoires et Origines </a:t>
            </a:r>
            <a:endParaRPr sz="4100" b="0" i="0" u="none" strike="noStrike" cap="none">
              <a:solidFill>
                <a:schemeClr val="dk1"/>
              </a:solidFill>
              <a:latin typeface="Calibri"/>
              <a:ea typeface="Calibri"/>
              <a:cs typeface="Calibri"/>
              <a:sym typeface="Calibri"/>
            </a:endParaRPr>
          </a:p>
        </p:txBody>
      </p:sp>
      <p:sp>
        <p:nvSpPr>
          <p:cNvPr id="262" name="Google Shape;262;g2a994f7876f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2aaa886857f_1_18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20</a:t>
            </a:fld>
            <a:endParaRPr sz="1000">
              <a:solidFill>
                <a:srgbClr val="808080"/>
              </a:solidFill>
              <a:latin typeface="Arial"/>
              <a:ea typeface="Arial"/>
              <a:cs typeface="Arial"/>
              <a:sym typeface="Arial"/>
            </a:endParaRPr>
          </a:p>
        </p:txBody>
      </p:sp>
      <p:sp>
        <p:nvSpPr>
          <p:cNvPr id="268" name="Google Shape;268;g2aaa886857f_1_18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1.2.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69" name="Google Shape;269;g2aaa886857f_1_18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0" name="Google Shape;270;g2aaa886857f_1_18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9100" algn="l" rtl="0">
              <a:lnSpc>
                <a:spcPct val="90000"/>
              </a:lnSpc>
              <a:spcBef>
                <a:spcPts val="25"/>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Elaborer une question de recherche, qui découle souvent d’un besoin public</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à partir de cette question les objets que l’on veut mesurer</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la population d’intérêt et un protocole d’enquête rigoureux pour atteindre cette population </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un moyen d’obtenir les réponses</a:t>
            </a:r>
            <a:endParaRPr sz="30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endParaRPr sz="1400" b="0" i="0" u="sng"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sng" strike="noStrike" cap="none">
                <a:solidFill>
                  <a:schemeClr val="dk1"/>
                </a:solidFill>
                <a:latin typeface="Calibri"/>
                <a:ea typeface="Calibri"/>
                <a:cs typeface="Calibri"/>
                <a:sym typeface="Calibri"/>
              </a:rPr>
              <a:t>Source </a:t>
            </a:r>
            <a:r>
              <a:rPr lang="fr-FR" sz="1400" b="0" i="0" u="none" strike="noStrike" cap="none">
                <a:solidFill>
                  <a:schemeClr val="dk1"/>
                </a:solidFill>
                <a:latin typeface="Calibri"/>
                <a:ea typeface="Calibri"/>
                <a:cs typeface="Calibri"/>
                <a:sym typeface="Calibri"/>
              </a:rPr>
              <a:t>: Cours de Thibault de Saint Pol, </a:t>
            </a:r>
            <a:endParaRPr sz="14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none" strike="noStrike" cap="none">
                <a:solidFill>
                  <a:schemeClr val="dk1"/>
                </a:solidFill>
                <a:latin typeface="Calibri"/>
                <a:ea typeface="Calibri"/>
                <a:cs typeface="Calibri"/>
                <a:sym typeface="Calibri"/>
              </a:rPr>
              <a:t>Fabrique et pratique des grandes enquêtes statistiques  </a:t>
            </a:r>
            <a:endParaRPr sz="1400" b="0" i="0" u="none" strike="noStrike" cap="none">
              <a:solidFill>
                <a:schemeClr val="dk1"/>
              </a:solidFill>
              <a:latin typeface="Calibri"/>
              <a:ea typeface="Calibri"/>
              <a:cs typeface="Calibri"/>
              <a:sym typeface="Calibri"/>
            </a:endParaRPr>
          </a:p>
        </p:txBody>
      </p:sp>
      <p:sp>
        <p:nvSpPr>
          <p:cNvPr id="271" name="Google Shape;271;g2aaa886857f_1_182"/>
          <p:cNvSpPr txBox="1"/>
          <p:nvPr/>
        </p:nvSpPr>
        <p:spPr>
          <a:xfrm>
            <a:off x="462450" y="8595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600"/>
              <a:buFont typeface="Arial"/>
              <a:buNone/>
            </a:pPr>
            <a:r>
              <a:rPr lang="fr-FR" sz="2600" b="1" i="0" u="none" strike="noStrike" cap="none">
                <a:solidFill>
                  <a:schemeClr val="dk1"/>
                </a:solidFill>
                <a:latin typeface="Calibri"/>
                <a:ea typeface="Calibri"/>
                <a:cs typeface="Calibri"/>
                <a:sym typeface="Calibri"/>
              </a:rPr>
              <a:t>Les étapes de la conception d’une enquête statistique </a:t>
            </a:r>
            <a:endParaRPr sz="2600" b="1"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g2a994f7876f_0_1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21</a:t>
            </a:fld>
            <a:endParaRPr sz="1000">
              <a:solidFill>
                <a:srgbClr val="808080"/>
              </a:solidFill>
              <a:latin typeface="Arial"/>
              <a:ea typeface="Arial"/>
              <a:cs typeface="Arial"/>
              <a:sym typeface="Arial"/>
            </a:endParaRPr>
          </a:p>
        </p:txBody>
      </p:sp>
      <p:sp>
        <p:nvSpPr>
          <p:cNvPr id="277" name="Google Shape;277;g2a994f7876f_0_12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78" name="Google Shape;278;g2a994f7876f_0_12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9" name="Google Shape;279;g2a994f7876f_0_12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1 : 2008-2009 </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2 : 2019-2020</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Deux enquêtes de grande ampleur, conduites à l’échelle nationale et représentatives de la population française.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1" u="sng">
                <a:solidFill>
                  <a:schemeClr val="dk1"/>
                </a:solidFill>
                <a:latin typeface="Calibri"/>
                <a:ea typeface="Calibri"/>
                <a:cs typeface="Calibri"/>
                <a:sym typeface="Calibri"/>
              </a:rPr>
              <a:t>Une question de recherche </a:t>
            </a:r>
            <a:r>
              <a:rPr lang="fr-FR" sz="2700" b="1" i="0" u="sng" strike="noStrike" cap="none">
                <a:solidFill>
                  <a:schemeClr val="dk1"/>
                </a:solidFill>
                <a:latin typeface="Calibri"/>
                <a:ea typeface="Calibri"/>
                <a:cs typeface="Calibri"/>
                <a:sym typeface="Calibri"/>
              </a:rPr>
              <a:t>: </a:t>
            </a:r>
            <a:r>
              <a:rPr lang="fr-FR" sz="2700" b="0" i="0" u="none" strike="noStrike" cap="none">
                <a:solidFill>
                  <a:schemeClr val="dk1"/>
                </a:solidFill>
                <a:latin typeface="Calibri"/>
                <a:ea typeface="Calibri"/>
                <a:cs typeface="Calibri"/>
                <a:sym typeface="Calibri"/>
              </a:rPr>
              <a:t>Comment les origines des individus affectent leurs vécus et trajectoires biographiques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0" name="Google Shape;280;g2a994f7876f_0_12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Les enquêtes Trajectoires et Origines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g2a994f7876f_0_17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22</a:t>
            </a:fld>
            <a:endParaRPr sz="1000">
              <a:solidFill>
                <a:srgbClr val="808080"/>
              </a:solidFill>
              <a:latin typeface="Arial"/>
              <a:ea typeface="Arial"/>
              <a:cs typeface="Arial"/>
              <a:sym typeface="Arial"/>
            </a:endParaRPr>
          </a:p>
        </p:txBody>
      </p:sp>
      <p:sp>
        <p:nvSpPr>
          <p:cNvPr id="286" name="Google Shape;286;g2a994f7876f_0_179"/>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87" name="Google Shape;287;g2a994f7876f_0_179"/>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88" name="Google Shape;288;g2a994f7876f_0_179"/>
          <p:cNvSpPr txBox="1"/>
          <p:nvPr/>
        </p:nvSpPr>
        <p:spPr>
          <a:xfrm>
            <a:off x="467650" y="18243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L’immigration construite comme un problème public par des acteurs médiatiques, publics et gouvernementaux depuis la deuxième moitié du XXème siècle (d’où émergence et développement de la sociologie de l’immigration)</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700">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élaborée dans le but de répondre à un besoin politique (et académique) contemporain, afin de renseigner les inégalités de traitement et de vécu dues à l’origine migratoire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9" name="Google Shape;289;g2a994f7876f_0_179"/>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g2a994f7876f_0_19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23</a:t>
            </a:fld>
            <a:endParaRPr sz="1000">
              <a:solidFill>
                <a:srgbClr val="808080"/>
              </a:solidFill>
              <a:latin typeface="Arial"/>
              <a:ea typeface="Arial"/>
              <a:cs typeface="Arial"/>
              <a:sym typeface="Arial"/>
            </a:endParaRPr>
          </a:p>
        </p:txBody>
      </p:sp>
      <p:sp>
        <p:nvSpPr>
          <p:cNvPr id="295" name="Google Shape;295;g2a994f7876f_0_19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96" name="Google Shape;296;g2a994f7876f_0_19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97" name="Google Shape;297;g2a994f7876f_0_19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just" rtl="0">
              <a:lnSpc>
                <a:spcPct val="90000"/>
              </a:lnSpc>
              <a:spcBef>
                <a:spcPts val="25"/>
              </a:spcBef>
              <a:spcAft>
                <a:spcPts val="0"/>
              </a:spcAft>
              <a:buClr>
                <a:srgbClr val="000000"/>
              </a:buClr>
              <a:buSzPts val="1600"/>
              <a:buFont typeface="Arial"/>
              <a:buNone/>
            </a:pPr>
            <a:r>
              <a:rPr lang="fr-FR" sz="1600" b="0" i="1" u="none" strike="noStrike" cap="none">
                <a:solidFill>
                  <a:schemeClr val="dk1"/>
                </a:solidFill>
                <a:latin typeface="Arial"/>
                <a:ea typeface="Arial"/>
                <a:cs typeface="Arial"/>
                <a:sym typeface="Arial"/>
              </a:rPr>
              <a:t>Le souhait de renouveler l’enquête TeO a été exprimé lors de la réunion de la </a:t>
            </a:r>
            <a:r>
              <a:rPr lang="fr-FR" sz="1600" b="1" i="1" u="none" strike="noStrike" cap="none">
                <a:solidFill>
                  <a:schemeClr val="dk1"/>
                </a:solidFill>
                <a:latin typeface="Arial"/>
                <a:ea typeface="Arial"/>
                <a:cs typeface="Arial"/>
                <a:sym typeface="Arial"/>
              </a:rPr>
              <a:t>commission « démographie et questions sociales » du Cnis </a:t>
            </a:r>
            <a:r>
              <a:rPr lang="fr-FR" sz="1600" b="0" i="1" u="none" strike="noStrike" cap="none">
                <a:solidFill>
                  <a:schemeClr val="dk1"/>
                </a:solidFill>
                <a:latin typeface="Arial"/>
                <a:ea typeface="Arial"/>
                <a:cs typeface="Arial"/>
                <a:sym typeface="Arial"/>
              </a:rPr>
              <a:t>d’octobre 2015, ainsi que par le </a:t>
            </a:r>
            <a:r>
              <a:rPr lang="fr-FR" sz="1600" b="1" i="1" u="none" strike="noStrike" cap="none">
                <a:solidFill>
                  <a:schemeClr val="dk1"/>
                </a:solidFill>
                <a:latin typeface="Arial"/>
                <a:ea typeface="Arial"/>
                <a:cs typeface="Arial"/>
                <a:sym typeface="Arial"/>
              </a:rPr>
              <a:t>Défenseur des droits</a:t>
            </a:r>
            <a:r>
              <a:rPr lang="fr-FR" sz="1600" b="0" i="1" u="none" strike="noStrike" cap="none">
                <a:solidFill>
                  <a:schemeClr val="dk1"/>
                </a:solidFill>
                <a:latin typeface="Arial"/>
                <a:ea typeface="Arial"/>
                <a:cs typeface="Arial"/>
                <a:sym typeface="Arial"/>
              </a:rPr>
              <a:t> lors de la conférence de presse de présentation des résultats de l’enquête de 2008-2009, le 8 janvier 2016 à l’Ined. L’enquête TeO2 a, par ailleurs, été inscrite dans le </a:t>
            </a:r>
            <a:r>
              <a:rPr lang="fr-FR" sz="1600" b="1" i="1" u="none" strike="noStrike" cap="none">
                <a:solidFill>
                  <a:schemeClr val="dk1"/>
                </a:solidFill>
                <a:latin typeface="Arial"/>
                <a:ea typeface="Arial"/>
                <a:cs typeface="Arial"/>
                <a:sym typeface="Arial"/>
              </a:rPr>
              <a:t>Plan national de lutte contre le racisme et l’antisémitisme </a:t>
            </a:r>
            <a:r>
              <a:rPr lang="fr-FR" sz="1600" b="0" i="1" u="none" strike="noStrike" cap="none">
                <a:solidFill>
                  <a:schemeClr val="dk1"/>
                </a:solidFill>
                <a:latin typeface="Arial"/>
                <a:ea typeface="Arial"/>
                <a:cs typeface="Arial"/>
                <a:sym typeface="Arial"/>
              </a:rPr>
              <a:t>(2018-2020), élaboré par la </a:t>
            </a:r>
            <a:r>
              <a:rPr lang="fr-FR" sz="1600" b="1" i="1" u="none" strike="noStrike" cap="none">
                <a:solidFill>
                  <a:schemeClr val="dk1"/>
                </a:solidFill>
                <a:latin typeface="Arial"/>
                <a:ea typeface="Arial"/>
                <a:cs typeface="Arial"/>
                <a:sym typeface="Arial"/>
              </a:rPr>
              <a:t>DILCRAH </a:t>
            </a:r>
            <a:r>
              <a:rPr lang="fr-FR" sz="1600" b="0" i="1" u="none" strike="noStrike" cap="none">
                <a:solidFill>
                  <a:schemeClr val="dk1"/>
                </a:solidFill>
                <a:latin typeface="Arial"/>
                <a:ea typeface="Arial"/>
                <a:cs typeface="Arial"/>
                <a:sym typeface="Arial"/>
              </a:rPr>
              <a:t>(Délégation interministérielle à la lutte contre le racisme, l’antisémitisme et la haine anti-LGBT)</a:t>
            </a:r>
            <a:r>
              <a:rPr lang="fr-FR" sz="1200" b="0" i="0" u="none" strike="noStrike" cap="none">
                <a:solidFill>
                  <a:schemeClr val="dk1"/>
                </a:solidFill>
                <a:latin typeface="Arial"/>
                <a:ea typeface="Arial"/>
                <a:cs typeface="Arial"/>
                <a:sym typeface="Arial"/>
              </a:rPr>
              <a:t>.</a:t>
            </a:r>
            <a:endParaRPr sz="12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r" rtl="0">
              <a:lnSpc>
                <a:spcPct val="90000"/>
              </a:lnSpc>
              <a:spcBef>
                <a:spcPts val="25"/>
              </a:spcBef>
              <a:spcAft>
                <a:spcPts val="0"/>
              </a:spcAft>
              <a:buClr>
                <a:srgbClr val="000000"/>
              </a:buClr>
              <a:buSzPts val="1100"/>
              <a:buFont typeface="Arial"/>
              <a:buNone/>
            </a:pPr>
            <a:r>
              <a:rPr lang="fr-FR" sz="1100" b="0" i="0" u="sng" strike="noStrike" cap="none">
                <a:solidFill>
                  <a:schemeClr val="dk1"/>
                </a:solidFill>
                <a:latin typeface="Arial"/>
                <a:ea typeface="Arial"/>
                <a:cs typeface="Arial"/>
                <a:sym typeface="Arial"/>
              </a:rPr>
              <a:t>Source</a:t>
            </a:r>
            <a:r>
              <a:rPr lang="fr-FR" sz="1100" b="0" i="0" u="none" strike="noStrike" cap="none">
                <a:solidFill>
                  <a:schemeClr val="dk1"/>
                </a:solidFill>
                <a:latin typeface="Arial"/>
                <a:ea typeface="Arial"/>
                <a:cs typeface="Arial"/>
                <a:sym typeface="Arial"/>
              </a:rPr>
              <a:t> : Site officiel de l’enquête Trajectoires et Origines 2 </a:t>
            </a: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98" name="Google Shape;298;g2a994f7876f_0_19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g3248ac6ffd9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24</a:t>
            </a:fld>
            <a:endParaRPr sz="1000">
              <a:solidFill>
                <a:srgbClr val="808080"/>
              </a:solidFill>
              <a:latin typeface="Arial"/>
              <a:ea typeface="Arial"/>
              <a:cs typeface="Arial"/>
              <a:sym typeface="Arial"/>
            </a:endParaRPr>
          </a:p>
        </p:txBody>
      </p:sp>
      <p:sp>
        <p:nvSpPr>
          <p:cNvPr id="304" name="Google Shape;304;g3248ac6ffd9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05" name="Google Shape;305;g3248ac6ffd9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06" name="Google Shape;306;g3248ac6ffd9_0_8"/>
          <p:cNvSpPr txBox="1"/>
          <p:nvPr/>
        </p:nvSpPr>
        <p:spPr>
          <a:xfrm>
            <a:off x="467650" y="1671575"/>
            <a:ext cx="8219100" cy="436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sz="2700" u="sng">
                <a:solidFill>
                  <a:schemeClr val="dk1"/>
                </a:solidFill>
                <a:latin typeface="Calibri"/>
                <a:ea typeface="Calibri"/>
                <a:cs typeface="Calibri"/>
                <a:sym typeface="Calibri"/>
              </a:rPr>
              <a:t>Thématiques abordées :</a:t>
            </a:r>
            <a:endParaRPr sz="2700" u="sng">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Origines géographiques, sociales</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Situation conjugale, famille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Conditions de logement</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Travail </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Politique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Santé</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Expériences de racisme, discrimination</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p:txBody>
      </p:sp>
      <p:sp>
        <p:nvSpPr>
          <p:cNvPr id="307" name="Google Shape;307;g3248ac6ffd9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g2a994f7876f_0_18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25</a:t>
            </a:fld>
            <a:endParaRPr sz="1000">
              <a:solidFill>
                <a:srgbClr val="808080"/>
              </a:solidFill>
              <a:latin typeface="Arial"/>
              <a:ea typeface="Arial"/>
              <a:cs typeface="Arial"/>
              <a:sym typeface="Arial"/>
            </a:endParaRPr>
          </a:p>
        </p:txBody>
      </p:sp>
      <p:sp>
        <p:nvSpPr>
          <p:cNvPr id="313" name="Google Shape;313;g2a994f7876f_0_18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14" name="Google Shape;314;g2a994f7876f_0_18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15" name="Google Shape;315;g2a994f7876f_0_187"/>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 dispositif de recherche rigoureux élaboré par des chercheurs et statisticiens (répondant·es anonymisé·es, pas d</a:t>
            </a:r>
            <a:r>
              <a:rPr lang="fr-FR" sz="2700">
                <a:solidFill>
                  <a:schemeClr val="dk1"/>
                </a:solidFill>
                <a:latin typeface="Calibri"/>
                <a:ea typeface="Calibri"/>
                <a:cs typeface="Calibri"/>
                <a:sym typeface="Calibri"/>
              </a:rPr>
              <a:t>’obligation de répondre)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1" i="0" u="none" strike="noStrike" cap="none">
                <a:solidFill>
                  <a:schemeClr val="dk1"/>
                </a:solidFill>
                <a:latin typeface="Calibri"/>
                <a:ea typeface="Calibri"/>
                <a:cs typeface="Calibri"/>
                <a:sym typeface="Calibri"/>
              </a:rPr>
              <a:t>N=27,181</a:t>
            </a:r>
            <a:r>
              <a:rPr lang="fr-FR" sz="2700" b="0" i="0" u="none" strike="noStrike" cap="none">
                <a:solidFill>
                  <a:schemeClr val="dk1"/>
                </a:solidFill>
                <a:latin typeface="Calibri"/>
                <a:ea typeface="Calibri"/>
                <a:cs typeface="Calibri"/>
                <a:sym typeface="Calibri"/>
              </a:rPr>
              <a:t> individus interrogés (population majoritaire, immigrés, descendants d’immigrés)</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conduite entre juillet 2019 et décembre 2020 par des enquêteurs qui interrogent en </a:t>
            </a:r>
            <a:r>
              <a:rPr lang="fr-FR" sz="2700" b="0" i="0" u="none" strike="noStrike" cap="none">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2"/>
                  </a:ext>
                </a:extLst>
              </a:rPr>
              <a:t>face-à-face les répondants</a:t>
            </a:r>
            <a:r>
              <a:rPr lang="fr-FR" sz="2700" b="0" i="0" u="none" strike="noStrike" cap="none">
                <a:solidFill>
                  <a:schemeClr val="dk1"/>
                </a:solidFill>
                <a:latin typeface="Calibri"/>
                <a:ea typeface="Calibri"/>
                <a:cs typeface="Calibri"/>
                <a:sym typeface="Calibri"/>
              </a:rPr>
              <a:t> grâce à un questionnaire standardisé</a:t>
            </a:r>
            <a:r>
              <a:rPr lang="fr-FR" sz="2700">
                <a:solidFill>
                  <a:schemeClr val="dk1"/>
                </a:solidFill>
                <a:latin typeface="Calibri"/>
                <a:ea typeface="Calibri"/>
                <a:cs typeface="Calibri"/>
                <a:sym typeface="Calibri"/>
              </a:rPr>
              <a:t>, et par téléphone durant le premier confinement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16" name="Google Shape;316;g2a994f7876f_0_18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g2a994f7876f_0_17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26</a:t>
            </a:fld>
            <a:endParaRPr sz="1000">
              <a:solidFill>
                <a:srgbClr val="808080"/>
              </a:solidFill>
              <a:latin typeface="Arial"/>
              <a:ea typeface="Arial"/>
              <a:cs typeface="Arial"/>
              <a:sym typeface="Arial"/>
            </a:endParaRPr>
          </a:p>
        </p:txBody>
      </p:sp>
      <p:sp>
        <p:nvSpPr>
          <p:cNvPr id="322" name="Google Shape;322;g2a994f7876f_0_171"/>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23" name="Google Shape;323;g2a994f7876f_0_171"/>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24" name="Google Shape;324;g2a994f7876f_0_171"/>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La conduite des enquêtes statistiques dépend fortement des contextes nationaux.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sng" strike="noStrike" cap="none">
                <a:solidFill>
                  <a:schemeClr val="dk1"/>
                </a:solidFill>
                <a:latin typeface="Calibri"/>
                <a:ea typeface="Calibri"/>
                <a:cs typeface="Calibri"/>
                <a:sym typeface="Calibri"/>
              </a:rPr>
              <a:t>Exemples</a:t>
            </a:r>
            <a:r>
              <a:rPr lang="fr-FR" sz="2700" b="0" i="0" u="none" strike="noStrike" cap="none">
                <a:solidFill>
                  <a:schemeClr val="dk1"/>
                </a:solidFill>
                <a:latin typeface="Calibri"/>
                <a:ea typeface="Calibri"/>
                <a:cs typeface="Calibri"/>
                <a:sym typeface="Calibri"/>
              </a:rPr>
              <a:t> : </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impacts de la crise sanitaire sur la conduite de l’enquête TeO 2 (entre juillet 2019 et décembre 2020 : confinements en France)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statistiques ethniques, objet de polémiques et non autorisées en France (mais autorisées aux Etats-Unis ou en Angleterre)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25" name="Google Shape;325;g2a994f7876f_0_171"/>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g2a994f7876f_0_12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27</a:t>
            </a:fld>
            <a:endParaRPr sz="1000">
              <a:solidFill>
                <a:srgbClr val="808080"/>
              </a:solidFill>
              <a:latin typeface="Arial"/>
              <a:ea typeface="Arial"/>
              <a:cs typeface="Arial"/>
              <a:sym typeface="Arial"/>
            </a:endParaRPr>
          </a:p>
        </p:txBody>
      </p:sp>
      <p:sp>
        <p:nvSpPr>
          <p:cNvPr id="331" name="Google Shape;331;g2a994f7876f_0_12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2" name="Google Shape;332;g2a994f7876f_0_12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33" name="Google Shape;333;g2a994f7876f_0_128"/>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34" name="Google Shape;334;g2a994f7876f_0_12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35" name="Google Shape;335;g2a994f7876f_0_128"/>
          <p:cNvPicPr preferRelativeResize="0"/>
          <p:nvPr/>
        </p:nvPicPr>
        <p:blipFill rotWithShape="1">
          <a:blip r:embed="rId3">
            <a:alphaModFix/>
          </a:blip>
          <a:srcRect l="35301" t="31140" r="36149" b="5071"/>
          <a:stretch/>
        </p:blipFill>
        <p:spPr>
          <a:xfrm>
            <a:off x="2248327" y="0"/>
            <a:ext cx="5456870" cy="6858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g2a994f7876f_0_20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28</a:t>
            </a:fld>
            <a:endParaRPr sz="1000">
              <a:solidFill>
                <a:srgbClr val="808080"/>
              </a:solidFill>
              <a:latin typeface="Arial"/>
              <a:ea typeface="Arial"/>
              <a:cs typeface="Arial"/>
              <a:sym typeface="Arial"/>
            </a:endParaRPr>
          </a:p>
        </p:txBody>
      </p:sp>
      <p:sp>
        <p:nvSpPr>
          <p:cNvPr id="341" name="Google Shape;341;g2a994f7876f_0_20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42" name="Google Shape;342;g2a994f7876f_0_20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43" name="Google Shape;343;g2a994f7876f_0_204"/>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44" name="Google Shape;344;g2a994f7876f_0_20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45" name="Google Shape;345;g2a994f7876f_0_204"/>
          <p:cNvPicPr preferRelativeResize="0"/>
          <p:nvPr/>
        </p:nvPicPr>
        <p:blipFill rotWithShape="1">
          <a:blip r:embed="rId3">
            <a:alphaModFix/>
          </a:blip>
          <a:srcRect l="34097" t="25840" r="35644" b="10715"/>
          <a:stretch/>
        </p:blipFill>
        <p:spPr>
          <a:xfrm>
            <a:off x="1669989" y="0"/>
            <a:ext cx="5814413" cy="68580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g2a994f7876f_0_16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29</a:t>
            </a:fld>
            <a:endParaRPr sz="1000">
              <a:solidFill>
                <a:srgbClr val="808080"/>
              </a:solidFill>
              <a:latin typeface="Arial"/>
              <a:ea typeface="Arial"/>
              <a:cs typeface="Arial"/>
              <a:sym typeface="Arial"/>
            </a:endParaRPr>
          </a:p>
        </p:txBody>
      </p:sp>
      <p:sp>
        <p:nvSpPr>
          <p:cNvPr id="351" name="Google Shape;351;g2a994f7876f_0_163"/>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52" name="Google Shape;352;g2a994f7876f_0_163"/>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53" name="Google Shape;353;g2a994f7876f_0_163"/>
          <p:cNvSpPr txBox="1"/>
          <p:nvPr/>
        </p:nvSpPr>
        <p:spPr>
          <a:xfrm>
            <a:off x="361047" y="1040387"/>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Comment étudier les questions de racisme et de discriminations sans renseigner les catégories ethno-raciales ? </a:t>
            </a:r>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r>
              <a:rPr lang="fr-FR" sz="2400">
                <a:solidFill>
                  <a:schemeClr val="dk1"/>
                </a:solidFill>
                <a:latin typeface="Calibri"/>
                <a:ea typeface="Calibri"/>
                <a:cs typeface="Calibri"/>
                <a:sym typeface="Calibri"/>
              </a:rPr>
              <a:t>-</a:t>
            </a:r>
            <a:r>
              <a:rPr lang="fr-FR" sz="2400" b="0" i="0" u="none" strike="noStrike" cap="none">
                <a:solidFill>
                  <a:schemeClr val="dk1"/>
                </a:solidFill>
                <a:latin typeface="Calibri"/>
                <a:ea typeface="Calibri"/>
                <a:cs typeface="Calibri"/>
                <a:sym typeface="Calibri"/>
              </a:rPr>
              <a:t> Le pays de naissance de la mère et du père comme proxy</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endParaRPr sz="24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Des catégorisations dans le codage de l’enquête qui se révèlent tributaires de certaines représentations (construites par le contexte historique)</a:t>
            </a:r>
            <a:endParaRPr sz="24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400" b="0" i="0" u="none" strike="noStrike" cap="none">
                <a:solidFill>
                  <a:schemeClr val="dk1"/>
                </a:solidFill>
                <a:latin typeface="Calibri"/>
                <a:ea typeface="Calibri"/>
                <a:cs typeface="Calibri"/>
                <a:sym typeface="Calibri"/>
              </a:rPr>
              <a:t>Catégorie “Asie du Sud-Est”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Vietnam, Cambodge, Laos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ex-Indochine</a:t>
            </a:r>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54" name="Google Shape;354;g2a994f7876f_0_16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
        <p:nvSpPr>
          <p:cNvPr id="355" name="Google Shape;355;g2a994f7876f_0_163"/>
          <p:cNvSpPr txBox="1"/>
          <p:nvPr/>
        </p:nvSpPr>
        <p:spPr>
          <a:xfrm>
            <a:off x="361046" y="5322299"/>
            <a:ext cx="8325703" cy="120032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fr-FR" sz="1800" b="0" i="0" u="none" strike="noStrike" cap="none">
                <a:solidFill>
                  <a:schemeClr val="dk1"/>
                </a:solidFill>
                <a:latin typeface="Arial"/>
                <a:ea typeface="Arial"/>
                <a:cs typeface="Arial"/>
                <a:sym typeface="Arial"/>
              </a:rPr>
              <a:t>Pour aller plus loin : </a:t>
            </a:r>
            <a:r>
              <a:rPr lang="fr-FR" sz="1800" b="1" i="0" u="none" strike="noStrike" cap="none">
                <a:solidFill>
                  <a:schemeClr val="dk1"/>
                </a:solidFill>
                <a:latin typeface="Arial"/>
                <a:ea typeface="Arial"/>
                <a:cs typeface="Arial"/>
                <a:sym typeface="Arial"/>
              </a:rPr>
              <a:t>Brun, Solène, et Claire Cosquer</a:t>
            </a:r>
            <a:r>
              <a:rPr lang="fr-FR" sz="1800" b="0" i="0" u="none" strike="noStrike" cap="none">
                <a:solidFill>
                  <a:schemeClr val="dk1"/>
                </a:solidFill>
                <a:latin typeface="Arial"/>
                <a:ea typeface="Arial"/>
                <a:cs typeface="Arial"/>
                <a:sym typeface="Arial"/>
              </a:rPr>
              <a:t>. « 9. Les défis méthodologiques d’une analyse sociologique de la race », </a:t>
            </a:r>
            <a:r>
              <a:rPr lang="fr-FR" sz="1800" b="0" i="1" u="none" strike="noStrike" cap="none">
                <a:solidFill>
                  <a:schemeClr val="dk1"/>
                </a:solidFill>
                <a:latin typeface="Arial"/>
                <a:ea typeface="Arial"/>
                <a:cs typeface="Arial"/>
                <a:sym typeface="Arial"/>
              </a:rPr>
              <a:t>Sociologie de la race</a:t>
            </a:r>
            <a:r>
              <a:rPr lang="fr-FR" sz="1800" b="0" i="0" u="none" strike="noStrike" cap="none">
                <a:solidFill>
                  <a:schemeClr val="dk1"/>
                </a:solidFill>
                <a:latin typeface="Arial"/>
                <a:ea typeface="Arial"/>
                <a:cs typeface="Arial"/>
                <a:sym typeface="Arial"/>
              </a:rPr>
              <a:t>. Armand Colin, 2022, pp. 111-124.</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g2a994f7876f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30</a:t>
            </a:fld>
            <a:endParaRPr sz="1000">
              <a:solidFill>
                <a:srgbClr val="808080"/>
              </a:solidFill>
              <a:latin typeface="Arial"/>
              <a:ea typeface="Arial"/>
              <a:cs typeface="Arial"/>
              <a:sym typeface="Arial"/>
            </a:endParaRPr>
          </a:p>
        </p:txBody>
      </p:sp>
      <p:sp>
        <p:nvSpPr>
          <p:cNvPr id="361" name="Google Shape;361;g2a994f7876f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62" name="Google Shape;362;g2a994f7876f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63" name="Google Shape;363;g2a994f7876f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Apprentissages théoriques et mise en pratique sur R avec l’enquête </a:t>
            </a:r>
            <a:r>
              <a:rPr lang="fr-FR" sz="2550" dirty="0">
                <a:solidFill>
                  <a:schemeClr val="dk1"/>
                </a:solidFill>
              </a:rPr>
              <a:t>Engagements, politisation et réseaux sociaux (ETUPOL)</a:t>
            </a: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rgbClr val="CCCCCC"/>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364" name="Google Shape;364;g2a994f7876f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g2abbb0daa57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31</a:t>
            </a:fld>
            <a:endParaRPr sz="1000">
              <a:solidFill>
                <a:srgbClr val="808080"/>
              </a:solidFill>
              <a:latin typeface="Arial"/>
              <a:ea typeface="Arial"/>
              <a:cs typeface="Arial"/>
              <a:sym typeface="Arial"/>
            </a:endParaRPr>
          </a:p>
        </p:txBody>
      </p:sp>
      <p:sp>
        <p:nvSpPr>
          <p:cNvPr id="370" name="Google Shape;370;g2abbb0daa57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71" name="Google Shape;371;g2abbb0daa57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72" name="Google Shape;372;g2abbb0daa57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Ouvrir la boîte noire de la production des statistiques, en montrant comment sont construites les enquêtes statistiques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d’un point de vue théorique : acquisition des connaissances de base en statistique descriptive (détails sur le syllabus)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en pratique : premiers pas avec un logiciel de programmation statistique utilisé par des sociologues</a:t>
            </a:r>
            <a:r>
              <a:rPr lang="fr-FR" sz="2550">
                <a:solidFill>
                  <a:schemeClr val="dk1"/>
                </a:solidFill>
              </a:rPr>
              <a:t> (R)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73" name="Google Shape;373;g2abbb0daa57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2550" b="0" i="0" u="none" strike="noStrike" cap="none">
                <a:solidFill>
                  <a:schemeClr val="dk1"/>
                </a:solidFill>
                <a:latin typeface="Arial"/>
                <a:ea typeface="Arial"/>
                <a:cs typeface="Arial"/>
                <a:sym typeface="Arial"/>
              </a:rPr>
              <a:t>Le cours de MQSS aura pour objectif de : </a:t>
            </a:r>
            <a:endParaRPr sz="2550" b="0"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g2abbb0daa57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32</a:t>
            </a:fld>
            <a:endParaRPr sz="1000">
              <a:solidFill>
                <a:srgbClr val="808080"/>
              </a:solidFill>
              <a:latin typeface="Arial"/>
              <a:ea typeface="Arial"/>
              <a:cs typeface="Arial"/>
              <a:sym typeface="Arial"/>
            </a:endParaRPr>
          </a:p>
        </p:txBody>
      </p:sp>
      <p:sp>
        <p:nvSpPr>
          <p:cNvPr id="379" name="Google Shape;379;g2abbb0daa57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0" name="Google Shape;380;g2abbb0daa57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81" name="Google Shape;381;g2abbb0daa57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Créé par Joseph J. Allaire (développeur informatique états-unien) en 2011</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Logiciel libre, gratuit, utilisant un langage de programmation</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Utilisé par de nombreux.ses sociologues pour le traitement de données et l’analyse statistique</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Alternatives à R chez les sociologues : Stata </a:t>
            </a:r>
            <a:endParaRPr sz="2550" b="0" i="0" u="none" strike="noStrike" cap="none">
              <a:solidFill>
                <a:schemeClr val="dk1"/>
              </a:solidFill>
              <a:latin typeface="Arial"/>
              <a:ea typeface="Arial"/>
              <a:cs typeface="Arial"/>
              <a:sym typeface="Arial"/>
            </a:endParaRPr>
          </a:p>
        </p:txBody>
      </p:sp>
      <p:sp>
        <p:nvSpPr>
          <p:cNvPr id="382" name="Google Shape;382;g2abbb0daa57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 logiciel R : brève présentation  </a:t>
            </a:r>
            <a:endParaRPr sz="2550" b="1" i="0" u="none" strike="noStrike" cap="none">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g2abbb0daa57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33</a:t>
            </a:fld>
            <a:endParaRPr sz="1000">
              <a:solidFill>
                <a:srgbClr val="808080"/>
              </a:solidFill>
              <a:latin typeface="Arial"/>
              <a:ea typeface="Arial"/>
              <a:cs typeface="Arial"/>
              <a:sym typeface="Arial"/>
            </a:endParaRPr>
          </a:p>
        </p:txBody>
      </p:sp>
      <p:sp>
        <p:nvSpPr>
          <p:cNvPr id="388" name="Google Shape;388;g2abbb0daa57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9" name="Google Shape;389;g2abbb0daa57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90" name="Google Shape;390;g2abbb0daa57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91" name="Google Shape;391;g2abbb0daa57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endParaRPr sz="2550" b="1" i="0" u="none" strike="noStrike" cap="none">
              <a:solidFill>
                <a:schemeClr val="dk1"/>
              </a:solidFill>
              <a:latin typeface="Arial"/>
              <a:ea typeface="Arial"/>
              <a:cs typeface="Arial"/>
              <a:sym typeface="Arial"/>
            </a:endParaRPr>
          </a:p>
        </p:txBody>
      </p:sp>
      <p:pic>
        <p:nvPicPr>
          <p:cNvPr id="392" name="Google Shape;392;g2abbb0daa57_0_48"/>
          <p:cNvPicPr preferRelativeResize="0"/>
          <p:nvPr/>
        </p:nvPicPr>
        <p:blipFill rotWithShape="1">
          <a:blip r:embed="rId3">
            <a:alphaModFix/>
          </a:blip>
          <a:srcRect/>
          <a:stretch/>
        </p:blipFill>
        <p:spPr>
          <a:xfrm>
            <a:off x="0" y="232172"/>
            <a:ext cx="9144000" cy="639365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g2abbb0daa57_0_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34</a:t>
            </a:fld>
            <a:endParaRPr sz="1000">
              <a:solidFill>
                <a:srgbClr val="808080"/>
              </a:solidFill>
              <a:latin typeface="Arial"/>
              <a:ea typeface="Arial"/>
              <a:cs typeface="Arial"/>
              <a:sym typeface="Arial"/>
            </a:endParaRPr>
          </a:p>
        </p:txBody>
      </p:sp>
      <p:sp>
        <p:nvSpPr>
          <p:cNvPr id="398" name="Google Shape;398;g2abbb0daa57_0_2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99" name="Google Shape;399;g2abbb0daa57_0_2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0" name="Google Shape;400;g2abbb0daa57_0_2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L’enquête </a:t>
            </a:r>
            <a:r>
              <a:rPr lang="fr-FR" sz="2550" b="1" dirty="0">
                <a:solidFill>
                  <a:schemeClr val="dk1"/>
                </a:solidFill>
              </a:rPr>
              <a:t>Engagements, politisation et réseaux sociaux (enquête POF 2024-2025)</a:t>
            </a:r>
            <a:endParaRPr sz="2550" b="1" i="0" u="none" strike="noStrike" cap="none" dirty="0">
              <a:solidFill>
                <a:schemeClr val="dk1"/>
              </a:solidFill>
              <a:latin typeface="Arial"/>
              <a:ea typeface="Arial"/>
              <a:cs typeface="Arial"/>
              <a:sym typeface="Arial"/>
            </a:endParaRPr>
          </a:p>
        </p:txBody>
      </p:sp>
      <p:sp>
        <p:nvSpPr>
          <p:cNvPr id="401" name="Google Shape;401;g2abbb0daa57_0_24"/>
          <p:cNvSpPr txBox="1"/>
          <p:nvPr/>
        </p:nvSpPr>
        <p:spPr>
          <a:xfrm>
            <a:off x="467925" y="1978963"/>
            <a:ext cx="8219100" cy="40827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Produit par et pour des </a:t>
            </a:r>
            <a:r>
              <a:rPr lang="fr-FR" sz="2550" dirty="0" err="1">
                <a:solidFill>
                  <a:schemeClr val="dk1"/>
                </a:solidFill>
              </a:rPr>
              <a:t>étudiant.es</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Interroger les usages sociaux du temps par les étudiants des universités Paris-Nanterre, Paris 8 Vincennes-Saint-Denis, Le Havre Normandie et Nantes. </a:t>
            </a:r>
            <a:endParaRPr sz="2550" dirty="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dirty="0">
                <a:solidFill>
                  <a:schemeClr val="dk1"/>
                </a:solidFill>
              </a:rPr>
              <a:t>Explore les formes de participation politique des étudiantes et étudiants, en s’intéressant au rôle des réseaux sociaux dans leurs pratiques informationnelles et comme vecteur d’engagement.</a:t>
            </a:r>
          </a:p>
          <a:p>
            <a:pPr marL="66675" marR="0" lvl="0" algn="l" rtl="0">
              <a:lnSpc>
                <a:spcPct val="90000"/>
              </a:lnSpc>
              <a:spcBef>
                <a:spcPts val="25"/>
              </a:spcBef>
              <a:spcAft>
                <a:spcPts val="0"/>
              </a:spcAft>
              <a:buClr>
                <a:schemeClr val="dk1"/>
              </a:buClr>
              <a:buSzPts val="2550"/>
            </a:pPr>
            <a:r>
              <a:rPr lang="en-GB" sz="2550" dirty="0">
                <a:solidFill>
                  <a:schemeClr val="dk1"/>
                </a:solidFill>
                <a:hlinkClick r:id="rId3"/>
              </a:rPr>
              <a:t>https://sites.google.com/view/collectifpof/accueil#h.q2lfs3mbrdl5</a:t>
            </a:r>
            <a:r>
              <a:rPr lang="en-GB" sz="2550" dirty="0">
                <a:solidFill>
                  <a:schemeClr val="dk1"/>
                </a:solidFill>
              </a:rPr>
              <a:t> </a:t>
            </a:r>
            <a:endParaRPr sz="2550" dirty="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g32040ae3fd7_0_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35</a:t>
            </a:fld>
            <a:endParaRPr sz="1000">
              <a:solidFill>
                <a:srgbClr val="808080"/>
              </a:solidFill>
              <a:latin typeface="Arial"/>
              <a:ea typeface="Arial"/>
              <a:cs typeface="Arial"/>
              <a:sym typeface="Arial"/>
            </a:endParaRPr>
          </a:p>
        </p:txBody>
      </p:sp>
      <p:sp>
        <p:nvSpPr>
          <p:cNvPr id="407" name="Google Shape;407;g32040ae3fd7_0_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L’enquête </a:t>
            </a:r>
            <a:r>
              <a:rPr lang="fr-FR" sz="2550" b="1">
                <a:solidFill>
                  <a:schemeClr val="dk1"/>
                </a:solidFill>
              </a:rPr>
              <a:t>Usages sociaux du temps (enquête POF 2019-2020)</a:t>
            </a:r>
            <a:endParaRPr sz="2550" b="1" i="0" u="none" strike="noStrike" cap="none">
              <a:solidFill>
                <a:schemeClr val="dk1"/>
              </a:solidFill>
              <a:latin typeface="Arial"/>
              <a:ea typeface="Arial"/>
              <a:cs typeface="Arial"/>
              <a:sym typeface="Arial"/>
            </a:endParaRPr>
          </a:p>
        </p:txBody>
      </p:sp>
      <p:sp>
        <p:nvSpPr>
          <p:cNvPr id="410" name="Google Shape;410;g32040ae3fd7_0_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Tirage aléatoire des salles de cours de Brest, Caen, ENS-Paris-Saclay, Le Havre, Nantes, Saint-Denis, Nanterre, Saint-Étienne, Tours, Saint-Quentin-en-Yvelines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Protocole mixte : questionnaire en ligne à Nantes/questionnaire papier ou via QR code dans les autres universités</a:t>
            </a: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13 218 questionnaires collectés en novembre-décembre 2024</a:t>
            </a:r>
            <a:endParaRPr sz="2450" b="0" i="0" u="none" strike="noStrike" cap="none" dirty="0">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84E3BEED-B527-C8A7-D809-8F54DB649ED5}"/>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04BE9DE5-061B-7339-9ACD-DAF9C9EC29DA}"/>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36</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25FCB483-784A-8BCC-98BA-EDEDF3A71742}"/>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8B3FE27B-5A73-61D6-B1B4-EB5391728FC8}"/>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DF20BABF-5DD6-77AA-F376-C9CC3220667A}"/>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Quelle enquête utiliser pour le cours ?</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BF3E78C5-279C-A181-D9A4-F75C024F6532}"/>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lvl="0" indent="-384175">
              <a:lnSpc>
                <a:spcPct val="90000"/>
              </a:lnSpc>
              <a:spcBef>
                <a:spcPts val="25"/>
              </a:spcBef>
              <a:buClr>
                <a:schemeClr val="dk1"/>
              </a:buClr>
              <a:buSzPts val="2450"/>
              <a:buFont typeface="Arial"/>
              <a:buChar char="-"/>
            </a:pPr>
            <a:r>
              <a:rPr lang="fr-FR" sz="2450" dirty="0">
                <a:solidFill>
                  <a:schemeClr val="dk1"/>
                </a:solidFill>
              </a:rPr>
              <a:t>D’ici la prochaine séance, se rendre sur </a:t>
            </a:r>
            <a:r>
              <a:rPr lang="fr-FR" sz="2450" dirty="0">
                <a:solidFill>
                  <a:schemeClr val="dk1"/>
                </a:solidFill>
                <a:hlinkClick r:id="rId3"/>
              </a:rPr>
              <a:t>https://github.com/alextranslatus/MQSS/</a:t>
            </a:r>
            <a:r>
              <a:rPr lang="fr-FR" sz="2450" dirty="0">
                <a:solidFill>
                  <a:schemeClr val="dk1"/>
                </a:solidFill>
              </a:rPr>
              <a:t> </a:t>
            </a:r>
          </a:p>
          <a:p>
            <a:pPr marL="457200" lvl="0" indent="-384175">
              <a:lnSpc>
                <a:spcPct val="90000"/>
              </a:lnSpc>
              <a:spcBef>
                <a:spcPts val="25"/>
              </a:spcBef>
              <a:buClr>
                <a:schemeClr val="dk1"/>
              </a:buClr>
              <a:buSzPts val="2450"/>
              <a:buFont typeface="Arial"/>
              <a:buChar char="-"/>
            </a:pPr>
            <a:endParaRPr lang="fr-FR" sz="2450" dirty="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Jeter un coup d’œil aux éléments dans le dossier « data », ils concernent l’enquête Engagements, politisation et réseaux sociaux (ETUPOL) : le questionnaire, le dictionnaire des codes, la présentation des données, même les données en </a:t>
            </a:r>
            <a:r>
              <a:rPr lang="fr-FR" sz="2450" dirty="0" err="1">
                <a:solidFill>
                  <a:schemeClr val="dk1"/>
                </a:solidFill>
              </a:rPr>
              <a:t>xls</a:t>
            </a:r>
            <a:r>
              <a:rPr lang="fr-FR" sz="2450" dirty="0">
                <a:solidFill>
                  <a:schemeClr val="dk1"/>
                </a:solidFill>
              </a:rPr>
              <a:t> si vous voulez</a:t>
            </a:r>
          </a:p>
          <a:p>
            <a:pPr marL="457200" marR="0" lvl="0" indent="-384175" algn="l" rtl="0">
              <a:lnSpc>
                <a:spcPct val="90000"/>
              </a:lnSpc>
              <a:spcBef>
                <a:spcPts val="25"/>
              </a:spcBef>
              <a:spcAft>
                <a:spcPts val="0"/>
              </a:spcAft>
              <a:buClr>
                <a:schemeClr val="dk1"/>
              </a:buClr>
              <a:buSzPts val="2450"/>
              <a:buFont typeface="Arial"/>
              <a:buChar char="-"/>
            </a:pPr>
            <a:endParaRPr lang="fr-FR" sz="2450" dirty="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dirty="0">
                <a:solidFill>
                  <a:schemeClr val="dk1"/>
                </a:solidFill>
              </a:rPr>
              <a:t>Quelles variables suscitent votre intérêt ? Votre curiosité ?</a:t>
            </a:r>
          </a:p>
        </p:txBody>
      </p:sp>
    </p:spTree>
    <p:extLst>
      <p:ext uri="{BB962C8B-B14F-4D97-AF65-F5344CB8AC3E}">
        <p14:creationId xmlns:p14="http://schemas.microsoft.com/office/powerpoint/2010/main" val="145364638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3516E96-7D7B-7C9C-9588-1DFF30B77E20}"/>
            </a:ext>
          </a:extLst>
        </p:cNvPr>
        <p:cNvGrpSpPr/>
        <p:nvPr/>
      </p:nvGrpSpPr>
      <p:grpSpPr>
        <a:xfrm>
          <a:off x="0" y="0"/>
          <a:ext cx="0" cy="0"/>
          <a:chOff x="0" y="0"/>
          <a:chExt cx="0" cy="0"/>
        </a:xfrm>
      </p:grpSpPr>
      <p:sp>
        <p:nvSpPr>
          <p:cNvPr id="406" name="Google Shape;406;g32040ae3fd7_0_2">
            <a:extLst>
              <a:ext uri="{FF2B5EF4-FFF2-40B4-BE49-F238E27FC236}">
                <a16:creationId xmlns:a16="http://schemas.microsoft.com/office/drawing/2014/main" id="{AB43E984-E618-D7D2-699B-DE5D84510905}"/>
              </a:ext>
            </a:extLst>
          </p:cNvPr>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37</a:t>
            </a:fld>
            <a:endParaRPr sz="1000">
              <a:solidFill>
                <a:srgbClr val="808080"/>
              </a:solidFill>
              <a:latin typeface="Arial"/>
              <a:ea typeface="Arial"/>
              <a:cs typeface="Arial"/>
              <a:sym typeface="Arial"/>
            </a:endParaRPr>
          </a:p>
        </p:txBody>
      </p:sp>
      <p:sp>
        <p:nvSpPr>
          <p:cNvPr id="407" name="Google Shape;407;g32040ae3fd7_0_2">
            <a:extLst>
              <a:ext uri="{FF2B5EF4-FFF2-40B4-BE49-F238E27FC236}">
                <a16:creationId xmlns:a16="http://schemas.microsoft.com/office/drawing/2014/main" id="{D30949F7-BF05-5731-6D32-3ABFC22B2753}"/>
              </a:ext>
            </a:extLst>
          </p:cNvPr>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a:extLst>
              <a:ext uri="{FF2B5EF4-FFF2-40B4-BE49-F238E27FC236}">
                <a16:creationId xmlns:a16="http://schemas.microsoft.com/office/drawing/2014/main" id="{ABF0E072-62E9-1D6E-7F8E-BDDF26E055FB}"/>
              </a:ext>
            </a:extLst>
          </p:cNvPr>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a:extLst>
              <a:ext uri="{FF2B5EF4-FFF2-40B4-BE49-F238E27FC236}">
                <a16:creationId xmlns:a16="http://schemas.microsoft.com/office/drawing/2014/main" id="{4C28DB63-9905-57AB-F703-A0E3A55E49A1}"/>
              </a:ext>
            </a:extLst>
          </p:cNvPr>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Télécharger et installer R et </a:t>
            </a:r>
            <a:r>
              <a:rPr lang="fr-FR" sz="2550" b="1" i="0" u="none" strike="noStrike" cap="none" dirty="0" err="1">
                <a:solidFill>
                  <a:schemeClr val="dk1"/>
                </a:solidFill>
                <a:latin typeface="Arial"/>
                <a:ea typeface="Arial"/>
                <a:cs typeface="Arial"/>
                <a:sym typeface="Arial"/>
              </a:rPr>
              <a:t>Rstudio</a:t>
            </a:r>
            <a:endParaRPr sz="2550" b="1" i="0" u="none" strike="noStrike" cap="none" dirty="0">
              <a:solidFill>
                <a:schemeClr val="dk1"/>
              </a:solidFill>
              <a:latin typeface="Arial"/>
              <a:ea typeface="Arial"/>
              <a:cs typeface="Arial"/>
              <a:sym typeface="Arial"/>
            </a:endParaRPr>
          </a:p>
        </p:txBody>
      </p:sp>
      <p:sp>
        <p:nvSpPr>
          <p:cNvPr id="410" name="Google Shape;410;g32040ae3fd7_0_2">
            <a:extLst>
              <a:ext uri="{FF2B5EF4-FFF2-40B4-BE49-F238E27FC236}">
                <a16:creationId xmlns:a16="http://schemas.microsoft.com/office/drawing/2014/main" id="{134D7F15-D1FE-58A7-3F7A-B28020CC10D3}"/>
              </a:ext>
            </a:extLst>
          </p:cNvPr>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73025" lvl="0">
              <a:lnSpc>
                <a:spcPct val="90000"/>
              </a:lnSpc>
              <a:spcBef>
                <a:spcPts val="25"/>
              </a:spcBef>
              <a:buClr>
                <a:schemeClr val="dk1"/>
              </a:buClr>
              <a:buSzPts val="2450"/>
            </a:pPr>
            <a:r>
              <a:rPr lang="fr-FR" sz="2450" b="1" dirty="0">
                <a:solidFill>
                  <a:schemeClr val="dk1"/>
                </a:solidFill>
              </a:rPr>
              <a:t>Également pour la semaine prochaine</a:t>
            </a:r>
            <a:r>
              <a:rPr lang="fr-FR" sz="2450" dirty="0">
                <a:solidFill>
                  <a:schemeClr val="dk1"/>
                </a:solidFill>
              </a:rPr>
              <a:t>, télécharger et installer R en premier, puis </a:t>
            </a:r>
            <a:r>
              <a:rPr lang="fr-FR" sz="2450" dirty="0" err="1">
                <a:solidFill>
                  <a:schemeClr val="dk1"/>
                </a:solidFill>
              </a:rPr>
              <a:t>Rstudio</a:t>
            </a:r>
            <a:r>
              <a:rPr lang="fr-FR" sz="2450" dirty="0">
                <a:solidFill>
                  <a:schemeClr val="dk1"/>
                </a:solidFill>
              </a:rPr>
              <a:t> en deuxième :</a:t>
            </a:r>
          </a:p>
          <a:p>
            <a:pPr marL="73025" lvl="0">
              <a:lnSpc>
                <a:spcPct val="90000"/>
              </a:lnSpc>
              <a:spcBef>
                <a:spcPts val="25"/>
              </a:spcBef>
              <a:buClr>
                <a:schemeClr val="dk1"/>
              </a:buClr>
              <a:buSzPts val="2450"/>
            </a:pPr>
            <a:r>
              <a:rPr lang="fr-FR" sz="2450" dirty="0">
                <a:solidFill>
                  <a:schemeClr val="dk1"/>
                </a:solidFill>
                <a:hlinkClick r:id="rId3"/>
              </a:rPr>
              <a:t>https://posit.co/download/rstudio-desktop/</a:t>
            </a:r>
            <a:r>
              <a:rPr lang="fr-FR" sz="2450" dirty="0">
                <a:solidFill>
                  <a:schemeClr val="dk1"/>
                </a:solidFill>
              </a:rPr>
              <a:t> </a:t>
            </a:r>
          </a:p>
          <a:p>
            <a:pPr marL="73025" lvl="0">
              <a:lnSpc>
                <a:spcPct val="90000"/>
              </a:lnSpc>
              <a:spcBef>
                <a:spcPts val="25"/>
              </a:spcBef>
              <a:buClr>
                <a:schemeClr val="dk1"/>
              </a:buClr>
              <a:buSzPts val="2450"/>
            </a:pPr>
            <a:endParaRPr lang="fr-FR" sz="2450" b="0" i="0" u="none" strike="noStrike" cap="none" dirty="0">
              <a:solidFill>
                <a:schemeClr val="dk1"/>
              </a:solidFill>
              <a:latin typeface="Arial"/>
              <a:ea typeface="Arial"/>
              <a:cs typeface="Arial"/>
              <a:sym typeface="Arial"/>
            </a:endParaRPr>
          </a:p>
        </p:txBody>
      </p:sp>
      <p:pic>
        <p:nvPicPr>
          <p:cNvPr id="3" name="Picture 2" descr="A screenshot of a computer&#10;&#10;AI-generated content may be incorrect.">
            <a:extLst>
              <a:ext uri="{FF2B5EF4-FFF2-40B4-BE49-F238E27FC236}">
                <a16:creationId xmlns:a16="http://schemas.microsoft.com/office/drawing/2014/main" id="{D2F6F924-8294-D9CA-FB88-18514A716C4A}"/>
              </a:ext>
            </a:extLst>
          </p:cNvPr>
          <p:cNvPicPr>
            <a:picLocks noChangeAspect="1"/>
          </p:cNvPicPr>
          <p:nvPr/>
        </p:nvPicPr>
        <p:blipFill>
          <a:blip r:embed="rId4"/>
          <a:stretch>
            <a:fillRect/>
          </a:stretch>
        </p:blipFill>
        <p:spPr>
          <a:xfrm>
            <a:off x="1012990" y="3259178"/>
            <a:ext cx="7118019" cy="2518769"/>
          </a:xfrm>
          <a:prstGeom prst="rect">
            <a:avLst/>
          </a:prstGeom>
        </p:spPr>
      </p:pic>
    </p:spTree>
    <p:extLst>
      <p:ext uri="{BB962C8B-B14F-4D97-AF65-F5344CB8AC3E}">
        <p14:creationId xmlns:p14="http://schemas.microsoft.com/office/powerpoint/2010/main" val="20350282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g2a994f7876f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38</a:t>
            </a:fld>
            <a:endParaRPr sz="1000">
              <a:solidFill>
                <a:srgbClr val="808080"/>
              </a:solidFill>
              <a:latin typeface="Arial"/>
              <a:ea typeface="Arial"/>
              <a:cs typeface="Arial"/>
              <a:sym typeface="Arial"/>
            </a:endParaRPr>
          </a:p>
        </p:txBody>
      </p:sp>
      <p:sp>
        <p:nvSpPr>
          <p:cNvPr id="416" name="Google Shape;416;g2a994f7876f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17" name="Google Shape;417;g2a994f7876f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18" name="Google Shape;418;g2a994f7876f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dirty="0">
                <a:solidFill>
                  <a:srgbClr val="CCCCCC"/>
                </a:solidFill>
                <a:latin typeface="Arial"/>
                <a:ea typeface="Arial"/>
                <a:cs typeface="Arial"/>
                <a:sym typeface="Arial"/>
              </a:rPr>
              <a:t>Apprentissage théorique et mise en pratique sur R avec l’enquête Engagements, politisation et réseaux sociaux (ETUPOL)</a:t>
            </a:r>
            <a:endParaRPr sz="2550" b="0" i="0" u="none" strike="noStrike" cap="none" dirty="0">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dirty="0">
                <a:solidFill>
                  <a:schemeClr val="dk1"/>
                </a:solidFill>
                <a:latin typeface="Arial"/>
                <a:ea typeface="Arial"/>
                <a:cs typeface="Arial"/>
                <a:sym typeface="Arial"/>
              </a:rPr>
              <a:t>Planning du semestre : contenu des cours et évaluations</a:t>
            </a:r>
            <a:endParaRPr sz="2550" b="0" i="0" u="none" strike="noStrike" cap="none" dirty="0">
              <a:solidFill>
                <a:srgbClr val="CCCCCC"/>
              </a:solidFill>
              <a:latin typeface="Arial"/>
              <a:ea typeface="Arial"/>
              <a:cs typeface="Arial"/>
              <a:sym typeface="Arial"/>
            </a:endParaRPr>
          </a:p>
        </p:txBody>
      </p:sp>
      <p:sp>
        <p:nvSpPr>
          <p:cNvPr id="419" name="Google Shape;419;g2a994f7876f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g2ab55a4ceb1_2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39</a:t>
            </a:fld>
            <a:endParaRPr sz="1000">
              <a:solidFill>
                <a:srgbClr val="808080"/>
              </a:solidFill>
              <a:latin typeface="Arial"/>
              <a:ea typeface="Arial"/>
              <a:cs typeface="Arial"/>
              <a:sym typeface="Arial"/>
            </a:endParaRPr>
          </a:p>
        </p:txBody>
      </p:sp>
      <p:sp>
        <p:nvSpPr>
          <p:cNvPr id="425" name="Google Shape;425;g2ab55a4ceb1_2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26" name="Google Shape;426;g2ab55a4ceb1_2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27" name="Google Shape;427;g2ab55a4ceb1_2_0"/>
          <p:cNvSpPr txBox="1"/>
          <p:nvPr/>
        </p:nvSpPr>
        <p:spPr>
          <a:xfrm>
            <a:off x="571150" y="1563745"/>
            <a:ext cx="8048700" cy="46515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65"/>
              <a:buFont typeface="Arial"/>
              <a:buNone/>
            </a:pPr>
            <a:endParaRPr sz="1165">
              <a:solidFill>
                <a:schemeClr val="dk1"/>
              </a:solidFill>
            </a:endParaRPr>
          </a:p>
          <a:p>
            <a:pPr marL="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cf. syllabus</a:t>
            </a:r>
            <a:endParaRPr sz="2565"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65"/>
              <a:buFont typeface="Arial"/>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 &amp; 2: Introduction: les méthodes quantitatives qu’est-ce que c’est?</a:t>
            </a:r>
            <a:endParaRPr sz="2565">
              <a:solidFill>
                <a:schemeClr val="dk1"/>
              </a:solidFill>
            </a:endParaRPr>
          </a:p>
          <a:p>
            <a:pPr marL="457200" marR="0" lvl="0" indent="0" algn="l" rtl="0">
              <a:lnSpc>
                <a:spcPct val="90000"/>
              </a:lnSpc>
              <a:spcBef>
                <a:spcPts val="25"/>
              </a:spcBef>
              <a:spcAft>
                <a:spcPts val="0"/>
              </a:spcAft>
              <a:buNone/>
            </a:pPr>
            <a:endParaRPr sz="17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3, 4 : l’analyse univariée</a:t>
            </a:r>
            <a:endParaRPr sz="2565">
              <a:solidFill>
                <a:schemeClr val="dk1"/>
              </a:solidFill>
            </a:endParaRPr>
          </a:p>
          <a:p>
            <a:pPr marL="457200" marR="0" lvl="0" indent="0" algn="l" rtl="0">
              <a:lnSpc>
                <a:spcPct val="90000"/>
              </a:lnSpc>
              <a:spcBef>
                <a:spcPts val="25"/>
              </a:spcBef>
              <a:spcAft>
                <a:spcPts val="0"/>
              </a:spcAft>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5, 6 et 7 : l’analyse bivariée</a:t>
            </a:r>
            <a:endParaRPr sz="2565">
              <a:solidFill>
                <a:schemeClr val="dk1"/>
              </a:solidFill>
            </a:endParaRPr>
          </a:p>
          <a:p>
            <a:pPr marL="457200" marR="0" lvl="0" indent="-327977" algn="l" rtl="0">
              <a:lnSpc>
                <a:spcPct val="90000"/>
              </a:lnSpc>
              <a:spcBef>
                <a:spcPts val="0"/>
              </a:spcBef>
              <a:spcAft>
                <a:spcPts val="0"/>
              </a:spcAft>
              <a:buClr>
                <a:schemeClr val="dk1"/>
              </a:buClr>
              <a:buSzPts val="1565"/>
              <a:buChar char="-"/>
            </a:pPr>
            <a:endParaRPr sz="1565">
              <a:solidFill>
                <a:schemeClr val="dk1"/>
              </a:solidFill>
            </a:endParaRPr>
          </a:p>
          <a:p>
            <a:pPr marL="457200" marR="0" lvl="0" indent="-391477" algn="l" rtl="0">
              <a:lnSpc>
                <a:spcPct val="90000"/>
              </a:lnSpc>
              <a:spcBef>
                <a:spcPts val="0"/>
              </a:spcBef>
              <a:spcAft>
                <a:spcPts val="0"/>
              </a:spcAft>
              <a:buClr>
                <a:schemeClr val="dk1"/>
              </a:buClr>
              <a:buSzPts val="2565"/>
              <a:buChar char="-"/>
            </a:pPr>
            <a:r>
              <a:rPr lang="fr-FR" sz="2565">
                <a:solidFill>
                  <a:schemeClr val="dk1"/>
                </a:solidFill>
              </a:rPr>
              <a:t>Séance 8 &amp; 9 : introduction aux indicateurs synthétiques</a:t>
            </a:r>
            <a:endParaRPr sz="2565">
              <a:solidFill>
                <a:schemeClr val="dk1"/>
              </a:solidFill>
            </a:endParaRPr>
          </a:p>
          <a:p>
            <a:pPr marL="457200" marR="0" lvl="0" indent="0" algn="l" rtl="0">
              <a:lnSpc>
                <a:spcPct val="90000"/>
              </a:lnSpc>
              <a:spcBef>
                <a:spcPts val="25"/>
              </a:spcBef>
              <a:spcAft>
                <a:spcPts val="0"/>
              </a:spcAft>
              <a:buNone/>
            </a:pPr>
            <a:endParaRPr sz="20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10 : travail en groupe en vue du rendu final  </a:t>
            </a:r>
            <a:endParaRPr sz="2565">
              <a:solidFill>
                <a:schemeClr val="dk1"/>
              </a:solidFill>
            </a:endParaRPr>
          </a:p>
        </p:txBody>
      </p:sp>
      <p:sp>
        <p:nvSpPr>
          <p:cNvPr id="428" name="Google Shape;428;g2ab55a4ceb1_2_0"/>
          <p:cNvSpPr txBox="1"/>
          <p:nvPr/>
        </p:nvSpPr>
        <p:spPr>
          <a:xfrm>
            <a:off x="467925" y="761600"/>
            <a:ext cx="82749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50"/>
              <a:buFont typeface="Arial"/>
              <a:buNone/>
            </a:pPr>
            <a:r>
              <a:rPr lang="fr-FR" sz="2750" b="1" i="0" u="none" strike="noStrike" cap="none">
                <a:solidFill>
                  <a:schemeClr val="dk1"/>
                </a:solidFill>
              </a:rPr>
              <a:t>Planning du semestre : contenu des cours et évaluations</a:t>
            </a:r>
            <a:endParaRPr sz="2750" b="1" i="0" u="none" strike="noStrike" cap="none">
              <a:solidFill>
                <a:srgbClr val="CCCCCC"/>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g2a994f7876f_0_5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40</a:t>
            </a:fld>
            <a:endParaRPr sz="1000">
              <a:solidFill>
                <a:srgbClr val="808080"/>
              </a:solidFill>
              <a:latin typeface="Arial"/>
              <a:ea typeface="Arial"/>
              <a:cs typeface="Arial"/>
              <a:sym typeface="Arial"/>
            </a:endParaRPr>
          </a:p>
        </p:txBody>
      </p:sp>
      <p:sp>
        <p:nvSpPr>
          <p:cNvPr id="434" name="Google Shape;434;g2a994f7876f_0_5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5" name="Google Shape;435;g2a994f7876f_0_5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36" name="Google Shape;436;g2a994f7876f_0_5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Note de participation orale (10%)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 (20% et 20%)</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37" name="Google Shape;437;g2a994f7876f_0_5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3. Modalités d’évaluation</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g2ab55a4ceb1_2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41</a:t>
            </a:fld>
            <a:endParaRPr sz="1000">
              <a:solidFill>
                <a:srgbClr val="808080"/>
              </a:solidFill>
              <a:latin typeface="Arial"/>
              <a:ea typeface="Arial"/>
              <a:cs typeface="Arial"/>
              <a:sym typeface="Arial"/>
            </a:endParaRPr>
          </a:p>
        </p:txBody>
      </p:sp>
      <p:sp>
        <p:nvSpPr>
          <p:cNvPr id="443" name="Google Shape;443;g2ab55a4ceb1_2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44" name="Google Shape;444;g2ab55a4ceb1_2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45" name="Google Shape;445;g2ab55a4ceb1_2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rgbClr val="2E5D5A"/>
              </a:buClr>
              <a:buSzPts val="2550"/>
              <a:buChar char="●"/>
            </a:pPr>
            <a:r>
              <a:rPr lang="fr-FR" sz="2550" b="1" i="0" u="none" strike="noStrike" cap="none">
                <a:solidFill>
                  <a:schemeClr val="dk1"/>
                </a:solidFill>
              </a:rPr>
              <a:t>Note de participation orale (10% de la note)</a:t>
            </a:r>
            <a:endParaRPr sz="2550" b="1" i="0" u="none" strike="noStrike" cap="none">
              <a:solidFill>
                <a:schemeClr val="dk1"/>
              </a:solidFil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chaque participation est comptée (réponses, remarques, questions)</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note finale basée sur le nombre de participations au cours du semestre</a:t>
            </a: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 Quantification de votre participation au cours du semestre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46" name="Google Shape;446;g2ab55a4ceb1_2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g2a994f7876f_0_6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42</a:t>
            </a:fld>
            <a:endParaRPr sz="1000">
              <a:solidFill>
                <a:srgbClr val="808080"/>
              </a:solidFill>
              <a:latin typeface="Arial"/>
              <a:ea typeface="Arial"/>
              <a:cs typeface="Arial"/>
              <a:sym typeface="Arial"/>
            </a:endParaRPr>
          </a:p>
        </p:txBody>
      </p:sp>
      <p:sp>
        <p:nvSpPr>
          <p:cNvPr id="452" name="Google Shape;452;g2a994f7876f_0_6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53" name="Google Shape;453;g2a994f7876f_0_6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54" name="Google Shape;454;g2a994f7876f_0_6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 (10%</a:t>
            </a:r>
            <a:r>
              <a:rPr lang="fr-FR" sz="2550">
                <a:solidFill>
                  <a:srgbClr val="CCCCCC"/>
                </a:solidFill>
              </a:rPr>
              <a:t>)</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Devoir sur table 1 et 2 (20% et 20%)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55" name="Google Shape;455;g2a994f7876f_0_6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g2ab55a4ceb1_2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43</a:t>
            </a:fld>
            <a:endParaRPr sz="1000">
              <a:solidFill>
                <a:srgbClr val="808080"/>
              </a:solidFill>
              <a:latin typeface="Arial"/>
              <a:ea typeface="Arial"/>
              <a:cs typeface="Arial"/>
              <a:sym typeface="Arial"/>
            </a:endParaRPr>
          </a:p>
        </p:txBody>
      </p:sp>
      <p:sp>
        <p:nvSpPr>
          <p:cNvPr id="461" name="Google Shape;461;g2ab55a4ceb1_2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62" name="Google Shape;462;g2ab55a4ceb1_2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63" name="Google Shape;463;g2ab55a4ceb1_2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1 : </a:t>
            </a:r>
            <a:r>
              <a:rPr lang="fr-FR" sz="2550" b="1" dirty="0">
                <a:solidFill>
                  <a:schemeClr val="dk1"/>
                </a:solidFill>
              </a:rPr>
              <a:t>12</a:t>
            </a:r>
            <a:r>
              <a:rPr lang="fr-FR" sz="2550" b="1" i="0" u="none" strike="noStrike" cap="none" dirty="0">
                <a:solidFill>
                  <a:schemeClr val="dk1"/>
                </a:solidFill>
                <a:latin typeface="Arial"/>
                <a:ea typeface="Arial"/>
                <a:cs typeface="Arial"/>
                <a:sym typeface="Arial"/>
              </a:rPr>
              <a:t> février (20%</a:t>
            </a:r>
            <a:r>
              <a:rPr lang="fr-FR" sz="2550" b="1" dirty="0">
                <a:solidFill>
                  <a:schemeClr val="dk1"/>
                </a:solidFill>
              </a:rPr>
              <a:t>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Grandes enquêtes et analyse univariée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30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64" name="Google Shape;464;g2ab55a4ceb1_2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g2ab55a4ceb1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44</a:t>
            </a:fld>
            <a:endParaRPr sz="1000">
              <a:solidFill>
                <a:srgbClr val="808080"/>
              </a:solidFill>
              <a:latin typeface="Arial"/>
              <a:ea typeface="Arial"/>
              <a:cs typeface="Arial"/>
              <a:sym typeface="Arial"/>
            </a:endParaRPr>
          </a:p>
        </p:txBody>
      </p:sp>
      <p:sp>
        <p:nvSpPr>
          <p:cNvPr id="470" name="Google Shape;470;g2ab55a4ceb1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71" name="Google Shape;471;g2ab55a4ceb1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72" name="Google Shape;472;g2ab55a4ceb1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2 : 19 mars (20%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Analyse bivariée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a:t>
            </a:r>
            <a:r>
              <a:rPr lang="fr-FR" sz="2550" dirty="0">
                <a:solidFill>
                  <a:schemeClr val="dk1"/>
                </a:solidFill>
              </a:rPr>
              <a:t>30</a:t>
            </a:r>
            <a:r>
              <a:rPr lang="fr-FR" sz="2550" b="0" i="0" u="none" strike="noStrike" cap="none" dirty="0">
                <a:solidFill>
                  <a:schemeClr val="dk1"/>
                </a:solidFill>
                <a:latin typeface="Arial"/>
                <a:ea typeface="Arial"/>
                <a:cs typeface="Arial"/>
                <a:sym typeface="Arial"/>
              </a:rPr>
              <a:t>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73" name="Google Shape;473;g2ab55a4ceb1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g2a994f7876f_0_7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45</a:t>
            </a:fld>
            <a:endParaRPr sz="1000">
              <a:solidFill>
                <a:srgbClr val="808080"/>
              </a:solidFill>
              <a:latin typeface="Arial"/>
              <a:ea typeface="Arial"/>
              <a:cs typeface="Arial"/>
              <a:sym typeface="Arial"/>
            </a:endParaRPr>
          </a:p>
        </p:txBody>
      </p:sp>
      <p:sp>
        <p:nvSpPr>
          <p:cNvPr id="479" name="Google Shape;479;g2a994f7876f_0_7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0" name="Google Shape;480;g2a994f7876f_0_7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81" name="Google Shape;481;g2a994f7876f_0_7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Compte rendu collectif</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82" name="Google Shape;482;g2a994f7876f_0_7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g2ab55a4ceb1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46</a:t>
            </a:fld>
            <a:endParaRPr sz="1000">
              <a:solidFill>
                <a:srgbClr val="808080"/>
              </a:solidFill>
              <a:latin typeface="Arial"/>
              <a:ea typeface="Arial"/>
              <a:cs typeface="Arial"/>
              <a:sym typeface="Arial"/>
            </a:endParaRPr>
          </a:p>
        </p:txBody>
      </p:sp>
      <p:sp>
        <p:nvSpPr>
          <p:cNvPr id="488" name="Google Shape;488;g2ab55a4ceb1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9" name="Google Shape;489;g2ab55a4ceb1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0" name="Google Shape;490;g2ab55a4ceb1_0_8"/>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Compte rendu collectif (50%</a:t>
            </a:r>
            <a:r>
              <a:rPr lang="fr-FR" sz="2550" b="1">
                <a:solidFill>
                  <a:schemeClr val="dk1"/>
                </a:solidFill>
              </a:rPr>
              <a:t> de la note finale)</a:t>
            </a:r>
            <a:endParaRPr sz="255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None/>
            </a:pPr>
            <a:endParaRPr sz="2550" u="sng">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u="sng">
                <a:solidFill>
                  <a:schemeClr val="dk1"/>
                </a:solidFill>
              </a:rPr>
              <a:t>Groupe:</a:t>
            </a:r>
            <a:r>
              <a:rPr lang="fr-FR" sz="2550">
                <a:solidFill>
                  <a:schemeClr val="dk1"/>
                </a:solidFill>
              </a:rPr>
              <a:t> 3 ou 4 personnes</a:t>
            </a:r>
            <a:endParaRPr sz="2550">
              <a:solidFill>
                <a:schemeClr val="dk1"/>
              </a:solidFil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Sujet </a:t>
            </a:r>
            <a:r>
              <a:rPr lang="fr-FR" sz="2550" b="0" i="0" u="none" strike="noStrike" cap="none">
                <a:solidFill>
                  <a:schemeClr val="dk1"/>
                </a:solidFill>
                <a:latin typeface="Arial"/>
                <a:ea typeface="Arial"/>
                <a:cs typeface="Arial"/>
                <a:sym typeface="Arial"/>
              </a:rPr>
              <a:t>: à formuler par vous-mêmes à partir des variables disponibles dans la base de donnée </a:t>
            </a:r>
            <a:r>
              <a:rPr lang="fr-FR" sz="2550">
                <a:solidFill>
                  <a:schemeClr val="dk1"/>
                </a:solidFill>
              </a:rPr>
              <a:t>Usages sociaux du temps</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Contenu </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(1) Introduction incluant question de recherche</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(2) Présentation des variables utilisées et des méthodes employées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(3) Présentation des résultats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(4) Conclusion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491" name="Google Shape;491;g2ab55a4ceb1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g2ab55a4ceb1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47</a:t>
            </a:fld>
            <a:endParaRPr sz="1000">
              <a:solidFill>
                <a:srgbClr val="808080"/>
              </a:solidFill>
              <a:latin typeface="Arial"/>
              <a:ea typeface="Arial"/>
              <a:cs typeface="Arial"/>
              <a:sym typeface="Arial"/>
            </a:endParaRPr>
          </a:p>
        </p:txBody>
      </p:sp>
      <p:sp>
        <p:nvSpPr>
          <p:cNvPr id="497" name="Google Shape;497;g2ab55a4ceb1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98" name="Google Shape;498;g2ab55a4ceb1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9" name="Google Shape;499;g2ab55a4ceb1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Compte rendu collectif (50% </a:t>
            </a:r>
            <a:r>
              <a:rPr lang="fr-FR" sz="2550" b="1" dirty="0">
                <a:solidFill>
                  <a:schemeClr val="dk1"/>
                </a:solidFill>
              </a:rPr>
              <a:t>de la note finale</a:t>
            </a:r>
            <a:r>
              <a:rPr lang="fr-FR" sz="2550" b="1" i="0" u="none" strike="noStrike" cap="none" dirty="0">
                <a:solidFill>
                  <a:schemeClr val="dk1"/>
                </a:solidFill>
                <a:latin typeface="Arial"/>
                <a:ea typeface="Arial"/>
                <a:cs typeface="Arial"/>
                <a:sym typeface="Arial"/>
              </a:rPr>
              <a:t>)</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Format </a:t>
            </a:r>
            <a:r>
              <a:rPr lang="fr-FR" sz="2550" b="0" i="0" u="none" strike="noStrike" cap="none" dirty="0">
                <a:solidFill>
                  <a:schemeClr val="dk1"/>
                </a:solidFill>
                <a:latin typeface="Arial"/>
                <a:ea typeface="Arial"/>
                <a:cs typeface="Arial"/>
                <a:sym typeface="Arial"/>
              </a:rPr>
              <a:t>: environ 6 pages, interligne 1.5, police Times New Roman, taille 12</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Date limite</a:t>
            </a:r>
            <a:r>
              <a:rPr lang="fr-FR" sz="2550" b="0" i="0" u="none" strike="noStrike" cap="none" dirty="0">
                <a:solidFill>
                  <a:schemeClr val="dk1"/>
                </a:solidFill>
                <a:latin typeface="Arial"/>
                <a:ea typeface="Arial"/>
                <a:cs typeface="Arial"/>
                <a:sym typeface="Arial"/>
              </a:rPr>
              <a:t> : le</a:t>
            </a:r>
            <a:r>
              <a:rPr lang="fr-FR" sz="2550" dirty="0">
                <a:solidFill>
                  <a:schemeClr val="dk1"/>
                </a:solidFill>
              </a:rPr>
              <a:t> jeudi 9 avril 2026</a:t>
            </a:r>
            <a:endParaRPr sz="2550" dirty="0">
              <a:solidFill>
                <a:schemeClr val="dk1"/>
              </a:solidFill>
            </a:endParaRPr>
          </a:p>
          <a:p>
            <a:pPr marL="0" marR="0" lvl="0" indent="0" algn="l" rtl="0">
              <a:lnSpc>
                <a:spcPct val="90000"/>
              </a:lnSpc>
              <a:spcBef>
                <a:spcPts val="0"/>
              </a:spcBef>
              <a:spcAft>
                <a:spcPts val="0"/>
              </a:spcAft>
              <a:buNone/>
            </a:pPr>
            <a:endParaRPr sz="2550" dirty="0">
              <a:solidFill>
                <a:schemeClr val="dk1"/>
              </a:solidFill>
              <a:highlight>
                <a:srgbClr val="FFFF00"/>
              </a:highlight>
            </a:endParaRPr>
          </a:p>
          <a:p>
            <a:pPr marL="0" lvl="0" indent="0" algn="l" rtl="0">
              <a:spcBef>
                <a:spcPts val="0"/>
              </a:spcBef>
              <a:spcAft>
                <a:spcPts val="0"/>
              </a:spcAft>
              <a:buClr>
                <a:schemeClr val="dk1"/>
              </a:buClr>
              <a:buSzPts val="3200"/>
              <a:buFont typeface="Arial"/>
              <a:buNone/>
            </a:pPr>
            <a:r>
              <a:rPr lang="fr-FR" sz="3200" b="1" dirty="0">
                <a:solidFill>
                  <a:srgbClr val="2E5D5A"/>
                </a:solidFill>
                <a:latin typeface="Calibri"/>
                <a:ea typeface="Calibri"/>
                <a:cs typeface="Calibri"/>
                <a:sym typeface="Calibri"/>
              </a:rPr>
              <a:t>Pour la semaine prochaine, installez R et R Studio, explications reçues par mail. </a:t>
            </a:r>
            <a:endParaRPr sz="2550" dirty="0">
              <a:solidFill>
                <a:schemeClr val="dk1"/>
              </a:solidFill>
              <a:highlight>
                <a:srgbClr val="FFFF00"/>
              </a:highlight>
            </a:endParaRPr>
          </a:p>
        </p:txBody>
      </p:sp>
      <p:sp>
        <p:nvSpPr>
          <p:cNvPr id="500" name="Google Shape;500;g2ab55a4ceb1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g2ae90372f6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48</a:t>
            </a:fld>
            <a:endParaRPr sz="1000">
              <a:solidFill>
                <a:srgbClr val="808080"/>
              </a:solidFill>
              <a:latin typeface="Arial"/>
              <a:ea typeface="Arial"/>
              <a:cs typeface="Arial"/>
              <a:sym typeface="Arial"/>
            </a:endParaRPr>
          </a:p>
        </p:txBody>
      </p:sp>
      <p:sp>
        <p:nvSpPr>
          <p:cNvPr id="506" name="Google Shape;506;g2ae90372f6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07" name="Google Shape;507;g2ae90372f6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08" name="Google Shape;508;g2ae90372f6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Référent handicap (besoin d’un tiers temps, aménagement des rendus)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sng" strike="noStrike" cap="none">
                <a:solidFill>
                  <a:schemeClr val="hlink"/>
                </a:solidFill>
                <a:latin typeface="Arial"/>
                <a:ea typeface="Arial"/>
                <a:cs typeface="Arial"/>
                <a:sym typeface="Arial"/>
                <a:hlinkClick r:id="rId3"/>
              </a:rPr>
              <a:t>alain.gnanou@sciencespo-saintgermain.fr</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509" name="Google Shape;509;g2ae90372f6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Personnes ressources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g2abac93716c_0_5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49</a:t>
            </a:fld>
            <a:endParaRPr sz="1000">
              <a:solidFill>
                <a:srgbClr val="808080"/>
              </a:solidFill>
              <a:latin typeface="Arial"/>
              <a:ea typeface="Arial"/>
              <a:cs typeface="Arial"/>
              <a:sym typeface="Arial"/>
            </a:endParaRPr>
          </a:p>
        </p:txBody>
      </p:sp>
      <p:sp>
        <p:nvSpPr>
          <p:cNvPr id="515" name="Google Shape;515;g2abac93716c_0_5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16" name="Google Shape;516;g2abac93716c_0_5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17" name="Google Shape;517;g2abac93716c_0_5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BERGSTRÖM Marie, </a:t>
            </a:r>
            <a:r>
              <a:rPr lang="fr-FR" sz="1500" b="0" i="0" u="none" strike="noStrike" cap="none">
                <a:solidFill>
                  <a:schemeClr val="dk1"/>
                </a:solidFill>
                <a:latin typeface="Arial"/>
                <a:ea typeface="Arial"/>
                <a:cs typeface="Arial"/>
                <a:sym typeface="Arial"/>
              </a:rPr>
              <a:t>« De quoi l’écart d’âge est-il le nombre ? L’apport des big data à l’étude de la différence d’âge au sein des couples », </a:t>
            </a:r>
            <a:r>
              <a:rPr lang="fr-FR" sz="1500" b="0" i="1" u="none" strike="noStrike" cap="none">
                <a:solidFill>
                  <a:schemeClr val="dk1"/>
                </a:solidFill>
                <a:latin typeface="Arial"/>
                <a:ea typeface="Arial"/>
                <a:cs typeface="Arial"/>
                <a:sym typeface="Arial"/>
              </a:rPr>
              <a:t>Revue française de sociologie</a:t>
            </a:r>
            <a:r>
              <a:rPr lang="fr-FR" sz="1500" b="0" i="0" u="none" strike="noStrike" cap="none">
                <a:solidFill>
                  <a:schemeClr val="dk1"/>
                </a:solidFill>
                <a:latin typeface="Arial"/>
                <a:ea typeface="Arial"/>
                <a:cs typeface="Arial"/>
                <a:sym typeface="Arial"/>
              </a:rPr>
              <a:t>, 2018/3 (Vol. 59), pp. 395-422.</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600" b="1" i="0" u="none" strike="noStrike" cap="none">
                <a:solidFill>
                  <a:schemeClr val="dk1"/>
                </a:solidFill>
                <a:latin typeface="Arial"/>
                <a:ea typeface="Arial"/>
                <a:cs typeface="Arial"/>
                <a:sym typeface="Arial"/>
              </a:rPr>
              <a:t>BRUN, Solène, et COSQUER, Clair.</a:t>
            </a:r>
            <a:r>
              <a:rPr lang="fr-FR" sz="1600" b="0" i="0" u="none" strike="noStrike" cap="none">
                <a:solidFill>
                  <a:schemeClr val="dk1"/>
                </a:solidFill>
                <a:latin typeface="Arial"/>
                <a:ea typeface="Arial"/>
                <a:cs typeface="Arial"/>
                <a:sym typeface="Arial"/>
              </a:rPr>
              <a:t> « 9. Les défis méthodologiques d’une analyse sociologique de la race », dans </a:t>
            </a:r>
            <a:r>
              <a:rPr lang="fr-FR" sz="1600" b="0" i="1" u="none" strike="noStrike" cap="none">
                <a:solidFill>
                  <a:schemeClr val="dk1"/>
                </a:solidFill>
                <a:latin typeface="Arial"/>
                <a:ea typeface="Arial"/>
                <a:cs typeface="Arial"/>
                <a:sym typeface="Arial"/>
              </a:rPr>
              <a:t>Sociologie de la race</a:t>
            </a:r>
            <a:r>
              <a:rPr lang="fr-FR" sz="1600" b="0" i="0" u="none" strike="noStrike" cap="none">
                <a:solidFill>
                  <a:schemeClr val="dk1"/>
                </a:solidFill>
                <a:latin typeface="Arial"/>
                <a:ea typeface="Arial"/>
                <a:cs typeface="Arial"/>
                <a:sym typeface="Arial"/>
              </a:rPr>
              <a:t>. Armand Colin, 2022, pp. 111-124</a:t>
            </a: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DAGIRAL, Éric, LICOPPE, Christian, MARTIN, Olivier, </a:t>
            </a:r>
            <a:r>
              <a:rPr lang="fr-FR" sz="1500" b="1" i="1" u="none" strike="noStrike" cap="none">
                <a:solidFill>
                  <a:schemeClr val="dk1"/>
                </a:solidFill>
                <a:latin typeface="Arial"/>
                <a:ea typeface="Arial"/>
                <a:cs typeface="Arial"/>
                <a:sym typeface="Arial"/>
              </a:rPr>
              <a:t>et al.</a:t>
            </a:r>
            <a:r>
              <a:rPr lang="fr-FR" sz="1500" b="0" i="0" u="none" strike="noStrike" cap="none">
                <a:solidFill>
                  <a:schemeClr val="dk1"/>
                </a:solidFill>
                <a:latin typeface="Arial"/>
                <a:ea typeface="Arial"/>
                <a:cs typeface="Arial"/>
                <a:sym typeface="Arial"/>
              </a:rPr>
              <a:t> Le Quantified Self en question (s) Un état des lieux des travaux de sciences sociales consacrés à l’automesure des individus. </a:t>
            </a:r>
            <a:r>
              <a:rPr lang="fr-FR" sz="1500" b="0" i="1" u="none" strike="noStrike" cap="none">
                <a:solidFill>
                  <a:schemeClr val="dk1"/>
                </a:solidFill>
                <a:latin typeface="Arial"/>
                <a:ea typeface="Arial"/>
                <a:cs typeface="Arial"/>
                <a:sym typeface="Arial"/>
              </a:rPr>
              <a:t>Réseaux</a:t>
            </a:r>
            <a:r>
              <a:rPr lang="fr-FR" sz="1500" b="0" i="0" u="none" strike="noStrike" cap="none">
                <a:solidFill>
                  <a:schemeClr val="dk1"/>
                </a:solidFill>
                <a:latin typeface="Arial"/>
                <a:ea typeface="Arial"/>
                <a:cs typeface="Arial"/>
                <a:sym typeface="Arial"/>
              </a:rPr>
              <a:t>, 2019, no 4, p. 17-54.</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MARTIN Olivier</a:t>
            </a:r>
            <a:r>
              <a:rPr lang="fr-FR" sz="1500" b="0" i="0" u="none" strike="noStrike" cap="none">
                <a:solidFill>
                  <a:schemeClr val="dk1"/>
                </a:solidFill>
                <a:latin typeface="Arial"/>
                <a:ea typeface="Arial"/>
                <a:cs typeface="Arial"/>
                <a:sym typeface="Arial"/>
              </a:rPr>
              <a:t>, </a:t>
            </a:r>
            <a:r>
              <a:rPr lang="fr-FR" sz="1500" b="0" i="1" u="none" strike="noStrike" cap="none">
                <a:solidFill>
                  <a:schemeClr val="dk1"/>
                </a:solidFill>
                <a:latin typeface="Arial"/>
                <a:ea typeface="Arial"/>
                <a:cs typeface="Arial"/>
                <a:sym typeface="Arial"/>
              </a:rPr>
              <a:t>L'analyse quantitative des données. </a:t>
            </a:r>
            <a:r>
              <a:rPr lang="fr-FR" sz="1500" b="0" i="0" u="none" strike="noStrike" cap="none">
                <a:solidFill>
                  <a:schemeClr val="dk1"/>
                </a:solidFill>
                <a:latin typeface="Arial"/>
                <a:ea typeface="Arial"/>
                <a:cs typeface="Arial"/>
                <a:sym typeface="Arial"/>
              </a:rPr>
              <a:t>Armand Colin, « 128 », 2020. </a:t>
            </a:r>
            <a:endParaRPr/>
          </a:p>
          <a:p>
            <a:pPr marL="0" marR="0" lvl="0" indent="0" algn="l" rtl="0">
              <a:lnSpc>
                <a:spcPct val="90000"/>
              </a:lnSpc>
              <a:spcBef>
                <a:spcPts val="25"/>
              </a:spcBef>
              <a:spcAft>
                <a:spcPts val="0"/>
              </a:spcAft>
              <a:buClr>
                <a:schemeClr val="dk1"/>
              </a:buClr>
              <a:buSzPts val="1100"/>
              <a:buFont typeface="Arial"/>
              <a:buNone/>
            </a:pPr>
            <a:endParaRPr sz="150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ALAN, Sule, ERTAC, Seda, et MUMCU, Ipek</a:t>
            </a:r>
            <a:r>
              <a:rPr lang="fr-FR" sz="1500" b="0" i="0" u="none" strike="noStrike" cap="none">
                <a:solidFill>
                  <a:schemeClr val="dk1"/>
                </a:solidFill>
                <a:latin typeface="Arial"/>
                <a:ea typeface="Arial"/>
                <a:cs typeface="Arial"/>
                <a:sym typeface="Arial"/>
              </a:rPr>
              <a:t>. Gender stereotypes in the classroom and effects on achievement. </a:t>
            </a:r>
            <a:r>
              <a:rPr lang="fr-FR" sz="1500" b="0" i="1" u="none" strike="noStrike" cap="none">
                <a:solidFill>
                  <a:schemeClr val="dk1"/>
                </a:solidFill>
                <a:latin typeface="Arial"/>
                <a:ea typeface="Arial"/>
                <a:cs typeface="Arial"/>
                <a:sym typeface="Arial"/>
              </a:rPr>
              <a:t>Review of Economics and Statistics</a:t>
            </a:r>
            <a:r>
              <a:rPr lang="fr-FR" sz="1500" b="0" i="0" u="none" strike="noStrike" cap="none">
                <a:solidFill>
                  <a:schemeClr val="dk1"/>
                </a:solidFill>
                <a:latin typeface="Arial"/>
                <a:ea typeface="Arial"/>
                <a:cs typeface="Arial"/>
                <a:sym typeface="Arial"/>
              </a:rPr>
              <a:t>, 2018, vol. 100, no 5, p. 876-890.</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STEELE, Claude M. et ARONSON, Joshua</a:t>
            </a:r>
            <a:r>
              <a:rPr lang="fr-FR" sz="1500" b="0" i="0" u="none" strike="noStrike" cap="none">
                <a:solidFill>
                  <a:schemeClr val="dk1"/>
                </a:solidFill>
                <a:latin typeface="Arial"/>
                <a:ea typeface="Arial"/>
                <a:cs typeface="Arial"/>
                <a:sym typeface="Arial"/>
              </a:rPr>
              <a:t>. Stereotype threat and the intellectual test performance of African Americans. </a:t>
            </a:r>
            <a:r>
              <a:rPr lang="fr-FR" sz="1500" b="0" i="1" u="none" strike="noStrike" cap="none">
                <a:solidFill>
                  <a:schemeClr val="dk1"/>
                </a:solidFill>
                <a:latin typeface="Arial"/>
                <a:ea typeface="Arial"/>
                <a:cs typeface="Arial"/>
                <a:sym typeface="Arial"/>
              </a:rPr>
              <a:t>Journal of personality and social psychology</a:t>
            </a:r>
            <a:r>
              <a:rPr lang="fr-FR" sz="1500" b="0" i="0" u="none" strike="noStrike" cap="none">
                <a:solidFill>
                  <a:schemeClr val="dk1"/>
                </a:solidFill>
                <a:latin typeface="Arial"/>
                <a:ea typeface="Arial"/>
                <a:cs typeface="Arial"/>
                <a:sym typeface="Arial"/>
              </a:rPr>
              <a:t>, 1995, vol. 69, no 5, p. 797.</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TITTEL Katharina</a:t>
            </a:r>
            <a:r>
              <a:rPr lang="fr-FR" sz="1500" b="0" i="0" u="none" strike="noStrike" cap="none">
                <a:solidFill>
                  <a:schemeClr val="dk1"/>
                </a:solidFill>
                <a:latin typeface="Arial"/>
                <a:ea typeface="Arial"/>
                <a:cs typeface="Arial"/>
                <a:sym typeface="Arial"/>
              </a:rPr>
              <a:t>, « Ébrécher le plafond de verre sans le percer. Le pouvoir épisodique des internautes ordinaires dans le discours Français sur l’immigration sur Twitter », </a:t>
            </a:r>
            <a:r>
              <a:rPr lang="fr-FR" sz="1500" b="0" i="1" u="none" strike="noStrike" cap="none">
                <a:solidFill>
                  <a:schemeClr val="dk1"/>
                </a:solidFill>
                <a:latin typeface="Arial"/>
                <a:ea typeface="Arial"/>
                <a:cs typeface="Arial"/>
                <a:sym typeface="Arial"/>
              </a:rPr>
              <a:t>Hommes &amp; Migrations</a:t>
            </a:r>
            <a:r>
              <a:rPr lang="fr-FR" sz="1500" b="0" i="0" u="none" strike="noStrike" cap="none">
                <a:solidFill>
                  <a:schemeClr val="dk1"/>
                </a:solidFill>
                <a:latin typeface="Arial"/>
                <a:ea typeface="Arial"/>
                <a:cs typeface="Arial"/>
                <a:sym typeface="Arial"/>
              </a:rPr>
              <a:t>, 2022/2 (n° 1337), p. 21-33. </a:t>
            </a:r>
            <a:endParaRPr sz="1500" b="0" i="0" u="none" strike="noStrike" cap="none">
              <a:solidFill>
                <a:schemeClr val="dk1"/>
              </a:solidFill>
              <a:latin typeface="Arial"/>
              <a:ea typeface="Arial"/>
              <a:cs typeface="Arial"/>
              <a:sym typeface="Arial"/>
            </a:endParaRPr>
          </a:p>
        </p:txBody>
      </p:sp>
      <p:sp>
        <p:nvSpPr>
          <p:cNvPr id="518" name="Google Shape;518;g2abac93716c_0_5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Références bibliographiques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TotalTime>
  <Words>3317</Words>
  <Application>Microsoft Macintosh PowerPoint</Application>
  <PresentationFormat>On-screen Show (4:3)</PresentationFormat>
  <Paragraphs>464</Paragraphs>
  <Slides>49</Slides>
  <Notes>49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49</vt:i4>
      </vt:variant>
    </vt:vector>
  </HeadingPairs>
  <TitlesOfParts>
    <vt:vector size="53" baseType="lpstr">
      <vt:lpstr>Arial</vt:lpstr>
      <vt:lpstr>Calibri</vt:lpstr>
      <vt:lpstr>Georgia</vt:lpstr>
      <vt:lpstr>Thème Office</vt:lpstr>
      <vt:lpstr>Séance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 Template</dc:creator>
  <cp:lastModifiedBy>Alex Sheridan</cp:lastModifiedBy>
  <cp:revision>23</cp:revision>
  <dcterms:created xsi:type="dcterms:W3CDTF">2015-01-09T14:59:06Z</dcterms:created>
  <dcterms:modified xsi:type="dcterms:W3CDTF">2026-01-15T06:07:45Z</dcterms:modified>
</cp:coreProperties>
</file>