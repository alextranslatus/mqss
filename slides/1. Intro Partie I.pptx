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1.xml" ContentType="application/vnd.openxmlformats-officedocument.presentationml.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comment2.xml" ContentType="application/vnd.openxmlformats-officedocument.presentationml.comments+xml"/>
  <Override PartName="/ppt/notesSlides/notesSlide17.xml" ContentType="application/vnd.openxmlformats-officedocument.presentationml.notesSlide+xml"/>
  <Override PartName="/ppt/comments/comment3.xml" ContentType="application/vnd.openxmlformats-officedocument.presentationml.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comment4.xml" ContentType="application/vnd.openxmlformats-officedocument.presentationml.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303" r:id="rId37"/>
    <p:sldId id="307"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4" roundtripDataSignature="AMtx7mh+diUWKDfB17VYnpn5KHKAGBDsc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riane Sessego" initials="" lastIdx="4" clrIdx="0"/>
  <p:cmAuthor id="1" name="Nathan Lévêque"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58"/>
    <p:restoredTop sz="94701"/>
  </p:normalViewPr>
  <p:slideViewPr>
    <p:cSldViewPr snapToGrid="0">
      <p:cViewPr varScale="1">
        <p:scale>
          <a:sx n="110" d="100"/>
          <a:sy n="110" d="100"/>
        </p:scale>
        <p:origin x="1512" y="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5-01-02T11:05:10.309" idx="1">
    <p:pos x="294" y="1052"/>
    <p:text>J'ai ajouté cette précision, pour souligner que la standardisation est avant tout une mise en place d'équivalences.</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a9tIG_E"/>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5-01-02T14:35:23.728" idx="2">
    <p:pos x="63" y="1163"/>
    <p:text>Pour mentionner un exemple</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bKNt_Z8"/>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0" dt="2025-01-02T14:27:10.568" idx="3">
    <p:pos x="294" y="1251"/>
    <p:text>Je sais qu'on en reparle dans l'Intro 2 mais ça me paraissait important d'en parler là. Ce sont des sources classiques et essentielles en démographie et dans de nombreuses études...
Ne vous gênez pas pour changer ou rajouter des choses</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bKNt_Zw"/>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0" dt="2025-01-10T12:15:42.013" idx="4">
    <p:pos x="294" y="1163"/>
    <p:text>Même pendant le confinement?</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bKNt_aA"/>
      </p:ext>
    </p:extLst>
  </p:cm>
  <p:cm authorId="1" dt="2025-01-10T12:15:42.013" idx="1">
    <p:pos x="294" y="1163"/>
    <p:text>cf texte en complément de la diapo</p:text>
    <p:extLst>
      <p:ext uri="{C676402C-5697-4E1C-873F-D02D1690AC5C}">
        <p15:threadingInfo xmlns:p15="http://schemas.microsoft.com/office/powerpoint/2012/main" timeZoneBias="0">
          <p15:parentCm authorId="0" idx="4"/>
        </p15:threadingInfo>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YhRMKyw"/>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aaa886857f_1_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aaa886857f_1_9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g2aaa886857f_1_9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fr-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a95d21eafb_0_8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g2a95d21eafb_0_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a994f7876f_0_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g2a994f7876f_0_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ab55a4ceb1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g2ab55a4ceb1_0_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ab55a4ceb1_0_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3" name="Google Shape;133;g2ab55a4ceb1_0_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ab55a4ceb1_0_7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g2ab55a4ceb1_0_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ab795ca10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g2ab795ca104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abac93716c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g2abac93716c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abac93716c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g2abac93716c_0_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ab55a4ceb1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g2ab55a4ceb1_0_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abac93716c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g2abac93716c_0_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abbb0daa5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g2abbb0daa57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75bd79b03_0_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g2d75bd79b03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a994f7876f_0_8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g2a994f7876f_0_8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abbb0daa57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g2abbb0daa57_0_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abbb0daa57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8" name="Google Shape;238;g2abbb0daa57_0_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d75bd79b03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7" name="Google Shape;247;g2d75bd79b03_0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a994f7876f_0_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g2a994f7876f_0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aaa886857f_1_1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g2aaa886857f_1_1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a994f7876f_0_1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g2a994f7876f_0_1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2a994f7876f_0_1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g2a994f7876f_0_1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2a994f7876f_0_19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2a994f7876f_0_1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248ac6ffd9_0_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 name="Google Shape;301;g3248ac6ffd9_0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2a994f7876f_0_18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sz="1500">
                <a:solidFill>
                  <a:srgbClr val="212427"/>
                </a:solidFill>
                <a:highlight>
                  <a:srgbClr val="FFFFFF"/>
                </a:highlight>
                <a:latin typeface="Georgia"/>
                <a:ea typeface="Georgia"/>
                <a:cs typeface="Georgia"/>
                <a:sym typeface="Georgia"/>
              </a:rPr>
              <a:t>“Enfin, le protocole de l’enquête a dû être ajusté avec la survenue de la pandémie de Covid-19 qui a interrompu la collecte. Conçue pour se dérouler intégralement en face-à-face, l’enquête a été ouverte à la collecte par téléphone : 23 % des entretiens menés après le début du premier confinement (17 mars 2020) ont été réalisés ainsi. S’étalant initialement de juillet 2019 à novembre 2020, la collecte s’est poursuivie jusqu’en janvier 2021. La crise sanitaire a eu des effets non aléatoires sur l’échantillon. Alors que les individus des sous-échantillons de la population générale et des immigré·es n’avaient pas connu la Covid-19 au moment où ils ont été enquêtés (juillet à décembre 2019), près de 60 % des personnes de deuxième génération (enquêtées entre janvier et novembre 2020) et la quasi-totalité de celles de la troisième génération non européenne (mars 2020 - janvier 2021) ont été interrogées après le premier confinement (tableau 2). Les expériences des enquêté·es rapportées dans l’enquête avant et après la crise sanitaire ont pu être affectées par les circonstances. Les analyses devront en tenir compte.”</a:t>
            </a:r>
            <a:endParaRPr/>
          </a:p>
        </p:txBody>
      </p:sp>
      <p:sp>
        <p:nvSpPr>
          <p:cNvPr id="310" name="Google Shape;310;g2a994f7876f_0_1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2a994f7876f_0_1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g2a994f7876f_0_1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2a994f7876f_0_1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8" name="Google Shape;328;g2a994f7876f_0_1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2a994f7876f_0_20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8" name="Google Shape;338;g2a994f7876f_0_2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a994f7876f_0_1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g2a994f7876f_0_1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a994f7876f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g2a994f7876f_0_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2abbb0daa57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g2abbb0daa57_0_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abbb0daa57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6" name="Google Shape;376;g2abbb0daa57_0_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2abbb0daa57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5" name="Google Shape;385;g2abbb0daa57_0_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2abbb0daa57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5" name="Google Shape;395;g2abbb0daa57_0_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32040ae3fd7_0_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g32040ae3fd7_0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F91532A7-FFFC-93F6-2D68-1F2A0CE29AC3}"/>
            </a:ext>
          </a:extLst>
        </p:cNvPr>
        <p:cNvGrpSpPr/>
        <p:nvPr/>
      </p:nvGrpSpPr>
      <p:grpSpPr>
        <a:xfrm>
          <a:off x="0" y="0"/>
          <a:ext cx="0" cy="0"/>
          <a:chOff x="0" y="0"/>
          <a:chExt cx="0" cy="0"/>
        </a:xfrm>
      </p:grpSpPr>
      <p:sp>
        <p:nvSpPr>
          <p:cNvPr id="403" name="Google Shape;403;g32040ae3fd7_0_2:notes">
            <a:extLst>
              <a:ext uri="{FF2B5EF4-FFF2-40B4-BE49-F238E27FC236}">
                <a16:creationId xmlns:a16="http://schemas.microsoft.com/office/drawing/2014/main" id="{028A44AF-1DD6-EB1A-EF1A-779C6C2DDA8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g32040ae3fd7_0_2:notes">
            <a:extLst>
              <a:ext uri="{FF2B5EF4-FFF2-40B4-BE49-F238E27FC236}">
                <a16:creationId xmlns:a16="http://schemas.microsoft.com/office/drawing/2014/main" id="{86864241-2B38-8A72-DC06-51582814621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273540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37F41F6F-11E5-466C-789E-417625B64182}"/>
            </a:ext>
          </a:extLst>
        </p:cNvPr>
        <p:cNvGrpSpPr/>
        <p:nvPr/>
      </p:nvGrpSpPr>
      <p:grpSpPr>
        <a:xfrm>
          <a:off x="0" y="0"/>
          <a:ext cx="0" cy="0"/>
          <a:chOff x="0" y="0"/>
          <a:chExt cx="0" cy="0"/>
        </a:xfrm>
      </p:grpSpPr>
      <p:sp>
        <p:nvSpPr>
          <p:cNvPr id="403" name="Google Shape;403;g32040ae3fd7_0_2:notes">
            <a:extLst>
              <a:ext uri="{FF2B5EF4-FFF2-40B4-BE49-F238E27FC236}">
                <a16:creationId xmlns:a16="http://schemas.microsoft.com/office/drawing/2014/main" id="{DC6F4CD1-38AD-A7E6-80DD-E87B9C88FFC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g32040ae3fd7_0_2:notes">
            <a:extLst>
              <a:ext uri="{FF2B5EF4-FFF2-40B4-BE49-F238E27FC236}">
                <a16:creationId xmlns:a16="http://schemas.microsoft.com/office/drawing/2014/main" id="{3952C95B-DC2F-7F50-176F-71A07DA80CA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702662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2a994f7876f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3" name="Google Shape;413;g2a994f7876f_0_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2ab55a4ceb1_2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2" name="Google Shape;422;g2ab55a4ceb1_2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2a994f7876f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1" name="Google Shape;431;g2a994f7876f_0_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2ab55a4ceb1_2_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0" name="Google Shape;440;g2ab55a4ceb1_2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2a994f7876f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9" name="Google Shape;449;g2a994f7876f_0_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2ab55a4ceb1_2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8" name="Google Shape;458;g2ab55a4ceb1_2_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2ab55a4ceb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7" name="Google Shape;467;g2ab55a4ceb1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2a994f7876f_0_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6" name="Google Shape;476;g2a994f7876f_0_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2ab55a4ceb1_0_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5" name="Google Shape;485;g2ab55a4ceb1_0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ab55a4ceb1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4" name="Google Shape;494;g2ab55a4ceb1_0_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2ae90372f6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3" name="Google Shape;503;g2ae90372f67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2abac93716c_0_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2" name="Google Shape;512;g2abac93716c_0_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5"/>
        <p:cNvGrpSpPr/>
        <p:nvPr/>
      </p:nvGrpSpPr>
      <p:grpSpPr>
        <a:xfrm>
          <a:off x="0" y="0"/>
          <a:ext cx="0" cy="0"/>
          <a:chOff x="0" y="0"/>
          <a:chExt cx="0" cy="0"/>
        </a:xfrm>
      </p:grpSpPr>
      <p:sp>
        <p:nvSpPr>
          <p:cNvPr id="16" name="Google Shape;16;p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33"/>
        <p:cNvGrpSpPr/>
        <p:nvPr/>
      </p:nvGrpSpPr>
      <p:grpSpPr>
        <a:xfrm>
          <a:off x="0" y="0"/>
          <a:ext cx="0" cy="0"/>
          <a:chOff x="0" y="0"/>
          <a:chExt cx="0" cy="0"/>
        </a:xfrm>
      </p:grpSpPr>
      <p:sp>
        <p:nvSpPr>
          <p:cNvPr id="34" name="Google Shape;34;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0"/>
        <p:cNvGrpSpPr/>
        <p:nvPr/>
      </p:nvGrpSpPr>
      <p:grpSpPr>
        <a:xfrm>
          <a:off x="0" y="0"/>
          <a:ext cx="0" cy="0"/>
          <a:chOff x="0" y="0"/>
          <a:chExt cx="0" cy="0"/>
        </a:xfrm>
      </p:grpSpPr>
      <p:sp>
        <p:nvSpPr>
          <p:cNvPr id="41" name="Google Shape;41;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54"/>
        <p:cNvGrpSpPr/>
        <p:nvPr/>
      </p:nvGrpSpPr>
      <p:grpSpPr>
        <a:xfrm>
          <a:off x="0" y="0"/>
          <a:ext cx="0" cy="0"/>
          <a:chOff x="0" y="0"/>
          <a:chExt cx="0" cy="0"/>
        </a:xfrm>
      </p:grpSpPr>
      <p:sp>
        <p:nvSpPr>
          <p:cNvPr id="55" name="Google Shape;55;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1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65"/>
        <p:cNvGrpSpPr/>
        <p:nvPr/>
      </p:nvGrpSpPr>
      <p:grpSpPr>
        <a:xfrm>
          <a:off x="0" y="0"/>
          <a:ext cx="0" cy="0"/>
          <a:chOff x="0" y="0"/>
          <a:chExt cx="0" cy="0"/>
        </a:xfrm>
      </p:grpSpPr>
      <p:sp>
        <p:nvSpPr>
          <p:cNvPr id="66" name="Google Shape;66;p1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6"/>
          <p:cNvSpPr>
            <a:spLocks noGrp="1"/>
          </p:cNvSpPr>
          <p:nvPr>
            <p:ph type="pic" idx="2"/>
          </p:nvPr>
        </p:nvSpPr>
        <p:spPr>
          <a:xfrm>
            <a:off x="1792288" y="612775"/>
            <a:ext cx="5486400" cy="4114800"/>
          </a:xfrm>
          <a:prstGeom prst="rect">
            <a:avLst/>
          </a:prstGeom>
          <a:noFill/>
          <a:ln>
            <a:noFill/>
          </a:ln>
        </p:spPr>
      </p:sp>
      <p:sp>
        <p:nvSpPr>
          <p:cNvPr id="68" name="Google Shape;68;p1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7"/>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8"/>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https://sites.google.com/view/collectifpof/accueil#h.q2lfs3mbrdl5"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hyperlink" Target="https://github.com/alextranslatus/MQSS/" TargetMode="External"/><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hyperlink" Target="https://posit.co/download/rstudio-desktop/" TargetMode="External"/><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hyperlink" Target="mailto:alain.gnanou@sciencespo-saintgermain.fr" TargetMode="External"/><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E5D5A"/>
        </a:solidFill>
        <a:effectLst/>
      </p:bgPr>
    </p:bg>
    <p:spTree>
      <p:nvGrpSpPr>
        <p:cNvPr id="1" name="Shape 88"/>
        <p:cNvGrpSpPr/>
        <p:nvPr/>
      </p:nvGrpSpPr>
      <p:grpSpPr>
        <a:xfrm>
          <a:off x="0" y="0"/>
          <a:ext cx="0" cy="0"/>
          <a:chOff x="0" y="0"/>
          <a:chExt cx="0" cy="0"/>
        </a:xfrm>
      </p:grpSpPr>
      <p:sp>
        <p:nvSpPr>
          <p:cNvPr id="89" name="Google Shape;89;g2aaa886857f_1_9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fr-FR"/>
              <a:t>1</a:t>
            </a:fld>
            <a:endParaRPr/>
          </a:p>
        </p:txBody>
      </p:sp>
      <p:sp>
        <p:nvSpPr>
          <p:cNvPr id="90" name="Google Shape;90;g2aaa886857f_1_91"/>
          <p:cNvSpPr txBox="1">
            <a:spLocks noGrp="1"/>
          </p:cNvSpPr>
          <p:nvPr>
            <p:ph type="ctrTitle"/>
          </p:nvPr>
        </p:nvSpPr>
        <p:spPr>
          <a:xfrm>
            <a:off x="892950" y="1789775"/>
            <a:ext cx="5031600" cy="1143300"/>
          </a:xfrm>
          <a:prstGeom prst="rect">
            <a:avLst/>
          </a:prstGeom>
          <a:noFill/>
          <a:ln>
            <a:noFill/>
          </a:ln>
        </p:spPr>
        <p:txBody>
          <a:bodyPr spcFirstLastPara="1" wrap="square" lIns="0" tIns="45700" rIns="0" bIns="45700" anchor="b" anchorCtr="0">
            <a:noAutofit/>
          </a:bodyPr>
          <a:lstStyle/>
          <a:p>
            <a:pPr marL="0" lvl="0" indent="0" algn="l" rtl="0">
              <a:lnSpc>
                <a:spcPct val="100000"/>
              </a:lnSpc>
              <a:spcBef>
                <a:spcPts val="0"/>
              </a:spcBef>
              <a:spcAft>
                <a:spcPts val="0"/>
              </a:spcAft>
              <a:buClr>
                <a:schemeClr val="lt1"/>
              </a:buClr>
              <a:buSzPts val="4000"/>
              <a:buFont typeface="Arial"/>
              <a:buNone/>
            </a:pPr>
            <a:r>
              <a:rPr lang="fr-FR">
                <a:solidFill>
                  <a:schemeClr val="lt1"/>
                </a:solidFill>
              </a:rPr>
              <a:t>Séance 1</a:t>
            </a:r>
            <a:endParaRPr>
              <a:solidFill>
                <a:schemeClr val="lt1"/>
              </a:solidFill>
            </a:endParaRPr>
          </a:p>
        </p:txBody>
      </p:sp>
      <p:sp>
        <p:nvSpPr>
          <p:cNvPr id="91" name="Google Shape;91;g2aaa886857f_1_91"/>
          <p:cNvSpPr txBox="1"/>
          <p:nvPr/>
        </p:nvSpPr>
        <p:spPr>
          <a:xfrm>
            <a:off x="485776" y="5512050"/>
            <a:ext cx="5595000" cy="246300"/>
          </a:xfrm>
          <a:prstGeom prst="rect">
            <a:avLst/>
          </a:prstGeom>
          <a:noFill/>
          <a:ln>
            <a:noFill/>
          </a:ln>
        </p:spPr>
        <p:txBody>
          <a:bodyPr spcFirstLastPara="1" wrap="square" lIns="0" tIns="0" rIns="91425" bIns="0" anchor="ctr" anchorCtr="0">
            <a:noAutofit/>
          </a:bodyPr>
          <a:lstStyle/>
          <a:p>
            <a:pPr marL="0" marR="0" lvl="0" indent="0" algn="l" rtl="0">
              <a:lnSpc>
                <a:spcPct val="100000"/>
              </a:lnSpc>
              <a:spcBef>
                <a:spcPts val="0"/>
              </a:spcBef>
              <a:spcAft>
                <a:spcPts val="0"/>
              </a:spcAft>
              <a:buClr>
                <a:schemeClr val="dk1"/>
              </a:buClr>
              <a:buSzPts val="1100"/>
              <a:buFont typeface="Arial"/>
              <a:buNone/>
            </a:pPr>
            <a:r>
              <a:rPr lang="fr-FR" sz="2100" b="1" i="0" u="none" strike="noStrike" cap="none" dirty="0">
                <a:solidFill>
                  <a:schemeClr val="lt1"/>
                </a:solidFill>
                <a:latin typeface="Calibri"/>
                <a:ea typeface="Calibri"/>
                <a:cs typeface="Calibri"/>
                <a:sym typeface="Calibri"/>
              </a:rPr>
              <a:t>Campus Saint-Germain-en-Laye - Printemps 2026</a:t>
            </a:r>
            <a:endParaRPr sz="2100" b="1" dirty="0">
              <a:solidFill>
                <a:schemeClr val="lt1"/>
              </a:solidFill>
              <a:latin typeface="Calibri"/>
              <a:ea typeface="Calibri"/>
              <a:cs typeface="Calibri"/>
              <a:sym typeface="Calibri"/>
            </a:endParaRPr>
          </a:p>
        </p:txBody>
      </p:sp>
      <p:sp>
        <p:nvSpPr>
          <p:cNvPr id="92" name="Google Shape;92;g2aaa886857f_1_91"/>
          <p:cNvSpPr txBox="1">
            <a:spLocks noGrp="1"/>
          </p:cNvSpPr>
          <p:nvPr>
            <p:ph type="subTitle" idx="1"/>
          </p:nvPr>
        </p:nvSpPr>
        <p:spPr>
          <a:xfrm>
            <a:off x="892950" y="3111163"/>
            <a:ext cx="7358100" cy="1742700"/>
          </a:xfrm>
          <a:prstGeom prst="rect">
            <a:avLst/>
          </a:prstGeom>
          <a:noFill/>
          <a:ln>
            <a:noFill/>
          </a:ln>
        </p:spPr>
        <p:txBody>
          <a:bodyPr spcFirstLastPara="1" wrap="square" lIns="0" tIns="0" rIns="91425" bIns="0" anchor="ctr" anchorCtr="0">
            <a:noAutofit/>
          </a:bodyPr>
          <a:lstStyle/>
          <a:p>
            <a:pPr marL="0" lvl="0" indent="0" algn="l" rtl="0">
              <a:lnSpc>
                <a:spcPct val="130000"/>
              </a:lnSpc>
              <a:spcBef>
                <a:spcPts val="0"/>
              </a:spcBef>
              <a:spcAft>
                <a:spcPts val="0"/>
              </a:spcAft>
              <a:buClr>
                <a:schemeClr val="dk1"/>
              </a:buClr>
              <a:buSzPts val="3200"/>
              <a:buFont typeface="Arial"/>
              <a:buNone/>
            </a:pPr>
            <a:r>
              <a:rPr lang="fr-FR" sz="2700" dirty="0">
                <a:solidFill>
                  <a:schemeClr val="lt1"/>
                </a:solidFill>
              </a:rPr>
              <a:t>Cours introductif </a:t>
            </a:r>
            <a:endParaRPr sz="2700" dirty="0">
              <a:solidFill>
                <a:schemeClr val="lt1"/>
              </a:solidFill>
            </a:endParaRPr>
          </a:p>
          <a:p>
            <a:pPr marL="0" lvl="0" indent="0" algn="l" rtl="0">
              <a:lnSpc>
                <a:spcPct val="130000"/>
              </a:lnSpc>
              <a:spcBef>
                <a:spcPts val="0"/>
              </a:spcBef>
              <a:spcAft>
                <a:spcPts val="0"/>
              </a:spcAft>
              <a:buClr>
                <a:schemeClr val="dk1"/>
              </a:buClr>
              <a:buSzPts val="3200"/>
              <a:buFont typeface="Arial"/>
              <a:buNone/>
            </a:pPr>
            <a:endParaRPr sz="2700" dirty="0">
              <a:solidFill>
                <a:schemeClr val="lt1"/>
              </a:solidFill>
            </a:endParaRPr>
          </a:p>
          <a:p>
            <a:pPr marL="0" lvl="0" indent="0" algn="l" rtl="0">
              <a:lnSpc>
                <a:spcPct val="130000"/>
              </a:lnSpc>
              <a:spcBef>
                <a:spcPts val="0"/>
              </a:spcBef>
              <a:spcAft>
                <a:spcPts val="0"/>
              </a:spcAft>
              <a:buClr>
                <a:schemeClr val="dk1"/>
              </a:buClr>
              <a:buSzPts val="3200"/>
              <a:buFont typeface="Arial"/>
              <a:buNone/>
            </a:pPr>
            <a:r>
              <a:rPr lang="fr-FR" sz="2700" dirty="0">
                <a:solidFill>
                  <a:schemeClr val="lt1"/>
                </a:solidFill>
              </a:rPr>
              <a:t>Méthodes Quantitatives en Sciences Sociales</a:t>
            </a:r>
            <a:endParaRPr sz="2700" dirty="0">
              <a:solidFill>
                <a:schemeClr val="lt1"/>
              </a:solidFill>
            </a:endParaRPr>
          </a:p>
          <a:p>
            <a:pPr marL="0" lvl="0" indent="0" algn="l" rtl="0">
              <a:lnSpc>
                <a:spcPct val="100000"/>
              </a:lnSpc>
              <a:spcBef>
                <a:spcPts val="0"/>
              </a:spcBef>
              <a:spcAft>
                <a:spcPts val="0"/>
              </a:spcAft>
              <a:buSzPts val="3200"/>
              <a:buNone/>
            </a:pPr>
            <a:endParaRPr dirty="0">
              <a:solidFill>
                <a:schemeClr val="lt1"/>
              </a:solidFill>
            </a:endParaRPr>
          </a:p>
        </p:txBody>
      </p:sp>
      <p:pic>
        <p:nvPicPr>
          <p:cNvPr id="93" name="Google Shape;93;g2aaa886857f_1_91"/>
          <p:cNvPicPr preferRelativeResize="0"/>
          <p:nvPr/>
        </p:nvPicPr>
        <p:blipFill rotWithShape="1">
          <a:blip r:embed="rId3">
            <a:alphaModFix/>
          </a:blip>
          <a:srcRect/>
          <a:stretch/>
        </p:blipFill>
        <p:spPr>
          <a:xfrm>
            <a:off x="5499675" y="468375"/>
            <a:ext cx="3187136" cy="1143300"/>
          </a:xfrm>
          <a:prstGeom prst="rect">
            <a:avLst/>
          </a:prstGeom>
          <a:noFill/>
          <a:ln>
            <a:noFill/>
          </a:ln>
        </p:spPr>
      </p:pic>
      <p:sp>
        <p:nvSpPr>
          <p:cNvPr id="2" name="Google Shape;91;g2aaa886857f_1_91">
            <a:extLst>
              <a:ext uri="{FF2B5EF4-FFF2-40B4-BE49-F238E27FC236}">
                <a16:creationId xmlns:a16="http://schemas.microsoft.com/office/drawing/2014/main" id="{8BEE7AE7-FBB9-28C7-B38F-34908999C808}"/>
              </a:ext>
            </a:extLst>
          </p:cNvPr>
          <p:cNvSpPr txBox="1"/>
          <p:nvPr/>
        </p:nvSpPr>
        <p:spPr>
          <a:xfrm>
            <a:off x="485776" y="5895944"/>
            <a:ext cx="5595000" cy="246300"/>
          </a:xfrm>
          <a:prstGeom prst="rect">
            <a:avLst/>
          </a:prstGeom>
          <a:noFill/>
          <a:ln>
            <a:noFill/>
          </a:ln>
        </p:spPr>
        <p:txBody>
          <a:bodyPr spcFirstLastPara="1" wrap="square" lIns="0" tIns="0" rIns="91425" bIns="0" anchor="ctr" anchorCtr="0">
            <a:noAutofit/>
          </a:bodyPr>
          <a:lstStyle/>
          <a:p>
            <a:pPr marL="0" marR="0" lvl="0" indent="0" algn="l" rtl="0">
              <a:lnSpc>
                <a:spcPct val="100000"/>
              </a:lnSpc>
              <a:spcBef>
                <a:spcPts val="0"/>
              </a:spcBef>
              <a:spcAft>
                <a:spcPts val="0"/>
              </a:spcAft>
              <a:buClr>
                <a:schemeClr val="dk1"/>
              </a:buClr>
              <a:buSzPts val="1100"/>
              <a:buFont typeface="Arial"/>
              <a:buNone/>
            </a:pPr>
            <a:r>
              <a:rPr lang="fr-FR" sz="2100" dirty="0">
                <a:solidFill>
                  <a:schemeClr val="lt1"/>
                </a:solidFill>
                <a:latin typeface="Calibri"/>
                <a:ea typeface="Calibri"/>
                <a:cs typeface="Calibri"/>
                <a:sym typeface="Calibri"/>
              </a:rPr>
              <a:t>Alex Sheridan – </a:t>
            </a:r>
            <a:r>
              <a:rPr lang="fr-FR" sz="2100" dirty="0" err="1">
                <a:solidFill>
                  <a:schemeClr val="lt1"/>
                </a:solidFill>
                <a:latin typeface="Calibri"/>
                <a:ea typeface="Calibri"/>
                <a:cs typeface="Calibri"/>
                <a:sym typeface="Calibri"/>
              </a:rPr>
              <a:t>alex.sheridan@ined.fr</a:t>
            </a:r>
            <a:endParaRPr sz="2100" dirty="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2</a:t>
            </a:fld>
            <a:endParaRPr sz="1000">
              <a:solidFill>
                <a:srgbClr val="808080"/>
              </a:solidFill>
              <a:latin typeface="Arial"/>
              <a:ea typeface="Arial"/>
              <a:cs typeface="Arial"/>
              <a:sym typeface="Arial"/>
            </a:endParaRPr>
          </a:p>
        </p:txBody>
      </p:sp>
      <p:sp>
        <p:nvSpPr>
          <p:cNvPr id="100" name="Google Shape;100;p3"/>
          <p:cNvSpPr/>
          <p:nvPr/>
        </p:nvSpPr>
        <p:spPr>
          <a:xfrm>
            <a:off x="0" y="0"/>
            <a:ext cx="9144000" cy="697957"/>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1" name="Google Shape;101;p3"/>
          <p:cNvSpPr txBox="1"/>
          <p:nvPr/>
        </p:nvSpPr>
        <p:spPr>
          <a:xfrm>
            <a:off x="6904408" y="142212"/>
            <a:ext cx="1975396" cy="428322"/>
          </a:xfrm>
          <a:prstGeom prst="rect">
            <a:avLst/>
          </a:prstGeom>
          <a:noFill/>
          <a:ln>
            <a:noFill/>
          </a:ln>
        </p:spPr>
        <p:txBody>
          <a:bodyPr spcFirstLastPara="1" wrap="square" lIns="91425" tIns="45700" rIns="91425" bIns="45700" anchor="t" anchorCtr="0">
            <a:sp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102" name="Google Shape;102;p3"/>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88900" marR="0" lvl="0" indent="0" algn="l" rtl="0">
              <a:lnSpc>
                <a:spcPct val="90000"/>
              </a:lnSpc>
              <a:spcBef>
                <a:spcPts val="0"/>
              </a:spcBef>
              <a:spcAft>
                <a:spcPts val="0"/>
              </a:spcAft>
              <a:buClr>
                <a:srgbClr val="000000"/>
              </a:buClr>
              <a:buSzPts val="1850"/>
              <a:buFont typeface="Arial"/>
              <a:buNone/>
            </a:pPr>
            <a:r>
              <a:rPr lang="fr-FR" sz="1850" b="0" i="0" u="none" strike="noStrike" cap="none" dirty="0">
                <a:solidFill>
                  <a:srgbClr val="2E5D5A"/>
                </a:solidFill>
                <a:latin typeface="Arial"/>
                <a:ea typeface="Arial"/>
                <a:cs typeface="Arial"/>
                <a:sym typeface="Arial"/>
              </a:rPr>
              <a:t>1. Les méthodes quantitatives en sciences sociales : qu’est-ce que c’est ?</a:t>
            </a:r>
            <a:endParaRPr sz="1850" b="0" i="0" u="none" strike="noStrike" cap="none" dirty="0">
              <a:solidFill>
                <a:srgbClr val="2E5D5A"/>
              </a:solidFill>
              <a:latin typeface="Arial"/>
              <a:ea typeface="Arial"/>
              <a:cs typeface="Arial"/>
              <a:sym typeface="Arial"/>
            </a:endParaRPr>
          </a:p>
          <a:p>
            <a:pPr marL="88900" marR="0" lvl="0" indent="0" algn="l" rtl="0">
              <a:lnSpc>
                <a:spcPct val="90000"/>
              </a:lnSpc>
              <a:spcBef>
                <a:spcPts val="0"/>
              </a:spcBef>
              <a:spcAft>
                <a:spcPts val="0"/>
              </a:spcAft>
              <a:buClr>
                <a:srgbClr val="000000"/>
              </a:buClr>
              <a:buSzPts val="1850"/>
              <a:buFont typeface="Arial"/>
              <a:buNone/>
            </a:pPr>
            <a:endParaRPr sz="1850" b="0" i="0" u="none" strike="noStrike" cap="none" dirty="0">
              <a:solidFill>
                <a:srgbClr val="2E5D5A"/>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1665"/>
              <a:buFont typeface="Arial"/>
              <a:buNone/>
            </a:pPr>
            <a:r>
              <a:rPr lang="fr-FR" sz="1665" b="0" i="0" u="none" strike="noStrike" cap="none" dirty="0">
                <a:solidFill>
                  <a:schemeClr val="dk1"/>
                </a:solidFill>
                <a:latin typeface="Arial"/>
                <a:ea typeface="Arial"/>
                <a:cs typeface="Arial"/>
                <a:sym typeface="Arial"/>
              </a:rPr>
              <a:t>1.1. Définitions et principes des méthodes quantitatives en sciences sociales</a:t>
            </a:r>
            <a:endParaRPr sz="1665" b="0" i="0" u="none" strike="noStrike" cap="none" dirty="0">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1665"/>
              <a:buFont typeface="Arial"/>
              <a:buNone/>
            </a:pPr>
            <a:r>
              <a:rPr lang="fr-FR" sz="1665" b="0" i="0" u="none" strike="noStrike" cap="none" dirty="0">
                <a:solidFill>
                  <a:schemeClr val="dk1"/>
                </a:solidFill>
                <a:latin typeface="Arial"/>
                <a:ea typeface="Arial"/>
                <a:cs typeface="Arial"/>
                <a:sym typeface="Arial"/>
              </a:rPr>
              <a:t>1.2. L’élaboration d’une enquête de la statistique publique : illustration avec l’exemple de l’enquête Trajectoires et Origines </a:t>
            </a:r>
            <a:endParaRPr sz="1665" b="0" i="0" u="none" strike="noStrike" cap="none" dirty="0">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850"/>
              <a:buFont typeface="Arial"/>
              <a:buNone/>
            </a:pPr>
            <a:endParaRPr sz="1850" b="0" i="0" u="none" strike="noStrike" cap="none" dirty="0">
              <a:solidFill>
                <a:srgbClr val="E6142D"/>
              </a:solidFill>
              <a:latin typeface="Arial"/>
              <a:ea typeface="Arial"/>
              <a:cs typeface="Arial"/>
              <a:sym typeface="Arial"/>
            </a:endParaRPr>
          </a:p>
          <a:p>
            <a:pPr marL="88900" marR="0" lvl="0" indent="0" algn="l" rtl="0">
              <a:lnSpc>
                <a:spcPct val="90000"/>
              </a:lnSpc>
              <a:spcBef>
                <a:spcPts val="0"/>
              </a:spcBef>
              <a:spcAft>
                <a:spcPts val="0"/>
              </a:spcAft>
              <a:buClr>
                <a:srgbClr val="000000"/>
              </a:buClr>
              <a:buSzPts val="1850"/>
              <a:buFont typeface="Arial"/>
              <a:buNone/>
            </a:pPr>
            <a:r>
              <a:rPr lang="fr-FR" sz="1850" b="0" i="0" u="none" strike="noStrike" cap="none" dirty="0">
                <a:solidFill>
                  <a:srgbClr val="2E5D5A"/>
                </a:solidFill>
                <a:latin typeface="Arial"/>
                <a:ea typeface="Arial"/>
                <a:cs typeface="Arial"/>
                <a:sym typeface="Arial"/>
              </a:rPr>
              <a:t>2. Objectifs et programme du cours</a:t>
            </a:r>
            <a:endParaRPr sz="1850" b="0" i="0" u="none" strike="noStrike" cap="none" dirty="0">
              <a:solidFill>
                <a:srgbClr val="2E5D5A"/>
              </a:solidFill>
              <a:latin typeface="Arial"/>
              <a:ea typeface="Arial"/>
              <a:cs typeface="Arial"/>
              <a:sym typeface="Arial"/>
            </a:endParaRPr>
          </a:p>
          <a:p>
            <a:pPr marL="88900" marR="0" lvl="0" indent="0" algn="l" rtl="0">
              <a:lnSpc>
                <a:spcPct val="90000"/>
              </a:lnSpc>
              <a:spcBef>
                <a:spcPts val="0"/>
              </a:spcBef>
              <a:spcAft>
                <a:spcPts val="0"/>
              </a:spcAft>
              <a:buClr>
                <a:srgbClr val="000000"/>
              </a:buClr>
              <a:buSzPts val="1850"/>
              <a:buFont typeface="Arial"/>
              <a:buNone/>
            </a:pPr>
            <a:endParaRPr sz="1850" b="0" i="0" u="none" strike="noStrike" cap="none" dirty="0">
              <a:solidFill>
                <a:srgbClr val="2E5D5A"/>
              </a:solidFill>
              <a:latin typeface="Arial"/>
              <a:ea typeface="Arial"/>
              <a:cs typeface="Arial"/>
              <a:sym typeface="Arial"/>
            </a:endParaRPr>
          </a:p>
          <a:p>
            <a:pPr marL="457200" lvl="0">
              <a:lnSpc>
                <a:spcPct val="90000"/>
              </a:lnSpc>
              <a:spcBef>
                <a:spcPts val="25"/>
              </a:spcBef>
            </a:pPr>
            <a:r>
              <a:rPr lang="fr-FR" sz="1665" b="0" i="0" u="none" strike="noStrike" cap="none" dirty="0">
                <a:solidFill>
                  <a:schemeClr val="dk1"/>
                </a:solidFill>
                <a:latin typeface="Arial"/>
                <a:ea typeface="Arial"/>
                <a:cs typeface="Arial"/>
                <a:sym typeface="Arial"/>
              </a:rPr>
              <a:t>2.1. Apprentissages théoriques et pratiques sur R avec l’enquête </a:t>
            </a:r>
            <a:r>
              <a:rPr lang="fr-FR" sz="1800" dirty="0">
                <a:solidFill>
                  <a:schemeClr val="dk1"/>
                </a:solidFill>
              </a:rPr>
              <a:t>Engagements, politisation et réseaux sociaux</a:t>
            </a:r>
            <a:endParaRPr sz="1800" b="0" i="0" u="none" strike="noStrike" cap="none" dirty="0">
              <a:solidFill>
                <a:schemeClr val="dk1"/>
              </a:solidFill>
              <a:latin typeface="Arial"/>
              <a:ea typeface="Arial"/>
              <a:cs typeface="Arial"/>
              <a:sym typeface="Arial"/>
            </a:endParaRPr>
          </a:p>
          <a:p>
            <a:pPr marL="0" marR="0" lvl="0" indent="457200" algn="l" rtl="0">
              <a:lnSpc>
                <a:spcPct val="90000"/>
              </a:lnSpc>
              <a:spcBef>
                <a:spcPts val="25"/>
              </a:spcBef>
              <a:spcAft>
                <a:spcPts val="0"/>
              </a:spcAft>
              <a:buClr>
                <a:srgbClr val="000000"/>
              </a:buClr>
              <a:buSzPts val="1665"/>
              <a:buFont typeface="Arial"/>
              <a:buNone/>
            </a:pPr>
            <a:r>
              <a:rPr lang="fr-FR" sz="1665" b="0" i="0" u="none" strike="noStrike" cap="none" dirty="0">
                <a:solidFill>
                  <a:schemeClr val="dk1"/>
                </a:solidFill>
                <a:latin typeface="Arial"/>
                <a:ea typeface="Arial"/>
                <a:cs typeface="Arial"/>
                <a:sym typeface="Arial"/>
              </a:rPr>
              <a:t>2.2. Planning du semestre</a:t>
            </a:r>
            <a:r>
              <a:rPr lang="fr-FR" sz="1800" b="0" i="0" u="none" strike="noStrike" cap="none" dirty="0">
                <a:solidFill>
                  <a:schemeClr val="dk1"/>
                </a:solidFill>
                <a:latin typeface="Arial"/>
                <a:ea typeface="Arial"/>
                <a:cs typeface="Arial"/>
                <a:sym typeface="Arial"/>
              </a:rPr>
              <a:t> : </a:t>
            </a:r>
            <a:r>
              <a:rPr lang="fr-FR" sz="1670" b="0" i="0" u="none" strike="noStrike" cap="none" dirty="0">
                <a:solidFill>
                  <a:schemeClr val="dk1"/>
                </a:solidFill>
                <a:latin typeface="Arial"/>
                <a:ea typeface="Arial"/>
                <a:cs typeface="Arial"/>
                <a:sym typeface="Arial"/>
              </a:rPr>
              <a:t>contenu des cours et évaluations</a:t>
            </a:r>
            <a:endParaRPr sz="1670" b="0" i="0" u="none" strike="noStrike" cap="none" dirty="0">
              <a:solidFill>
                <a:srgbClr val="E6142D"/>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850"/>
              <a:buFont typeface="Arial"/>
              <a:buNone/>
            </a:pPr>
            <a:endParaRPr sz="1850" b="0" i="0" u="none" strike="noStrike" cap="none" dirty="0">
              <a:solidFill>
                <a:srgbClr val="E6142D"/>
              </a:solidFill>
              <a:latin typeface="Arial"/>
              <a:ea typeface="Arial"/>
              <a:cs typeface="Arial"/>
              <a:sym typeface="Arial"/>
            </a:endParaRPr>
          </a:p>
          <a:p>
            <a:pPr marL="88900" marR="0" lvl="0" indent="0" algn="l" rtl="0">
              <a:lnSpc>
                <a:spcPct val="90000"/>
              </a:lnSpc>
              <a:spcBef>
                <a:spcPts val="0"/>
              </a:spcBef>
              <a:spcAft>
                <a:spcPts val="0"/>
              </a:spcAft>
              <a:buClr>
                <a:srgbClr val="000000"/>
              </a:buClr>
              <a:buSzPts val="1850"/>
              <a:buFont typeface="Arial"/>
              <a:buNone/>
            </a:pPr>
            <a:r>
              <a:rPr lang="fr-FR" sz="1850" b="0" i="0" u="none" strike="noStrike" cap="none" dirty="0">
                <a:solidFill>
                  <a:srgbClr val="2E5D5A"/>
                </a:solidFill>
                <a:latin typeface="Arial"/>
                <a:ea typeface="Arial"/>
                <a:cs typeface="Arial"/>
                <a:sym typeface="Arial"/>
              </a:rPr>
              <a:t>3. Modalités d’évaluation</a:t>
            </a:r>
            <a:endParaRPr sz="1850" b="0" i="0" u="none" strike="noStrike" cap="none" dirty="0">
              <a:solidFill>
                <a:srgbClr val="2E5D5A"/>
              </a:solidFill>
              <a:latin typeface="Arial"/>
              <a:ea typeface="Arial"/>
              <a:cs typeface="Arial"/>
              <a:sym typeface="Arial"/>
            </a:endParaRPr>
          </a:p>
          <a:p>
            <a:pPr marL="88900" marR="0" lvl="0" indent="0" algn="l" rtl="0">
              <a:lnSpc>
                <a:spcPct val="90000"/>
              </a:lnSpc>
              <a:spcBef>
                <a:spcPts val="0"/>
              </a:spcBef>
              <a:spcAft>
                <a:spcPts val="0"/>
              </a:spcAft>
              <a:buClr>
                <a:srgbClr val="000000"/>
              </a:buClr>
              <a:buSzPts val="1850"/>
              <a:buFont typeface="Arial"/>
              <a:buNone/>
            </a:pPr>
            <a:endParaRPr sz="1850" b="0" i="0" u="none" strike="noStrike" cap="none" dirty="0">
              <a:solidFill>
                <a:srgbClr val="2E5D5A"/>
              </a:solidFill>
              <a:latin typeface="Arial"/>
              <a:ea typeface="Arial"/>
              <a:cs typeface="Arial"/>
              <a:sym typeface="Arial"/>
            </a:endParaRPr>
          </a:p>
          <a:p>
            <a:pPr marL="0" marR="0" lvl="0" indent="457200" algn="l" rtl="0">
              <a:lnSpc>
                <a:spcPct val="90000"/>
              </a:lnSpc>
              <a:spcBef>
                <a:spcPts val="25"/>
              </a:spcBef>
              <a:spcAft>
                <a:spcPts val="0"/>
              </a:spcAft>
              <a:buClr>
                <a:srgbClr val="000000"/>
              </a:buClr>
              <a:buSzPts val="1665"/>
              <a:buFont typeface="Arial"/>
              <a:buNone/>
            </a:pPr>
            <a:r>
              <a:rPr lang="fr-FR" sz="1665" b="0" i="0" u="none" strike="noStrike" cap="none" dirty="0">
                <a:solidFill>
                  <a:schemeClr val="dk1"/>
                </a:solidFill>
                <a:latin typeface="Arial"/>
                <a:ea typeface="Arial"/>
                <a:cs typeface="Arial"/>
                <a:sym typeface="Arial"/>
              </a:rPr>
              <a:t>3.1. Devoirs sur table</a:t>
            </a:r>
            <a:endParaRPr sz="1800" b="0" i="0" u="none" strike="noStrike" cap="none" dirty="0">
              <a:solidFill>
                <a:schemeClr val="dk1"/>
              </a:solidFill>
              <a:latin typeface="Arial"/>
              <a:ea typeface="Arial"/>
              <a:cs typeface="Arial"/>
              <a:sym typeface="Arial"/>
            </a:endParaRPr>
          </a:p>
          <a:p>
            <a:pPr marL="0" marR="0" lvl="0" indent="457200" algn="l" rtl="0">
              <a:lnSpc>
                <a:spcPct val="90000"/>
              </a:lnSpc>
              <a:spcBef>
                <a:spcPts val="25"/>
              </a:spcBef>
              <a:spcAft>
                <a:spcPts val="0"/>
              </a:spcAft>
              <a:buClr>
                <a:srgbClr val="000000"/>
              </a:buClr>
              <a:buSzPts val="1665"/>
              <a:buFont typeface="Arial"/>
              <a:buNone/>
            </a:pPr>
            <a:r>
              <a:rPr lang="fr-FR" sz="1665" b="0" i="0" u="none" strike="noStrike" cap="none" dirty="0">
                <a:solidFill>
                  <a:schemeClr val="dk1"/>
                </a:solidFill>
                <a:latin typeface="Arial"/>
                <a:ea typeface="Arial"/>
                <a:cs typeface="Arial"/>
                <a:sym typeface="Arial"/>
              </a:rPr>
              <a:t>3.2. Compte rendu collectif</a:t>
            </a:r>
            <a:endParaRPr sz="1800" b="0" i="0" u="none" strike="noStrike" cap="none" dirty="0">
              <a:solidFill>
                <a:schemeClr val="dk1"/>
              </a:solidFill>
              <a:latin typeface="Arial"/>
              <a:ea typeface="Arial"/>
              <a:cs typeface="Arial"/>
              <a:sym typeface="Arial"/>
            </a:endParaRPr>
          </a:p>
          <a:p>
            <a:pPr marL="558800" marR="0" lvl="1" indent="0" algn="l" rtl="0">
              <a:lnSpc>
                <a:spcPct val="90000"/>
              </a:lnSpc>
              <a:spcBef>
                <a:spcPts val="25"/>
              </a:spcBef>
              <a:spcAft>
                <a:spcPts val="0"/>
              </a:spcAft>
              <a:buClr>
                <a:schemeClr val="dk1"/>
              </a:buClr>
              <a:buSzPts val="1800"/>
              <a:buFont typeface="Arial"/>
              <a:buNone/>
            </a:pPr>
            <a:endParaRPr sz="1665" b="0" i="0" u="none" strike="noStrike" cap="none" dirty="0">
              <a:solidFill>
                <a:schemeClr val="dk1"/>
              </a:solidFill>
              <a:latin typeface="Arial"/>
              <a:ea typeface="Arial"/>
              <a:cs typeface="Arial"/>
              <a:sym typeface="Arial"/>
            </a:endParaRPr>
          </a:p>
          <a:p>
            <a:pPr marL="457200" marR="0" lvl="0" indent="0" algn="l" rtl="0">
              <a:lnSpc>
                <a:spcPct val="90000"/>
              </a:lnSpc>
              <a:spcBef>
                <a:spcPts val="0"/>
              </a:spcBef>
              <a:spcAft>
                <a:spcPts val="0"/>
              </a:spcAft>
              <a:buClr>
                <a:srgbClr val="000000"/>
              </a:buClr>
              <a:buSzPts val="3200"/>
              <a:buFont typeface="Arial"/>
              <a:buNone/>
            </a:pPr>
            <a:endParaRPr sz="3200" b="0" i="0" u="none" strike="noStrike" cap="none" dirty="0">
              <a:solidFill>
                <a:schemeClr val="dk1"/>
              </a:solidFill>
              <a:latin typeface="Calibri"/>
              <a:ea typeface="Calibri"/>
              <a:cs typeface="Calibri"/>
              <a:sym typeface="Calibri"/>
            </a:endParaRPr>
          </a:p>
        </p:txBody>
      </p:sp>
      <p:sp>
        <p:nvSpPr>
          <p:cNvPr id="103" name="Google Shape;103;p3"/>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fr-FR" sz="3200" b="1" i="0" u="none" strike="noStrike" cap="none">
                <a:solidFill>
                  <a:srgbClr val="2E5D5A"/>
                </a:solidFill>
                <a:latin typeface="Calibri"/>
                <a:ea typeface="Calibri"/>
                <a:cs typeface="Calibri"/>
                <a:sym typeface="Calibri"/>
              </a:rPr>
              <a:t>Plan du cours</a:t>
            </a: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2a95d21eafb_0_8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3</a:t>
            </a:fld>
            <a:endParaRPr sz="1000">
              <a:solidFill>
                <a:srgbClr val="808080"/>
              </a:solidFill>
              <a:latin typeface="Arial"/>
              <a:ea typeface="Arial"/>
              <a:cs typeface="Arial"/>
              <a:sym typeface="Arial"/>
            </a:endParaRPr>
          </a:p>
        </p:txBody>
      </p:sp>
      <p:sp>
        <p:nvSpPr>
          <p:cNvPr id="109" name="Google Shape;109;g2a95d21eafb_0_84"/>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0" name="Google Shape;110;g2a95d21eafb_0_84"/>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111" name="Google Shape;111;g2a95d21eafb_0_84"/>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0" algn="l" rtl="0">
              <a:lnSpc>
                <a:spcPct val="90000"/>
              </a:lnSpc>
              <a:spcBef>
                <a:spcPts val="25"/>
              </a:spcBef>
              <a:spcAft>
                <a:spcPts val="0"/>
              </a:spcAft>
              <a:buClr>
                <a:srgbClr val="000000"/>
              </a:buClr>
              <a:buSzPts val="2565"/>
              <a:buFont typeface="Arial"/>
              <a:buNone/>
            </a:pPr>
            <a:endParaRPr sz="2565" b="0" i="0" u="none" strike="noStrike" cap="none">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65"/>
              <a:buFont typeface="Arial"/>
              <a:buNone/>
            </a:pPr>
            <a:endParaRPr sz="2565" b="0" i="0" u="none" strike="noStrike" cap="none">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65"/>
              <a:buFont typeface="Arial"/>
              <a:buNone/>
            </a:pPr>
            <a:r>
              <a:rPr lang="fr-FR" sz="2565" b="0" i="0" u="none" strike="noStrike" cap="none">
                <a:solidFill>
                  <a:schemeClr val="dk1"/>
                </a:solidFill>
                <a:latin typeface="Arial"/>
                <a:ea typeface="Arial"/>
                <a:cs typeface="Arial"/>
                <a:sym typeface="Arial"/>
              </a:rPr>
              <a:t>1.1. Définitions et principes des méthodes quantitatives en sciences sociales</a:t>
            </a:r>
            <a:endParaRPr sz="2565" b="0" i="0" u="none" strike="noStrike" cap="none">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65"/>
              <a:buFont typeface="Arial"/>
              <a:buNone/>
            </a:pPr>
            <a:r>
              <a:rPr lang="fr-FR" sz="2565" b="0" i="0" u="none" strike="noStrike" cap="none">
                <a:solidFill>
                  <a:srgbClr val="CCCCCC"/>
                </a:solidFill>
                <a:latin typeface="Arial"/>
                <a:ea typeface="Arial"/>
                <a:cs typeface="Arial"/>
                <a:sym typeface="Arial"/>
              </a:rPr>
              <a:t>1.2. L’élaboration d’une enquête de la statistique publique : illustration avec l’exemple de l’enquête Trajectoires et Origines</a:t>
            </a:r>
            <a:endParaRPr sz="4100" b="0" i="0" u="none" strike="noStrike" cap="none">
              <a:solidFill>
                <a:srgbClr val="CCCCCC"/>
              </a:solidFill>
              <a:latin typeface="Calibri"/>
              <a:ea typeface="Calibri"/>
              <a:cs typeface="Calibri"/>
              <a:sym typeface="Calibri"/>
            </a:endParaRPr>
          </a:p>
        </p:txBody>
      </p:sp>
      <p:sp>
        <p:nvSpPr>
          <p:cNvPr id="112" name="Google Shape;112;g2a95d21eafb_0_84"/>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457200" marR="0" lvl="0" indent="-431800" algn="l" rtl="0">
              <a:lnSpc>
                <a:spcPct val="100000"/>
              </a:lnSpc>
              <a:spcBef>
                <a:spcPts val="0"/>
              </a:spcBef>
              <a:spcAft>
                <a:spcPts val="0"/>
              </a:spcAft>
              <a:buClr>
                <a:srgbClr val="2E5D5A"/>
              </a:buClr>
              <a:buSzPts val="3200"/>
              <a:buFont typeface="Calibri"/>
              <a:buAutoNum type="arabicPeriod"/>
            </a:pPr>
            <a:r>
              <a:rPr lang="fr-FR" sz="3200" b="1" i="0" u="none" strike="noStrike" cap="none">
                <a:solidFill>
                  <a:srgbClr val="2E5D5A"/>
                </a:solidFill>
                <a:latin typeface="Calibri"/>
                <a:ea typeface="Calibri"/>
                <a:cs typeface="Calibri"/>
                <a:sym typeface="Calibri"/>
              </a:rPr>
              <a:t>Les méthodes quantitatives en sciences sociales : qu’est-ce que c’est ?</a:t>
            </a: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2a994f7876f_0_8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4</a:t>
            </a:fld>
            <a:endParaRPr sz="1000">
              <a:solidFill>
                <a:srgbClr val="808080"/>
              </a:solidFill>
              <a:latin typeface="Arial"/>
              <a:ea typeface="Arial"/>
              <a:cs typeface="Arial"/>
              <a:sym typeface="Arial"/>
            </a:endParaRPr>
          </a:p>
        </p:txBody>
      </p:sp>
      <p:sp>
        <p:nvSpPr>
          <p:cNvPr id="118" name="Google Shape;118;g2a994f7876f_0_80"/>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342900" algn="l" rtl="0">
              <a:lnSpc>
                <a:spcPct val="100000"/>
              </a:lnSpc>
              <a:spcBef>
                <a:spcPts val="0"/>
              </a:spcBef>
              <a:spcAft>
                <a:spcPts val="0"/>
              </a:spcAft>
              <a:buClr>
                <a:schemeClr val="lt1"/>
              </a:buClr>
              <a:buSzPts val="1800"/>
              <a:buFont typeface="Calibri"/>
              <a:buAutoNum type="arabicPeriod"/>
            </a:pPr>
            <a:r>
              <a:rPr lang="fr-FR" sz="1800" b="0" i="0" u="none" strike="noStrike" cap="none">
                <a:solidFill>
                  <a:schemeClr val="lt1"/>
                </a:solidFill>
                <a:latin typeface="Calibri"/>
                <a:ea typeface="Calibri"/>
                <a:cs typeface="Calibri"/>
                <a:sym typeface="Calibri"/>
              </a:rPr>
              <a:t>Les méthodes quantitatives en sciences sociales : qu’est-ce que c’est ?</a:t>
            </a:r>
            <a:endParaRPr sz="1800" b="0" i="0" u="none" strike="noStrike" cap="none">
              <a:solidFill>
                <a:schemeClr val="lt1"/>
              </a:solidFill>
              <a:latin typeface="Calibri"/>
              <a:ea typeface="Calibri"/>
              <a:cs typeface="Calibri"/>
              <a:sym typeface="Calibri"/>
            </a:endParaRPr>
          </a:p>
        </p:txBody>
      </p:sp>
      <p:sp>
        <p:nvSpPr>
          <p:cNvPr id="119" name="Google Shape;119;g2a994f7876f_0_80"/>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120" name="Google Shape;120;g2a994f7876f_0_80"/>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3000"/>
              <a:buFont typeface="Arial"/>
              <a:buNone/>
            </a:pPr>
            <a:r>
              <a:rPr lang="fr-FR" sz="3000" b="0" i="0" u="none" strike="noStrike" cap="none">
                <a:solidFill>
                  <a:schemeClr val="dk1"/>
                </a:solidFill>
                <a:latin typeface="Calibri"/>
                <a:ea typeface="Calibri"/>
                <a:cs typeface="Calibri"/>
                <a:sym typeface="Calibri"/>
              </a:rPr>
              <a:t>On distingue généralement les </a:t>
            </a:r>
            <a:r>
              <a:rPr lang="fr-FR" sz="3000" b="1" i="0" u="none" strike="noStrike" cap="none">
                <a:solidFill>
                  <a:schemeClr val="dk1"/>
                </a:solidFill>
                <a:latin typeface="Calibri"/>
                <a:ea typeface="Calibri"/>
                <a:cs typeface="Calibri"/>
                <a:sym typeface="Calibri"/>
              </a:rPr>
              <a:t>méthodes quantitatives </a:t>
            </a:r>
            <a:r>
              <a:rPr lang="fr-FR" sz="3000" b="0" i="0" u="none" strike="noStrike" cap="none">
                <a:solidFill>
                  <a:schemeClr val="dk1"/>
                </a:solidFill>
                <a:latin typeface="Calibri"/>
                <a:ea typeface="Calibri"/>
                <a:cs typeface="Calibri"/>
                <a:sym typeface="Calibri"/>
              </a:rPr>
              <a:t>des </a:t>
            </a:r>
            <a:r>
              <a:rPr lang="fr-FR" sz="3000" b="1" i="0" u="none" strike="noStrike" cap="none">
                <a:solidFill>
                  <a:schemeClr val="dk1"/>
                </a:solidFill>
                <a:latin typeface="Calibri"/>
                <a:ea typeface="Calibri"/>
                <a:cs typeface="Calibri"/>
                <a:sym typeface="Calibri"/>
              </a:rPr>
              <a:t>méthodes qualitatives</a:t>
            </a:r>
            <a:endParaRPr sz="3000" b="1"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3000"/>
              <a:buFont typeface="Arial"/>
              <a:buNone/>
            </a:pPr>
            <a:endParaRPr sz="3000" b="1"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r>
              <a:rPr lang="fr-FR" sz="2900" b="0" i="0" u="none" strike="noStrike" cap="none">
                <a:solidFill>
                  <a:srgbClr val="38761D"/>
                </a:solidFill>
                <a:latin typeface="Calibri"/>
                <a:ea typeface="Calibri"/>
                <a:cs typeface="Calibri"/>
                <a:sym typeface="Calibri"/>
              </a:rPr>
              <a:t>Quelles sont, d’après vous, les différences entre méthodes qualitatives et méthodes quantitatives en sciences sociales ?</a:t>
            </a:r>
            <a:endParaRPr sz="2900" b="0" i="0" u="none" strike="noStrike" cap="none">
              <a:solidFill>
                <a:srgbClr val="38761D"/>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p:txBody>
      </p:sp>
      <p:sp>
        <p:nvSpPr>
          <p:cNvPr id="121" name="Google Shape;121;g2a994f7876f_0_80"/>
          <p:cNvSpPr txBox="1"/>
          <p:nvPr/>
        </p:nvSpPr>
        <p:spPr>
          <a:xfrm>
            <a:off x="264092" y="757188"/>
            <a:ext cx="8879908" cy="95913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fr-FR" sz="3000" b="1" i="0" u="none" strike="noStrike" cap="none">
                <a:solidFill>
                  <a:schemeClr val="dk1"/>
                </a:solidFill>
                <a:latin typeface="Calibri"/>
                <a:ea typeface="Calibri"/>
                <a:cs typeface="Calibri"/>
                <a:sym typeface="Calibri"/>
              </a:rPr>
              <a:t>1.1.1. Les MQSS, </a:t>
            </a:r>
            <a:r>
              <a:rPr lang="fr-FR" sz="3000" b="1" i="1" u="none" strike="noStrike" cap="none">
                <a:solidFill>
                  <a:schemeClr val="dk1"/>
                </a:solidFill>
                <a:latin typeface="Calibri"/>
                <a:ea typeface="Calibri"/>
                <a:cs typeface="Calibri"/>
                <a:sym typeface="Calibri"/>
              </a:rPr>
              <a:t>un type </a:t>
            </a:r>
            <a:r>
              <a:rPr lang="fr-FR" sz="3000" b="1" i="0" u="none" strike="noStrike" cap="none">
                <a:solidFill>
                  <a:schemeClr val="dk1"/>
                </a:solidFill>
                <a:latin typeface="Calibri"/>
                <a:ea typeface="Calibri"/>
                <a:cs typeface="Calibri"/>
                <a:sym typeface="Calibri"/>
              </a:rPr>
              <a:t>de méthode en sciences sociales</a:t>
            </a:r>
            <a:endParaRPr sz="3000" b="1"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2ab55a4ceb1_0_6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5</a:t>
            </a:fld>
            <a:endParaRPr sz="1000">
              <a:solidFill>
                <a:srgbClr val="808080"/>
              </a:solidFill>
              <a:latin typeface="Arial"/>
              <a:ea typeface="Arial"/>
              <a:cs typeface="Arial"/>
              <a:sym typeface="Arial"/>
            </a:endParaRPr>
          </a:p>
        </p:txBody>
      </p:sp>
      <p:sp>
        <p:nvSpPr>
          <p:cNvPr id="127" name="Google Shape;127;g2ab55a4ceb1_0_68"/>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342900" algn="l" rtl="0">
              <a:lnSpc>
                <a:spcPct val="100000"/>
              </a:lnSpc>
              <a:spcBef>
                <a:spcPts val="0"/>
              </a:spcBef>
              <a:spcAft>
                <a:spcPts val="0"/>
              </a:spcAft>
              <a:buClr>
                <a:schemeClr val="lt1"/>
              </a:buClr>
              <a:buSzPts val="1800"/>
              <a:buFont typeface="Calibri"/>
              <a:buAutoNum type="arabicPeriod"/>
            </a:pPr>
            <a:r>
              <a:rPr lang="fr-FR" sz="1800" b="0" i="0" u="none" strike="noStrike" cap="none">
                <a:solidFill>
                  <a:schemeClr val="lt1"/>
                </a:solidFill>
                <a:latin typeface="Calibri"/>
                <a:ea typeface="Calibri"/>
                <a:cs typeface="Calibri"/>
                <a:sym typeface="Calibri"/>
              </a:rPr>
              <a:t>Les méthodes quantitatives en sciences sociales : qu’est-ce que c’est ?</a:t>
            </a:r>
            <a:endParaRPr sz="1800" b="0" i="0" u="none" strike="noStrike" cap="none">
              <a:solidFill>
                <a:schemeClr val="lt1"/>
              </a:solidFill>
              <a:latin typeface="Calibri"/>
              <a:ea typeface="Calibri"/>
              <a:cs typeface="Calibri"/>
              <a:sym typeface="Calibri"/>
            </a:endParaRPr>
          </a:p>
        </p:txBody>
      </p:sp>
      <p:sp>
        <p:nvSpPr>
          <p:cNvPr id="128" name="Google Shape;128;g2ab55a4ceb1_0_68"/>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129" name="Google Shape;129;g2ab55a4ceb1_0_68"/>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chemeClr val="dk1"/>
              </a:buClr>
              <a:buSzPts val="1100"/>
              <a:buFont typeface="Arial"/>
              <a:buNone/>
            </a:pPr>
            <a:r>
              <a:rPr lang="fr-FR" sz="2900" b="0" i="0" u="none" strike="noStrike" cap="none">
                <a:solidFill>
                  <a:srgbClr val="38761D"/>
                </a:solidFill>
                <a:latin typeface="Calibri"/>
                <a:ea typeface="Calibri"/>
                <a:cs typeface="Calibri"/>
                <a:sym typeface="Calibri"/>
              </a:rPr>
              <a:t>Quelles sont d’après vous les différences entre méthodes qualitatives et les méthodes quantitatives en sciences sociales ?</a:t>
            </a:r>
            <a:endParaRPr sz="2900" b="0" i="0" u="none" strike="noStrike" cap="none">
              <a:solidFill>
                <a:srgbClr val="38761D"/>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457200" marR="0" lvl="0" indent="-412750" algn="l" rtl="0">
              <a:lnSpc>
                <a:spcPct val="90000"/>
              </a:lnSpc>
              <a:spcBef>
                <a:spcPts val="25"/>
              </a:spcBef>
              <a:spcAft>
                <a:spcPts val="0"/>
              </a:spcAft>
              <a:buClr>
                <a:schemeClr val="dk1"/>
              </a:buClr>
              <a:buSzPts val="2900"/>
              <a:buFont typeface="Calibri"/>
              <a:buChar char="➔"/>
            </a:pPr>
            <a:r>
              <a:rPr lang="fr-FR" sz="2900" b="0" i="0" u="none" strike="noStrike" cap="none">
                <a:solidFill>
                  <a:schemeClr val="dk1"/>
                </a:solidFill>
                <a:latin typeface="Calibri"/>
                <a:ea typeface="Calibri"/>
                <a:cs typeface="Calibri"/>
                <a:sym typeface="Calibri"/>
              </a:rPr>
              <a:t>Méthodes utilisées pour recueillir des données</a:t>
            </a:r>
            <a:endParaRPr sz="2900" b="0" i="0" u="none" strike="noStrike" cap="none">
              <a:solidFill>
                <a:schemeClr val="dk1"/>
              </a:solidFill>
              <a:latin typeface="Calibri"/>
              <a:ea typeface="Calibri"/>
              <a:cs typeface="Calibri"/>
              <a:sym typeface="Calibri"/>
            </a:endParaRPr>
          </a:p>
          <a:p>
            <a:pPr marL="457200" marR="0" lvl="0" indent="-412750" algn="l" rtl="0">
              <a:lnSpc>
                <a:spcPct val="90000"/>
              </a:lnSpc>
              <a:spcBef>
                <a:spcPts val="0"/>
              </a:spcBef>
              <a:spcAft>
                <a:spcPts val="0"/>
              </a:spcAft>
              <a:buClr>
                <a:schemeClr val="dk1"/>
              </a:buClr>
              <a:buSzPts val="2900"/>
              <a:buFont typeface="Calibri"/>
              <a:buChar char="➔"/>
            </a:pPr>
            <a:r>
              <a:rPr lang="fr-FR" sz="2900" b="0" i="0" u="none" strike="noStrike" cap="none">
                <a:solidFill>
                  <a:schemeClr val="dk1"/>
                </a:solidFill>
                <a:latin typeface="Calibri"/>
                <a:ea typeface="Calibri"/>
                <a:cs typeface="Calibri"/>
                <a:sym typeface="Calibri"/>
              </a:rPr>
              <a:t>Outils utilisés pour analyser ces données</a:t>
            </a: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p:txBody>
      </p:sp>
      <p:sp>
        <p:nvSpPr>
          <p:cNvPr id="130" name="Google Shape;130;g2ab55a4ceb1_0_68"/>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1"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2ab55a4ceb1_0_5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6</a:t>
            </a:fld>
            <a:endParaRPr sz="1000">
              <a:solidFill>
                <a:srgbClr val="808080"/>
              </a:solidFill>
              <a:latin typeface="Arial"/>
              <a:ea typeface="Arial"/>
              <a:cs typeface="Arial"/>
              <a:sym typeface="Arial"/>
            </a:endParaRPr>
          </a:p>
        </p:txBody>
      </p:sp>
      <p:sp>
        <p:nvSpPr>
          <p:cNvPr id="136" name="Google Shape;136;g2ab55a4ceb1_0_58"/>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342900" algn="l" rtl="0">
              <a:lnSpc>
                <a:spcPct val="100000"/>
              </a:lnSpc>
              <a:spcBef>
                <a:spcPts val="0"/>
              </a:spcBef>
              <a:spcAft>
                <a:spcPts val="0"/>
              </a:spcAft>
              <a:buClr>
                <a:schemeClr val="lt1"/>
              </a:buClr>
              <a:buSzPts val="1800"/>
              <a:buFont typeface="Calibri"/>
              <a:buAutoNum type="arabicPeriod"/>
            </a:pPr>
            <a:r>
              <a:rPr lang="fr-FR" sz="1800" b="0" i="0" u="none" strike="noStrike" cap="none">
                <a:solidFill>
                  <a:schemeClr val="lt1"/>
                </a:solidFill>
                <a:latin typeface="Calibri"/>
                <a:ea typeface="Calibri"/>
                <a:cs typeface="Calibri"/>
                <a:sym typeface="Calibri"/>
              </a:rPr>
              <a:t>Les méthodes quantitatives en sciences sociales : qu’est-ce que c’est ?</a:t>
            </a:r>
            <a:endParaRPr sz="1800" b="0" i="0" u="none" strike="noStrike" cap="none">
              <a:solidFill>
                <a:schemeClr val="lt1"/>
              </a:solidFill>
              <a:latin typeface="Calibri"/>
              <a:ea typeface="Calibri"/>
              <a:cs typeface="Calibri"/>
              <a:sym typeface="Calibri"/>
            </a:endParaRPr>
          </a:p>
        </p:txBody>
      </p:sp>
      <p:sp>
        <p:nvSpPr>
          <p:cNvPr id="137" name="Google Shape;137;g2ab55a4ceb1_0_58"/>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138" name="Google Shape;138;g2ab55a4ceb1_0_58"/>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412750" algn="l" rtl="0">
              <a:lnSpc>
                <a:spcPct val="90000"/>
              </a:lnSpc>
              <a:spcBef>
                <a:spcPts val="25"/>
              </a:spcBef>
              <a:spcAft>
                <a:spcPts val="0"/>
              </a:spcAft>
              <a:buClr>
                <a:schemeClr val="dk1"/>
              </a:buClr>
              <a:buSzPts val="2900"/>
              <a:buFont typeface="Calibri"/>
              <a:buChar char="➔"/>
            </a:pPr>
            <a:r>
              <a:rPr lang="fr-FR" sz="2900" b="0" i="0" u="none" strike="noStrike" cap="none">
                <a:solidFill>
                  <a:schemeClr val="dk1"/>
                </a:solidFill>
                <a:latin typeface="Calibri"/>
                <a:ea typeface="Calibri"/>
                <a:cs typeface="Calibri"/>
                <a:sym typeface="Calibri"/>
              </a:rPr>
              <a:t>Différences entre les </a:t>
            </a:r>
            <a:r>
              <a:rPr lang="fr-FR" sz="2900" b="1" i="0" u="none" strike="noStrike" cap="none">
                <a:solidFill>
                  <a:schemeClr val="dk1"/>
                </a:solidFill>
                <a:latin typeface="Calibri"/>
                <a:ea typeface="Calibri"/>
                <a:cs typeface="Calibri"/>
                <a:sym typeface="Calibri"/>
              </a:rPr>
              <a:t>modes de recueil des données</a:t>
            </a:r>
            <a:endParaRPr sz="2900" b="1"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p:txBody>
      </p:sp>
      <p:sp>
        <p:nvSpPr>
          <p:cNvPr id="139" name="Google Shape;139;g2ab55a4ceb1_0_58"/>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140" name="Google Shape;140;g2ab55a4ceb1_0_58"/>
          <p:cNvSpPr/>
          <p:nvPr/>
        </p:nvSpPr>
        <p:spPr>
          <a:xfrm>
            <a:off x="642100" y="2987550"/>
            <a:ext cx="3597000" cy="1933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rgbClr val="000000"/>
                </a:solidFill>
                <a:latin typeface="Calibri"/>
                <a:ea typeface="Calibri"/>
                <a:cs typeface="Calibri"/>
                <a:sym typeface="Calibri"/>
              </a:rPr>
              <a:t>Méthodes qualitatives </a:t>
            </a:r>
            <a:endParaRPr sz="14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a:p>
            <a:pPr marL="457200" marR="0" lvl="0" indent="-317500" algn="l" rtl="0">
              <a:lnSpc>
                <a:spcPct val="100000"/>
              </a:lnSpc>
              <a:spcBef>
                <a:spcPts val="0"/>
              </a:spcBef>
              <a:spcAft>
                <a:spcPts val="0"/>
              </a:spcAft>
              <a:buClr>
                <a:srgbClr val="000000"/>
              </a:buClr>
              <a:buSzPts val="1400"/>
              <a:buFont typeface="Calibri"/>
              <a:buChar char="-"/>
            </a:pPr>
            <a:r>
              <a:rPr lang="fr-FR" sz="1400" b="0" i="0" u="none" strike="noStrike" cap="none">
                <a:solidFill>
                  <a:srgbClr val="000000"/>
                </a:solidFill>
                <a:latin typeface="Calibri"/>
                <a:ea typeface="Calibri"/>
                <a:cs typeface="Calibri"/>
                <a:sym typeface="Calibri"/>
              </a:rPr>
              <a:t>Entretiens biographiques</a:t>
            </a:r>
            <a:endParaRPr sz="1400" b="0" i="0" u="none" strike="noStrike" cap="none">
              <a:solidFill>
                <a:srgbClr val="000000"/>
              </a:solidFill>
              <a:latin typeface="Calibri"/>
              <a:ea typeface="Calibri"/>
              <a:cs typeface="Calibri"/>
              <a:sym typeface="Calibri"/>
            </a:endParaRPr>
          </a:p>
          <a:p>
            <a:pPr marL="457200" marR="0" lvl="0" indent="-317500" algn="l" rtl="0">
              <a:lnSpc>
                <a:spcPct val="100000"/>
              </a:lnSpc>
              <a:spcBef>
                <a:spcPts val="0"/>
              </a:spcBef>
              <a:spcAft>
                <a:spcPts val="0"/>
              </a:spcAft>
              <a:buClr>
                <a:srgbClr val="000000"/>
              </a:buClr>
              <a:buSzPts val="1400"/>
              <a:buFont typeface="Calibri"/>
              <a:buChar char="-"/>
            </a:pPr>
            <a:r>
              <a:rPr lang="fr-FR" sz="1400" b="0" i="0" u="none" strike="noStrike" cap="none">
                <a:solidFill>
                  <a:srgbClr val="000000"/>
                </a:solidFill>
                <a:latin typeface="Calibri"/>
                <a:ea typeface="Calibri"/>
                <a:cs typeface="Calibri"/>
                <a:sym typeface="Calibri"/>
              </a:rPr>
              <a:t>Entretiens auprès d’experts</a:t>
            </a:r>
            <a:endParaRPr sz="1400" b="0" i="0" u="none" strike="noStrike" cap="none">
              <a:solidFill>
                <a:srgbClr val="000000"/>
              </a:solidFill>
              <a:latin typeface="Calibri"/>
              <a:ea typeface="Calibri"/>
              <a:cs typeface="Calibri"/>
              <a:sym typeface="Calibri"/>
            </a:endParaRPr>
          </a:p>
          <a:p>
            <a:pPr marL="457200" marR="0" lvl="0" indent="-317500" algn="l" rtl="0">
              <a:lnSpc>
                <a:spcPct val="100000"/>
              </a:lnSpc>
              <a:spcBef>
                <a:spcPts val="0"/>
              </a:spcBef>
              <a:spcAft>
                <a:spcPts val="0"/>
              </a:spcAft>
              <a:buClr>
                <a:srgbClr val="000000"/>
              </a:buClr>
              <a:buSzPts val="1400"/>
              <a:buFont typeface="Calibri"/>
              <a:buChar char="-"/>
            </a:pPr>
            <a:r>
              <a:rPr lang="fr-FR" sz="1400" b="0" i="0" u="none" strike="noStrike" cap="none">
                <a:solidFill>
                  <a:srgbClr val="000000"/>
                </a:solidFill>
                <a:latin typeface="Calibri"/>
                <a:ea typeface="Calibri"/>
                <a:cs typeface="Calibri"/>
                <a:sym typeface="Calibri"/>
              </a:rPr>
              <a:t>Observations </a:t>
            </a:r>
            <a:endParaRPr sz="1400" b="0" i="0" u="none" strike="noStrike" cap="none">
              <a:solidFill>
                <a:srgbClr val="000000"/>
              </a:solidFill>
              <a:latin typeface="Calibri"/>
              <a:ea typeface="Calibri"/>
              <a:cs typeface="Calibri"/>
              <a:sym typeface="Calibri"/>
            </a:endParaRPr>
          </a:p>
          <a:p>
            <a:pPr marL="457200" marR="0" lvl="0" indent="-317500" algn="l" rtl="0">
              <a:lnSpc>
                <a:spcPct val="100000"/>
              </a:lnSpc>
              <a:spcBef>
                <a:spcPts val="0"/>
              </a:spcBef>
              <a:spcAft>
                <a:spcPts val="0"/>
              </a:spcAft>
              <a:buClr>
                <a:srgbClr val="000000"/>
              </a:buClr>
              <a:buSzPts val="1400"/>
              <a:buFont typeface="Calibri"/>
              <a:buChar char="-"/>
            </a:pPr>
            <a:r>
              <a:rPr lang="fr-FR" sz="1400" b="0" i="0" u="none" strike="noStrike" cap="none">
                <a:solidFill>
                  <a:srgbClr val="000000"/>
                </a:solidFill>
                <a:latin typeface="Calibri"/>
                <a:ea typeface="Calibri"/>
                <a:cs typeface="Calibri"/>
                <a:sym typeface="Calibri"/>
              </a:rPr>
              <a:t>Archives</a:t>
            </a:r>
            <a:endParaRPr sz="1400" b="0" i="0" u="none" strike="noStrike" cap="none">
              <a:solidFill>
                <a:srgbClr val="000000"/>
              </a:solidFill>
              <a:latin typeface="Calibri"/>
              <a:ea typeface="Calibri"/>
              <a:cs typeface="Calibri"/>
              <a:sym typeface="Calibri"/>
            </a:endParaRPr>
          </a:p>
          <a:p>
            <a:pPr marL="45720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41" name="Google Shape;141;g2ab55a4ceb1_0_58"/>
          <p:cNvSpPr/>
          <p:nvPr/>
        </p:nvSpPr>
        <p:spPr>
          <a:xfrm>
            <a:off x="4862225" y="2987550"/>
            <a:ext cx="3597000" cy="2279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rgbClr val="000000"/>
                </a:solidFill>
                <a:latin typeface="Calibri"/>
                <a:ea typeface="Calibri"/>
                <a:cs typeface="Calibri"/>
                <a:sym typeface="Calibri"/>
              </a:rPr>
              <a:t>Méthodes quantitatives</a:t>
            </a:r>
            <a:endParaRPr sz="1400" b="1"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Calibri"/>
              <a:ea typeface="Calibri"/>
              <a:cs typeface="Calibri"/>
              <a:sym typeface="Calibri"/>
            </a:endParaRPr>
          </a:p>
          <a:p>
            <a:pPr marL="457200" marR="0" lvl="0" indent="-317500" algn="l" rtl="0">
              <a:lnSpc>
                <a:spcPct val="100000"/>
              </a:lnSpc>
              <a:spcBef>
                <a:spcPts val="0"/>
              </a:spcBef>
              <a:spcAft>
                <a:spcPts val="0"/>
              </a:spcAft>
              <a:buClr>
                <a:srgbClr val="000000"/>
              </a:buClr>
              <a:buSzPts val="1400"/>
              <a:buFont typeface="Calibri"/>
              <a:buChar char="-"/>
            </a:pPr>
            <a:r>
              <a:rPr lang="fr-FR" sz="1400" b="0" i="0" u="none" strike="noStrike" cap="none">
                <a:solidFill>
                  <a:srgbClr val="000000"/>
                </a:solidFill>
                <a:latin typeface="Calibri"/>
                <a:ea typeface="Calibri"/>
                <a:cs typeface="Calibri"/>
                <a:sym typeface="Calibri"/>
              </a:rPr>
              <a:t>Questionnaires distribués sur un terrain d’enquête</a:t>
            </a:r>
            <a:endParaRPr sz="1400" b="0" i="0" u="none" strike="noStrike" cap="none">
              <a:solidFill>
                <a:srgbClr val="000000"/>
              </a:solidFill>
              <a:latin typeface="Calibri"/>
              <a:ea typeface="Calibri"/>
              <a:cs typeface="Calibri"/>
              <a:sym typeface="Calibri"/>
            </a:endParaRPr>
          </a:p>
          <a:p>
            <a:pPr marL="457200" marR="0" lvl="0" indent="-317500" algn="l" rtl="0">
              <a:lnSpc>
                <a:spcPct val="100000"/>
              </a:lnSpc>
              <a:spcBef>
                <a:spcPts val="0"/>
              </a:spcBef>
              <a:spcAft>
                <a:spcPts val="0"/>
              </a:spcAft>
              <a:buClr>
                <a:srgbClr val="000000"/>
              </a:buClr>
              <a:buSzPts val="1400"/>
              <a:buFont typeface="Calibri"/>
              <a:buChar char="-"/>
            </a:pPr>
            <a:r>
              <a:rPr lang="fr-FR" sz="1400" b="0" i="0" u="none" strike="noStrike" cap="none">
                <a:solidFill>
                  <a:srgbClr val="000000"/>
                </a:solidFill>
                <a:latin typeface="Calibri"/>
                <a:ea typeface="Calibri"/>
                <a:cs typeface="Calibri"/>
                <a:sym typeface="Calibri"/>
              </a:rPr>
              <a:t>Questionnaires issus de la statistique publique</a:t>
            </a:r>
            <a:endParaRPr sz="1400" b="0" i="0" u="none" strike="noStrike" cap="none">
              <a:solidFill>
                <a:srgbClr val="000000"/>
              </a:solidFill>
              <a:latin typeface="Calibri"/>
              <a:ea typeface="Calibri"/>
              <a:cs typeface="Calibri"/>
              <a:sym typeface="Calibri"/>
            </a:endParaRPr>
          </a:p>
          <a:p>
            <a:pPr marL="457200" marR="0" lvl="0" indent="-317500" algn="l" rtl="0">
              <a:lnSpc>
                <a:spcPct val="100000"/>
              </a:lnSpc>
              <a:spcBef>
                <a:spcPts val="0"/>
              </a:spcBef>
              <a:spcAft>
                <a:spcPts val="0"/>
              </a:spcAft>
              <a:buClr>
                <a:srgbClr val="000000"/>
              </a:buClr>
              <a:buSzPts val="1400"/>
              <a:buFont typeface="Calibri"/>
              <a:buChar char="-"/>
            </a:pPr>
            <a:r>
              <a:rPr lang="fr-FR" sz="1400" b="0" i="0" u="none" strike="noStrike" cap="none">
                <a:solidFill>
                  <a:srgbClr val="000000"/>
                </a:solidFill>
                <a:latin typeface="Calibri"/>
                <a:ea typeface="Calibri"/>
                <a:cs typeface="Calibri"/>
                <a:sym typeface="Calibri"/>
              </a:rPr>
              <a:t>Registres</a:t>
            </a:r>
            <a:endParaRPr sz="1400" b="0" i="0" u="none" strike="noStrike" cap="none">
              <a:solidFill>
                <a:srgbClr val="000000"/>
              </a:solidFill>
              <a:latin typeface="Calibri"/>
              <a:ea typeface="Calibri"/>
              <a:cs typeface="Calibri"/>
              <a:sym typeface="Calibri"/>
            </a:endParaRPr>
          </a:p>
          <a:p>
            <a:pPr marL="457200" marR="0" lvl="0" indent="-317500" algn="l" rtl="0">
              <a:lnSpc>
                <a:spcPct val="100000"/>
              </a:lnSpc>
              <a:spcBef>
                <a:spcPts val="0"/>
              </a:spcBef>
              <a:spcAft>
                <a:spcPts val="0"/>
              </a:spcAft>
              <a:buClr>
                <a:srgbClr val="000000"/>
              </a:buClr>
              <a:buSzPts val="1400"/>
              <a:buFont typeface="Calibri"/>
              <a:buChar char="-"/>
            </a:pPr>
            <a:r>
              <a:rPr lang="fr-FR" sz="1400" b="0" i="0" u="none" strike="noStrike" cap="none">
                <a:solidFill>
                  <a:srgbClr val="000000"/>
                </a:solidFill>
                <a:latin typeface="Calibri"/>
                <a:ea typeface="Calibri"/>
                <a:cs typeface="Calibri"/>
                <a:sym typeface="Calibri"/>
              </a:rPr>
              <a:t>Données recueillies sur les réseaux sociaux ou des applications </a:t>
            </a: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2ab55a4ceb1_0_7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7</a:t>
            </a:fld>
            <a:endParaRPr sz="1000">
              <a:solidFill>
                <a:srgbClr val="808080"/>
              </a:solidFill>
              <a:latin typeface="Arial"/>
              <a:ea typeface="Arial"/>
              <a:cs typeface="Arial"/>
              <a:sym typeface="Arial"/>
            </a:endParaRPr>
          </a:p>
        </p:txBody>
      </p:sp>
      <p:sp>
        <p:nvSpPr>
          <p:cNvPr id="147" name="Google Shape;147;g2ab55a4ceb1_0_76"/>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342900" algn="l" rtl="0">
              <a:lnSpc>
                <a:spcPct val="100000"/>
              </a:lnSpc>
              <a:spcBef>
                <a:spcPts val="0"/>
              </a:spcBef>
              <a:spcAft>
                <a:spcPts val="0"/>
              </a:spcAft>
              <a:buClr>
                <a:schemeClr val="lt1"/>
              </a:buClr>
              <a:buSzPts val="1800"/>
              <a:buFont typeface="Calibri"/>
              <a:buAutoNum type="arabicPeriod"/>
            </a:pPr>
            <a:r>
              <a:rPr lang="fr-FR" sz="1800" b="0" i="0" u="none" strike="noStrike" cap="none">
                <a:solidFill>
                  <a:schemeClr val="lt1"/>
                </a:solidFill>
                <a:latin typeface="Calibri"/>
                <a:ea typeface="Calibri"/>
                <a:cs typeface="Calibri"/>
                <a:sym typeface="Calibri"/>
              </a:rPr>
              <a:t>Les méthodes quantitatives en sciences sociales : qu’est-ce que c’est ?</a:t>
            </a:r>
            <a:endParaRPr sz="1800" b="0" i="0" u="none" strike="noStrike" cap="none">
              <a:solidFill>
                <a:schemeClr val="lt1"/>
              </a:solidFill>
              <a:latin typeface="Calibri"/>
              <a:ea typeface="Calibri"/>
              <a:cs typeface="Calibri"/>
              <a:sym typeface="Calibri"/>
            </a:endParaRPr>
          </a:p>
        </p:txBody>
      </p:sp>
      <p:sp>
        <p:nvSpPr>
          <p:cNvPr id="148" name="Google Shape;148;g2ab55a4ceb1_0_76"/>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149" name="Google Shape;149;g2ab55a4ceb1_0_76"/>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412750" algn="l" rtl="0">
              <a:lnSpc>
                <a:spcPct val="90000"/>
              </a:lnSpc>
              <a:spcBef>
                <a:spcPts val="25"/>
              </a:spcBef>
              <a:spcAft>
                <a:spcPts val="0"/>
              </a:spcAft>
              <a:buClr>
                <a:schemeClr val="dk1"/>
              </a:buClr>
              <a:buSzPts val="2900"/>
              <a:buFont typeface="Calibri"/>
              <a:buChar char="➔"/>
            </a:pPr>
            <a:r>
              <a:rPr lang="fr-FR" sz="2900" b="0" i="0" u="none" strike="noStrike" cap="none">
                <a:solidFill>
                  <a:schemeClr val="dk1"/>
                </a:solidFill>
                <a:latin typeface="Calibri"/>
                <a:ea typeface="Calibri"/>
                <a:cs typeface="Calibri"/>
                <a:sym typeface="Calibri"/>
              </a:rPr>
              <a:t>Différences entre les </a:t>
            </a:r>
            <a:r>
              <a:rPr lang="fr-FR" sz="2900" b="1" i="0" u="none" strike="noStrike" cap="none">
                <a:solidFill>
                  <a:schemeClr val="dk1"/>
                </a:solidFill>
                <a:latin typeface="Calibri"/>
                <a:ea typeface="Calibri"/>
                <a:cs typeface="Calibri"/>
                <a:sym typeface="Calibri"/>
              </a:rPr>
              <a:t>outils utilisés </a:t>
            </a:r>
            <a:r>
              <a:rPr lang="fr-FR" sz="2900" b="0" i="0" u="none" strike="noStrike" cap="none">
                <a:solidFill>
                  <a:schemeClr val="dk1"/>
                </a:solidFill>
                <a:latin typeface="Calibri"/>
                <a:ea typeface="Calibri"/>
                <a:cs typeface="Calibri"/>
                <a:sym typeface="Calibri"/>
              </a:rPr>
              <a:t>pour analyser ces données</a:t>
            </a: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p:txBody>
      </p:sp>
      <p:sp>
        <p:nvSpPr>
          <p:cNvPr id="150" name="Google Shape;150;g2ab55a4ceb1_0_76"/>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151" name="Google Shape;151;g2ab55a4ceb1_0_76"/>
          <p:cNvSpPr/>
          <p:nvPr/>
        </p:nvSpPr>
        <p:spPr>
          <a:xfrm>
            <a:off x="642100" y="2987550"/>
            <a:ext cx="3597000" cy="1933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rgbClr val="000000"/>
                </a:solidFill>
                <a:latin typeface="Calibri"/>
                <a:ea typeface="Calibri"/>
                <a:cs typeface="Calibri"/>
                <a:sym typeface="Calibri"/>
              </a:rPr>
              <a:t>Méthodes qualitatives </a:t>
            </a:r>
            <a:endParaRPr sz="14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a:p>
            <a:pPr marL="457200" marR="0" lvl="0" indent="-317500" algn="l" rtl="0">
              <a:lnSpc>
                <a:spcPct val="100000"/>
              </a:lnSpc>
              <a:spcBef>
                <a:spcPts val="0"/>
              </a:spcBef>
              <a:spcAft>
                <a:spcPts val="0"/>
              </a:spcAft>
              <a:buClr>
                <a:srgbClr val="000000"/>
              </a:buClr>
              <a:buSzPts val="1400"/>
              <a:buFont typeface="Calibri"/>
              <a:buChar char="-"/>
            </a:pPr>
            <a:r>
              <a:rPr lang="fr-FR" sz="1400" b="0" i="0" u="none" strike="noStrike" cap="none">
                <a:solidFill>
                  <a:srgbClr val="000000"/>
                </a:solidFill>
                <a:latin typeface="Calibri"/>
                <a:ea typeface="Calibri"/>
                <a:cs typeface="Calibri"/>
                <a:sym typeface="Calibri"/>
              </a:rPr>
              <a:t>Analyse des discours des enquêté.es</a:t>
            </a:r>
            <a:endParaRPr sz="1400" b="0" i="0" u="none" strike="noStrike" cap="none">
              <a:solidFill>
                <a:srgbClr val="000000"/>
              </a:solidFill>
              <a:latin typeface="Calibri"/>
              <a:ea typeface="Calibri"/>
              <a:cs typeface="Calibri"/>
              <a:sym typeface="Calibri"/>
            </a:endParaRPr>
          </a:p>
          <a:p>
            <a:pPr marL="457200" marR="0" lvl="0" indent="-317500" algn="l" rtl="0">
              <a:lnSpc>
                <a:spcPct val="100000"/>
              </a:lnSpc>
              <a:spcBef>
                <a:spcPts val="0"/>
              </a:spcBef>
              <a:spcAft>
                <a:spcPts val="0"/>
              </a:spcAft>
              <a:buClr>
                <a:srgbClr val="000000"/>
              </a:buClr>
              <a:buSzPts val="1400"/>
              <a:buFont typeface="Calibri"/>
              <a:buChar char="-"/>
            </a:pPr>
            <a:r>
              <a:rPr lang="fr-FR" sz="1400" b="0" i="0" u="none" strike="noStrike" cap="none">
                <a:solidFill>
                  <a:srgbClr val="000000"/>
                </a:solidFill>
                <a:latin typeface="Calibri"/>
                <a:ea typeface="Calibri"/>
                <a:cs typeface="Calibri"/>
                <a:sym typeface="Calibri"/>
              </a:rPr>
              <a:t>Comparaison entretiens/observations</a:t>
            </a:r>
            <a:endParaRPr sz="1400" b="0" i="0" u="none" strike="noStrike" cap="none">
              <a:solidFill>
                <a:srgbClr val="000000"/>
              </a:solidFill>
              <a:latin typeface="Calibri"/>
              <a:ea typeface="Calibri"/>
              <a:cs typeface="Calibri"/>
              <a:sym typeface="Calibri"/>
            </a:endParaRPr>
          </a:p>
          <a:p>
            <a:pPr marL="457200" marR="0" lvl="0" indent="-317500" algn="l" rtl="0">
              <a:lnSpc>
                <a:spcPct val="100000"/>
              </a:lnSpc>
              <a:spcBef>
                <a:spcPts val="0"/>
              </a:spcBef>
              <a:spcAft>
                <a:spcPts val="0"/>
              </a:spcAft>
              <a:buClr>
                <a:srgbClr val="000000"/>
              </a:buClr>
              <a:buSzPts val="1400"/>
              <a:buFont typeface="Calibri"/>
              <a:buChar char="-"/>
            </a:pPr>
            <a:r>
              <a:rPr lang="fr-FR" sz="1400" b="0" i="0" u="none" strike="noStrike" cap="none">
                <a:solidFill>
                  <a:srgbClr val="000000"/>
                </a:solidFill>
                <a:latin typeface="Calibri"/>
                <a:ea typeface="Calibri"/>
                <a:cs typeface="Calibri"/>
                <a:sym typeface="Calibri"/>
              </a:rPr>
              <a:t>Comparaison entretiens/archives...</a:t>
            </a:r>
            <a:endParaRPr sz="1400" b="0" i="0" u="none" strike="noStrike" cap="none">
              <a:solidFill>
                <a:srgbClr val="000000"/>
              </a:solidFill>
              <a:latin typeface="Calibri"/>
              <a:ea typeface="Calibri"/>
              <a:cs typeface="Calibri"/>
              <a:sym typeface="Calibri"/>
            </a:endParaRPr>
          </a:p>
          <a:p>
            <a:pPr marL="45720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52" name="Google Shape;152;g2ab55a4ceb1_0_76"/>
          <p:cNvSpPr/>
          <p:nvPr/>
        </p:nvSpPr>
        <p:spPr>
          <a:xfrm>
            <a:off x="4862225" y="2987550"/>
            <a:ext cx="3597000" cy="1933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rgbClr val="000000"/>
                </a:solidFill>
                <a:latin typeface="Calibri"/>
                <a:ea typeface="Calibri"/>
                <a:cs typeface="Calibri"/>
                <a:sym typeface="Calibri"/>
              </a:rPr>
              <a:t>Méthodes quantitatives</a:t>
            </a:r>
            <a:endParaRPr sz="1400" b="1"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Calibri"/>
              <a:ea typeface="Calibri"/>
              <a:cs typeface="Calibri"/>
              <a:sym typeface="Calibri"/>
            </a:endParaRPr>
          </a:p>
          <a:p>
            <a:pPr marL="457200" marR="0" lvl="0" indent="-317500" algn="l" rtl="0">
              <a:lnSpc>
                <a:spcPct val="100000"/>
              </a:lnSpc>
              <a:spcBef>
                <a:spcPts val="0"/>
              </a:spcBef>
              <a:spcAft>
                <a:spcPts val="0"/>
              </a:spcAft>
              <a:buClr>
                <a:srgbClr val="000000"/>
              </a:buClr>
              <a:buSzPts val="1400"/>
              <a:buFont typeface="Calibri"/>
              <a:buChar char="-"/>
            </a:pPr>
            <a:r>
              <a:rPr lang="fr-FR" sz="1400" b="0" i="0" u="none" strike="noStrike" cap="none">
                <a:solidFill>
                  <a:srgbClr val="000000"/>
                </a:solidFill>
                <a:latin typeface="Calibri"/>
                <a:ea typeface="Calibri"/>
                <a:cs typeface="Calibri"/>
                <a:sym typeface="Calibri"/>
              </a:rPr>
              <a:t>Outils d’analyse mathématiques et statistiques </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ab795ca104_0_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8</a:t>
            </a:fld>
            <a:endParaRPr sz="1000">
              <a:solidFill>
                <a:srgbClr val="808080"/>
              </a:solidFill>
              <a:latin typeface="Arial"/>
              <a:ea typeface="Arial"/>
              <a:cs typeface="Arial"/>
              <a:sym typeface="Arial"/>
            </a:endParaRPr>
          </a:p>
        </p:txBody>
      </p:sp>
      <p:sp>
        <p:nvSpPr>
          <p:cNvPr id="158" name="Google Shape;158;g2ab795ca104_0_0"/>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342900" algn="l" rtl="0">
              <a:lnSpc>
                <a:spcPct val="100000"/>
              </a:lnSpc>
              <a:spcBef>
                <a:spcPts val="0"/>
              </a:spcBef>
              <a:spcAft>
                <a:spcPts val="0"/>
              </a:spcAft>
              <a:buClr>
                <a:schemeClr val="lt1"/>
              </a:buClr>
              <a:buSzPts val="1800"/>
              <a:buFont typeface="Calibri"/>
              <a:buAutoNum type="arabicPeriod"/>
            </a:pPr>
            <a:r>
              <a:rPr lang="fr-FR" sz="1800" b="0" i="0" u="none" strike="noStrike" cap="none">
                <a:solidFill>
                  <a:schemeClr val="lt1"/>
                </a:solidFill>
                <a:latin typeface="Calibri"/>
                <a:ea typeface="Calibri"/>
                <a:cs typeface="Calibri"/>
                <a:sym typeface="Calibri"/>
              </a:rPr>
              <a:t>Les méthodes quantitatives en sciences sociales : qu’est-ce que c’est ?</a:t>
            </a:r>
            <a:endParaRPr sz="1800" b="0" i="0" u="none" strike="noStrike" cap="none">
              <a:solidFill>
                <a:schemeClr val="lt1"/>
              </a:solidFill>
              <a:latin typeface="Calibri"/>
              <a:ea typeface="Calibri"/>
              <a:cs typeface="Calibri"/>
              <a:sym typeface="Calibri"/>
            </a:endParaRPr>
          </a:p>
        </p:txBody>
      </p:sp>
      <p:sp>
        <p:nvSpPr>
          <p:cNvPr id="159" name="Google Shape;159;g2ab795ca104_0_0"/>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160" name="Google Shape;160;g2ab795ca104_0_0"/>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900"/>
              <a:buFont typeface="Arial"/>
              <a:buNone/>
            </a:pPr>
            <a:r>
              <a:rPr lang="fr-FR" sz="2900" b="0" i="0" u="none" strike="noStrike" cap="none">
                <a:solidFill>
                  <a:schemeClr val="dk1"/>
                </a:solidFill>
                <a:latin typeface="Calibri"/>
                <a:ea typeface="Calibri"/>
                <a:cs typeface="Calibri"/>
                <a:sym typeface="Calibri"/>
              </a:rPr>
              <a:t>Mais les frontières de cette bipartition entre méthodes qualitatives et quantitatives sont poreuses. </a:t>
            </a: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r>
              <a:rPr lang="fr-FR" sz="2900" b="0" i="0" u="sng" strike="noStrike" cap="none">
                <a:solidFill>
                  <a:schemeClr val="dk1"/>
                </a:solidFill>
                <a:latin typeface="Calibri"/>
                <a:ea typeface="Calibri"/>
                <a:cs typeface="Calibri"/>
                <a:sym typeface="Calibri"/>
              </a:rPr>
              <a:t>Deux exemples </a:t>
            </a:r>
            <a:r>
              <a:rPr lang="fr-FR" sz="2900" b="0" i="0" u="none" strike="noStrike" cap="none">
                <a:solidFill>
                  <a:schemeClr val="dk1"/>
                </a:solidFill>
                <a:latin typeface="Calibri"/>
                <a:ea typeface="Calibri"/>
                <a:cs typeface="Calibri"/>
                <a:sym typeface="Calibri"/>
              </a:rPr>
              <a:t>: </a:t>
            </a:r>
            <a:endParaRPr sz="2900" b="0" i="0" u="none" strike="noStrike" cap="none">
              <a:solidFill>
                <a:schemeClr val="dk1"/>
              </a:solidFill>
              <a:latin typeface="Calibri"/>
              <a:ea typeface="Calibri"/>
              <a:cs typeface="Calibri"/>
              <a:sym typeface="Calibri"/>
            </a:endParaRPr>
          </a:p>
          <a:p>
            <a:pPr marL="457200" marR="0" lvl="0" indent="-412750" algn="l" rtl="0">
              <a:lnSpc>
                <a:spcPct val="90000"/>
              </a:lnSpc>
              <a:spcBef>
                <a:spcPts val="25"/>
              </a:spcBef>
              <a:spcAft>
                <a:spcPts val="0"/>
              </a:spcAft>
              <a:buClr>
                <a:schemeClr val="dk1"/>
              </a:buClr>
              <a:buSzPts val="2900"/>
              <a:buFont typeface="Calibri"/>
              <a:buChar char="-"/>
            </a:pPr>
            <a:r>
              <a:rPr lang="fr-FR" sz="2900" b="0" i="0" u="none" strike="noStrike" cap="none">
                <a:solidFill>
                  <a:schemeClr val="dk1"/>
                </a:solidFill>
                <a:latin typeface="Calibri"/>
                <a:ea typeface="Calibri"/>
                <a:cs typeface="Calibri"/>
                <a:sym typeface="Calibri"/>
              </a:rPr>
              <a:t>Codage d’entretiens biographiques</a:t>
            </a:r>
            <a:endParaRPr sz="2900" b="0" i="0" u="none" strike="noStrike" cap="none">
              <a:solidFill>
                <a:schemeClr val="dk1"/>
              </a:solidFill>
              <a:latin typeface="Calibri"/>
              <a:ea typeface="Calibri"/>
              <a:cs typeface="Calibri"/>
              <a:sym typeface="Calibri"/>
            </a:endParaRPr>
          </a:p>
          <a:p>
            <a:pPr marL="457200" marR="0" lvl="0" indent="-412750" algn="l" rtl="0">
              <a:lnSpc>
                <a:spcPct val="90000"/>
              </a:lnSpc>
              <a:spcBef>
                <a:spcPts val="0"/>
              </a:spcBef>
              <a:spcAft>
                <a:spcPts val="0"/>
              </a:spcAft>
              <a:buClr>
                <a:schemeClr val="dk1"/>
              </a:buClr>
              <a:buSzPts val="2900"/>
              <a:buFont typeface="Calibri"/>
              <a:buChar char="-"/>
            </a:pPr>
            <a:r>
              <a:rPr lang="fr-FR" sz="2900" b="0" i="0" u="none" strike="noStrike" cap="none">
                <a:solidFill>
                  <a:schemeClr val="dk1"/>
                </a:solidFill>
                <a:latin typeface="Calibri"/>
                <a:ea typeface="Calibri"/>
                <a:cs typeface="Calibri"/>
                <a:sym typeface="Calibri"/>
              </a:rPr>
              <a:t>Lexicométrie (occurrences de mots/expressions dans un entretien,...)</a:t>
            </a: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r>
              <a:rPr lang="fr-FR" sz="2900" b="0" i="0" u="none" strike="noStrike" cap="none">
                <a:solidFill>
                  <a:schemeClr val="dk1"/>
                </a:solidFill>
                <a:latin typeface="Calibri"/>
                <a:ea typeface="Calibri"/>
                <a:cs typeface="Calibri"/>
                <a:sym typeface="Calibri"/>
              </a:rPr>
              <a:t>= Formes de </a:t>
            </a:r>
            <a:r>
              <a:rPr lang="fr-FR" sz="2900" b="1" i="0" u="none" strike="noStrike" cap="none">
                <a:solidFill>
                  <a:schemeClr val="dk1"/>
                </a:solidFill>
                <a:latin typeface="Calibri"/>
                <a:ea typeface="Calibri"/>
                <a:cs typeface="Calibri"/>
                <a:sym typeface="Calibri"/>
              </a:rPr>
              <a:t>quantification </a:t>
            </a:r>
            <a:r>
              <a:rPr lang="fr-FR" sz="2900" b="0" i="0" u="none" strike="noStrike" cap="none">
                <a:solidFill>
                  <a:schemeClr val="dk1"/>
                </a:solidFill>
                <a:latin typeface="Calibri"/>
                <a:ea typeface="Calibri"/>
                <a:cs typeface="Calibri"/>
                <a:sym typeface="Calibri"/>
              </a:rPr>
              <a:t>des données (initialement recueillies par méthodes qualitatives) </a:t>
            </a: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p:txBody>
      </p:sp>
      <p:sp>
        <p:nvSpPr>
          <p:cNvPr id="161" name="Google Shape;161;g2ab795ca104_0_0"/>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1"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2abac93716c_0_1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9</a:t>
            </a:fld>
            <a:endParaRPr sz="1000">
              <a:solidFill>
                <a:srgbClr val="808080"/>
              </a:solidFill>
              <a:latin typeface="Arial"/>
              <a:ea typeface="Arial"/>
              <a:cs typeface="Arial"/>
              <a:sym typeface="Arial"/>
            </a:endParaRPr>
          </a:p>
        </p:txBody>
      </p:sp>
      <p:sp>
        <p:nvSpPr>
          <p:cNvPr id="167" name="Google Shape;167;g2abac93716c_0_18"/>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342900" algn="l" rtl="0">
              <a:lnSpc>
                <a:spcPct val="100000"/>
              </a:lnSpc>
              <a:spcBef>
                <a:spcPts val="0"/>
              </a:spcBef>
              <a:spcAft>
                <a:spcPts val="0"/>
              </a:spcAft>
              <a:buClr>
                <a:schemeClr val="lt1"/>
              </a:buClr>
              <a:buSzPts val="1800"/>
              <a:buFont typeface="Calibri"/>
              <a:buAutoNum type="arabicPeriod"/>
            </a:pPr>
            <a:r>
              <a:rPr lang="fr-FR" sz="1800" b="0" i="0" u="none" strike="noStrike" cap="none">
                <a:solidFill>
                  <a:schemeClr val="lt1"/>
                </a:solidFill>
                <a:latin typeface="Calibri"/>
                <a:ea typeface="Calibri"/>
                <a:cs typeface="Calibri"/>
                <a:sym typeface="Calibri"/>
              </a:rPr>
              <a:t>Les méthodes quantitatives en sciences sociales : qu’est-ce que c’est ?</a:t>
            </a:r>
            <a:endParaRPr sz="1800" b="0" i="0" u="none" strike="noStrike" cap="none">
              <a:solidFill>
                <a:schemeClr val="lt1"/>
              </a:solidFill>
              <a:latin typeface="Calibri"/>
              <a:ea typeface="Calibri"/>
              <a:cs typeface="Calibri"/>
              <a:sym typeface="Calibri"/>
            </a:endParaRPr>
          </a:p>
        </p:txBody>
      </p:sp>
      <p:sp>
        <p:nvSpPr>
          <p:cNvPr id="168" name="Google Shape;168;g2abac93716c_0_18"/>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169" name="Google Shape;169;g2abac93716c_0_18"/>
          <p:cNvSpPr txBox="1"/>
          <p:nvPr/>
        </p:nvSpPr>
        <p:spPr>
          <a:xfrm>
            <a:off x="467650" y="1671575"/>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900"/>
              <a:buFont typeface="Arial"/>
              <a:buNone/>
            </a:pPr>
            <a:r>
              <a:rPr lang="fr-FR" sz="2700" b="0" i="0" u="none" strike="noStrike" cap="none" dirty="0">
                <a:solidFill>
                  <a:schemeClr val="dk1"/>
                </a:solidFill>
                <a:latin typeface="Calibri"/>
                <a:ea typeface="Calibri"/>
                <a:cs typeface="Calibri"/>
                <a:sym typeface="Calibri"/>
              </a:rPr>
              <a:t>Les méthodes quantitatives consistent à recueillir et traiter des </a:t>
            </a:r>
            <a:r>
              <a:rPr lang="fr-FR" sz="2700" b="1" i="0" u="none" strike="noStrike" cap="none" dirty="0">
                <a:solidFill>
                  <a:schemeClr val="dk1"/>
                </a:solidFill>
                <a:latin typeface="Calibri"/>
                <a:ea typeface="Calibri"/>
                <a:cs typeface="Calibri"/>
                <a:sym typeface="Calibri"/>
              </a:rPr>
              <a:t>données quantitatives</a:t>
            </a:r>
            <a:r>
              <a:rPr lang="fr-FR" sz="2700" b="0" i="0" u="none" strike="noStrike" cap="none" dirty="0">
                <a:solidFill>
                  <a:schemeClr val="dk1"/>
                </a:solidFill>
                <a:latin typeface="Calibri"/>
                <a:ea typeface="Calibri"/>
                <a:cs typeface="Calibri"/>
                <a:sym typeface="Calibri"/>
              </a:rPr>
              <a:t>.</a:t>
            </a:r>
            <a:endParaRPr sz="2700" b="0" i="0" u="none" strike="noStrike" cap="none" dirty="0">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700" b="0" i="0" u="none" strike="noStrike" cap="none" dirty="0">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r>
              <a:rPr lang="fr-FR" sz="2700" b="0" i="0" u="none" strike="noStrike" cap="none" dirty="0">
                <a:solidFill>
                  <a:schemeClr val="dk1"/>
                </a:solidFill>
                <a:latin typeface="Calibri"/>
                <a:ea typeface="Calibri"/>
                <a:cs typeface="Calibri"/>
                <a:sym typeface="Calibri"/>
              </a:rPr>
              <a:t>Cela ne signifie pas que ces données expriment des quantités, mais qu’elles sont :</a:t>
            </a:r>
            <a:endParaRPr sz="2700" b="0" i="0" u="none" strike="noStrike" cap="none" dirty="0">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1200" dirty="0">
              <a:solidFill>
                <a:schemeClr val="dk1"/>
              </a:solidFill>
              <a:latin typeface="Calibri"/>
              <a:ea typeface="Calibri"/>
              <a:cs typeface="Calibri"/>
              <a:sym typeface="Calibri"/>
            </a:endParaRPr>
          </a:p>
          <a:p>
            <a:pPr marL="457200" marR="0" lvl="0" indent="-400050" algn="l" rtl="0">
              <a:lnSpc>
                <a:spcPct val="90000"/>
              </a:lnSpc>
              <a:spcBef>
                <a:spcPts val="25"/>
              </a:spcBef>
              <a:spcAft>
                <a:spcPts val="0"/>
              </a:spcAft>
              <a:buClr>
                <a:schemeClr val="dk1"/>
              </a:buClr>
              <a:buSzPts val="2700"/>
              <a:buFont typeface="Calibri"/>
              <a:buAutoNum type="arabicPeriod"/>
            </a:pPr>
            <a:r>
              <a:rPr lang="fr-FR" sz="2700" b="1" i="0" u="none" strike="noStrike" cap="none" dirty="0">
                <a:solidFill>
                  <a:schemeClr val="dk1"/>
                </a:solidFill>
                <a:latin typeface="Calibri"/>
                <a:ea typeface="Calibri"/>
                <a:cs typeface="Calibri"/>
                <a:sym typeface="Calibri"/>
              </a:rPr>
              <a:t>nombreuses</a:t>
            </a:r>
            <a:r>
              <a:rPr lang="fr-FR" sz="2700" b="0" i="0" u="none" strike="noStrike" cap="none" dirty="0">
                <a:solidFill>
                  <a:schemeClr val="dk1"/>
                </a:solidFill>
                <a:latin typeface="Calibri"/>
                <a:ea typeface="Calibri"/>
                <a:cs typeface="Calibri"/>
                <a:sym typeface="Calibri"/>
              </a:rPr>
              <a:t>, c’est-à-dire disponibles en grande quantité (d’où l’usage des méthodes statistiques), et </a:t>
            </a:r>
            <a:endParaRPr sz="2700" b="0" i="0" u="none" strike="noStrike" cap="none" dirty="0">
              <a:solidFill>
                <a:schemeClr val="dk1"/>
              </a:solidFill>
              <a:latin typeface="Calibri"/>
              <a:ea typeface="Calibri"/>
              <a:cs typeface="Calibri"/>
              <a:sym typeface="Calibri"/>
            </a:endParaRPr>
          </a:p>
          <a:p>
            <a:pPr marL="457200" marR="0" lvl="0" indent="0" algn="l" rtl="0">
              <a:lnSpc>
                <a:spcPct val="90000"/>
              </a:lnSpc>
              <a:spcBef>
                <a:spcPts val="25"/>
              </a:spcBef>
              <a:spcAft>
                <a:spcPts val="0"/>
              </a:spcAft>
              <a:buNone/>
            </a:pPr>
            <a:endParaRPr sz="700" dirty="0">
              <a:solidFill>
                <a:schemeClr val="dk1"/>
              </a:solidFill>
              <a:latin typeface="Calibri"/>
              <a:ea typeface="Calibri"/>
              <a:cs typeface="Calibri"/>
              <a:sym typeface="Calibri"/>
            </a:endParaRPr>
          </a:p>
          <a:p>
            <a:pPr marL="457200" marR="0" lvl="0" indent="-400050" algn="l" rtl="0">
              <a:lnSpc>
                <a:spcPct val="90000"/>
              </a:lnSpc>
              <a:spcBef>
                <a:spcPts val="25"/>
              </a:spcBef>
              <a:spcAft>
                <a:spcPts val="0"/>
              </a:spcAft>
              <a:buClr>
                <a:schemeClr val="dk1"/>
              </a:buClr>
              <a:buSzPts val="2700"/>
              <a:buFont typeface="Calibri"/>
              <a:buAutoNum type="arabicPeriod"/>
            </a:pPr>
            <a:r>
              <a:rPr lang="fr-FR" sz="2700" b="1" i="0" u="none" strike="noStrike" cap="none" dirty="0">
                <a:solidFill>
                  <a:schemeClr val="dk1"/>
                </a:solidFill>
                <a:latin typeface="Calibri"/>
                <a:ea typeface="Calibri"/>
                <a:cs typeface="Calibri"/>
                <a:sym typeface="Calibri"/>
              </a:rPr>
              <a:t>standardisées</a:t>
            </a:r>
            <a:r>
              <a:rPr lang="fr-FR" sz="2700" b="1" dirty="0">
                <a:solidFill>
                  <a:schemeClr val="dk1"/>
                </a:solidFill>
                <a:latin typeface="Calibri"/>
                <a:ea typeface="Calibri"/>
                <a:cs typeface="Calibri"/>
                <a:sym typeface="Calibri"/>
              </a:rPr>
              <a:t> </a:t>
            </a:r>
            <a:r>
              <a:rPr lang="fr-FR" sz="2700" dirty="0">
                <a:solidFill>
                  <a:schemeClr val="dk1"/>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selon des </a:t>
            </a:r>
            <a:r>
              <a:rPr lang="fr-FR" sz="2700" i="0" u="none" strike="noStrike" cap="none" dirty="0">
                <a:solidFill>
                  <a:schemeClr val="dk1"/>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unités de mesure</a:t>
            </a:r>
            <a:r>
              <a:rPr lang="fr-FR" sz="2700" dirty="0">
                <a:solidFill>
                  <a:schemeClr val="dk1"/>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 ou des catégories dans lesquelles les réponses sont supposées suffisamment “équivalentes” </a:t>
            </a:r>
            <a:r>
              <a:rPr lang="fr-FR" sz="2700" dirty="0">
                <a:solidFill>
                  <a:schemeClr val="dk1"/>
                </a:solidFill>
                <a:latin typeface="Calibri"/>
                <a:ea typeface="Calibri"/>
                <a:cs typeface="Calibri"/>
                <a:sym typeface="Calibri"/>
              </a:rPr>
              <a:t>pour former une unité </a:t>
            </a:r>
            <a:r>
              <a:rPr lang="fr-FR" sz="2700" b="0" i="0" u="none" strike="noStrike" cap="none" dirty="0">
                <a:solidFill>
                  <a:schemeClr val="dk1"/>
                </a:solidFill>
                <a:latin typeface="Calibri"/>
                <a:ea typeface="Calibri"/>
                <a:cs typeface="Calibri"/>
                <a:sym typeface="Calibri"/>
              </a:rPr>
              <a:t> (</a:t>
            </a:r>
            <a:r>
              <a:rPr lang="fr-FR" sz="2700" dirty="0">
                <a:solidFill>
                  <a:schemeClr val="dk1"/>
                </a:solidFill>
                <a:latin typeface="Calibri"/>
                <a:ea typeface="Calibri"/>
                <a:cs typeface="Calibri"/>
                <a:sym typeface="Calibri"/>
              </a:rPr>
              <a:t>nécessite parfois </a:t>
            </a:r>
            <a:r>
              <a:rPr lang="fr-FR" sz="2700" b="0" i="0" u="none" strike="noStrike" cap="none" dirty="0">
                <a:solidFill>
                  <a:schemeClr val="dk1"/>
                </a:solidFill>
                <a:latin typeface="Calibri"/>
                <a:ea typeface="Calibri"/>
                <a:cs typeface="Calibri"/>
                <a:sym typeface="Calibri"/>
              </a:rPr>
              <a:t>un codage et/ou d’un nettoyage) - </a:t>
            </a:r>
            <a:endParaRPr sz="2700" b="0" i="0" u="none" strike="noStrike" cap="none" dirty="0">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dirty="0">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chemeClr val="dk1"/>
              </a:buClr>
              <a:buSzPts val="1100"/>
              <a:buFont typeface="Arial"/>
              <a:buNone/>
            </a:pPr>
            <a:endParaRPr sz="2900" b="0" i="0" u="none" strike="noStrike" cap="none" dirty="0">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dirty="0">
              <a:solidFill>
                <a:schemeClr val="dk1"/>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900"/>
              <a:buFont typeface="Arial"/>
              <a:buNone/>
            </a:pPr>
            <a:endParaRPr sz="2900" b="0" i="0" u="none" strike="noStrike" cap="none" dirty="0">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dirty="0">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dirty="0">
              <a:solidFill>
                <a:srgbClr val="38761D"/>
              </a:solidFill>
              <a:latin typeface="Calibri"/>
              <a:ea typeface="Calibri"/>
              <a:cs typeface="Calibri"/>
              <a:sym typeface="Calibri"/>
            </a:endParaRPr>
          </a:p>
        </p:txBody>
      </p:sp>
      <p:sp>
        <p:nvSpPr>
          <p:cNvPr id="170" name="Google Shape;170;g2abac93716c_0_18"/>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fr-FR" sz="3200" b="1" i="0" u="none" strike="noStrike" cap="none">
                <a:solidFill>
                  <a:schemeClr val="dk1"/>
                </a:solidFill>
                <a:latin typeface="Calibri"/>
                <a:ea typeface="Calibri"/>
                <a:cs typeface="Calibri"/>
                <a:sym typeface="Calibri"/>
              </a:rPr>
              <a:t>1.1.2. Quantifier en sciences sociales </a:t>
            </a:r>
            <a:endParaRPr sz="3200" b="1"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2abac93716c_0_2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10</a:t>
            </a:fld>
            <a:endParaRPr sz="1000">
              <a:solidFill>
                <a:srgbClr val="808080"/>
              </a:solidFill>
              <a:latin typeface="Arial"/>
              <a:ea typeface="Arial"/>
              <a:cs typeface="Arial"/>
              <a:sym typeface="Arial"/>
            </a:endParaRPr>
          </a:p>
        </p:txBody>
      </p:sp>
      <p:sp>
        <p:nvSpPr>
          <p:cNvPr id="176" name="Google Shape;176;g2abac93716c_0_26"/>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342900" algn="l" rtl="0">
              <a:lnSpc>
                <a:spcPct val="100000"/>
              </a:lnSpc>
              <a:spcBef>
                <a:spcPts val="0"/>
              </a:spcBef>
              <a:spcAft>
                <a:spcPts val="0"/>
              </a:spcAft>
              <a:buClr>
                <a:schemeClr val="lt1"/>
              </a:buClr>
              <a:buSzPts val="1800"/>
              <a:buFont typeface="Calibri"/>
              <a:buAutoNum type="arabicPeriod"/>
            </a:pPr>
            <a:r>
              <a:rPr lang="fr-FR" sz="1800" b="0" i="0" u="none" strike="noStrike" cap="none">
                <a:solidFill>
                  <a:schemeClr val="lt1"/>
                </a:solidFill>
                <a:latin typeface="Calibri"/>
                <a:ea typeface="Calibri"/>
                <a:cs typeface="Calibri"/>
                <a:sym typeface="Calibri"/>
              </a:rPr>
              <a:t>Les méthodes quantitatives en sciences sociales : qu’est-ce que c’est ?</a:t>
            </a:r>
            <a:endParaRPr sz="1800" b="0" i="0" u="none" strike="noStrike" cap="none">
              <a:solidFill>
                <a:schemeClr val="lt1"/>
              </a:solidFill>
              <a:latin typeface="Calibri"/>
              <a:ea typeface="Calibri"/>
              <a:cs typeface="Calibri"/>
              <a:sym typeface="Calibri"/>
            </a:endParaRPr>
          </a:p>
        </p:txBody>
      </p:sp>
      <p:sp>
        <p:nvSpPr>
          <p:cNvPr id="177" name="Google Shape;177;g2abac93716c_0_26"/>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178" name="Google Shape;178;g2abac93716c_0_26"/>
          <p:cNvSpPr txBox="1"/>
          <p:nvPr/>
        </p:nvSpPr>
        <p:spPr>
          <a:xfrm>
            <a:off x="325421" y="1167875"/>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44450" marR="0" lvl="0" indent="0" algn="l" rtl="0">
              <a:lnSpc>
                <a:spcPct val="90000"/>
              </a:lnSpc>
              <a:spcBef>
                <a:spcPts val="25"/>
              </a:spcBef>
              <a:spcAft>
                <a:spcPts val="0"/>
              </a:spcAft>
              <a:buNone/>
            </a:pPr>
            <a:r>
              <a:rPr lang="fr-FR" sz="2900" b="0" i="0" u="none" strike="noStrike" cap="none">
                <a:solidFill>
                  <a:schemeClr val="dk1"/>
                </a:solidFill>
                <a:latin typeface="Calibri"/>
                <a:ea typeface="Calibri"/>
                <a:cs typeface="Calibri"/>
                <a:sym typeface="Calibri"/>
              </a:rPr>
              <a:t>En MQSS, il n’est pas nécessaire de faire appel à l’abstraction de manière aussi poussée qu’en mathématique. Le plus souvent, les logiciels de programmation se charge pour nous d’une grande partie de la formalisation mathématique. </a:t>
            </a:r>
            <a:endParaRPr/>
          </a:p>
          <a:p>
            <a:pPr marL="44450" marR="0" lvl="0" indent="0" algn="l" rtl="0">
              <a:lnSpc>
                <a:spcPct val="90000"/>
              </a:lnSpc>
              <a:spcBef>
                <a:spcPts val="25"/>
              </a:spcBef>
              <a:spcAft>
                <a:spcPts val="0"/>
              </a:spcAft>
              <a:buNone/>
            </a:pPr>
            <a:endParaRPr sz="2900" b="1" i="0" u="none" strike="noStrike" cap="none">
              <a:solidFill>
                <a:schemeClr val="dk1"/>
              </a:solidFill>
              <a:latin typeface="Calibri"/>
              <a:ea typeface="Calibri"/>
              <a:cs typeface="Calibri"/>
              <a:sym typeface="Calibri"/>
            </a:endParaRPr>
          </a:p>
          <a:p>
            <a:pPr marL="44450" marR="0" lvl="2" indent="0" algn="l" rtl="0">
              <a:lnSpc>
                <a:spcPct val="90000"/>
              </a:lnSpc>
              <a:spcBef>
                <a:spcPts val="25"/>
              </a:spcBef>
              <a:spcAft>
                <a:spcPts val="0"/>
              </a:spcAft>
              <a:buNone/>
            </a:pPr>
            <a:r>
              <a:rPr lang="fr-FR" sz="2900" b="1" i="0" u="none" strike="noStrike" cap="none">
                <a:solidFill>
                  <a:schemeClr val="dk1"/>
                </a:solidFill>
                <a:latin typeface="Calibri"/>
                <a:ea typeface="Calibri"/>
                <a:cs typeface="Calibri"/>
                <a:sym typeface="Calibri"/>
              </a:rPr>
              <a:t>	</a:t>
            </a:r>
            <a:endParaRPr/>
          </a:p>
          <a:p>
            <a:pPr marL="44450" marR="0" lvl="5" indent="0" algn="l" rtl="0">
              <a:lnSpc>
                <a:spcPct val="90000"/>
              </a:lnSpc>
              <a:spcBef>
                <a:spcPts val="25"/>
              </a:spcBef>
              <a:spcAft>
                <a:spcPts val="0"/>
              </a:spcAft>
              <a:buNone/>
            </a:pPr>
            <a:r>
              <a:rPr lang="fr-FR" sz="2400" b="1" i="0" u="none" strike="noStrike" cap="none">
                <a:solidFill>
                  <a:schemeClr val="dk1"/>
                </a:solidFill>
                <a:latin typeface="Calibri"/>
                <a:ea typeface="Calibri"/>
                <a:cs typeface="Calibri"/>
                <a:sym typeface="Calibri"/>
              </a:rPr>
              <a:t>	Visée exploratoire, descriptive et explicative</a:t>
            </a:r>
            <a:r>
              <a:rPr lang="fr-FR" sz="2400" b="0" i="0" u="none" strike="noStrike" cap="none">
                <a:solidFill>
                  <a:schemeClr val="dk1"/>
                </a:solidFill>
                <a:latin typeface="Calibri"/>
                <a:ea typeface="Calibri"/>
                <a:cs typeface="Calibri"/>
                <a:sym typeface="Calibri"/>
              </a:rPr>
              <a:t> en MQSS, 	en partant de données concrètes, empiriques collectées sur un terrain plus ou moins élargi</a:t>
            </a:r>
            <a:endParaRPr sz="2400" b="0" i="0" u="none" strike="noStrike" cap="none">
              <a:solidFill>
                <a:schemeClr val="dk1"/>
              </a:solidFill>
              <a:latin typeface="Calibri"/>
              <a:ea typeface="Calibri"/>
              <a:cs typeface="Calibri"/>
              <a:sym typeface="Calibri"/>
            </a:endParaRPr>
          </a:p>
          <a:p>
            <a:pPr marL="457200" marR="0" lvl="2" indent="0" algn="l" rtl="0">
              <a:lnSpc>
                <a:spcPct val="90000"/>
              </a:lnSpc>
              <a:spcBef>
                <a:spcPts val="25"/>
              </a:spcBef>
              <a:spcAft>
                <a:spcPts val="0"/>
              </a:spcAft>
              <a:buNone/>
            </a:pPr>
            <a:endParaRPr sz="2900" b="0" i="0" u="none" strike="noStrike" cap="none">
              <a:solidFill>
                <a:schemeClr val="dk1"/>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p:txBody>
      </p:sp>
      <p:sp>
        <p:nvSpPr>
          <p:cNvPr id="179" name="Google Shape;179;g2abac93716c_0_26"/>
          <p:cNvSpPr/>
          <p:nvPr/>
        </p:nvSpPr>
        <p:spPr>
          <a:xfrm>
            <a:off x="169400" y="4814428"/>
            <a:ext cx="629400" cy="428400"/>
          </a:xfrm>
          <a:prstGeom prst="rightArrow">
            <a:avLst>
              <a:gd name="adj1" fmla="val 50000"/>
              <a:gd name="adj2" fmla="val 50000"/>
            </a:avLst>
          </a:prstGeom>
          <a:solidFill>
            <a:schemeClr val="accen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0" name="Google Shape;180;g2abac93716c_0_26"/>
          <p:cNvSpPr txBox="1"/>
          <p:nvPr/>
        </p:nvSpPr>
        <p:spPr>
          <a:xfrm>
            <a:off x="635281" y="1191444"/>
            <a:ext cx="8051469" cy="480131"/>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2800"/>
              <a:buFont typeface="Arial"/>
              <a:buNone/>
            </a:pPr>
            <a:r>
              <a:rPr lang="fr-FR" sz="2800" b="0" i="0" u="none" strike="noStrike" cap="none">
                <a:solidFill>
                  <a:srgbClr val="FF0000"/>
                </a:solidFill>
                <a:latin typeface="Calibri"/>
                <a:ea typeface="Calibri"/>
                <a:cs typeface="Calibri"/>
                <a:sym typeface="Calibri"/>
              </a:rPr>
              <a:t>Utiliser des méthodes quantitatives ≠ Mathématiser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2ab55a4ceb1_0_4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11</a:t>
            </a:fld>
            <a:endParaRPr sz="1000">
              <a:solidFill>
                <a:srgbClr val="808080"/>
              </a:solidFill>
              <a:latin typeface="Arial"/>
              <a:ea typeface="Arial"/>
              <a:cs typeface="Arial"/>
              <a:sym typeface="Arial"/>
            </a:endParaRPr>
          </a:p>
        </p:txBody>
      </p:sp>
      <p:sp>
        <p:nvSpPr>
          <p:cNvPr id="186" name="Google Shape;186;g2ab55a4ceb1_0_48"/>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342900" algn="l" rtl="0">
              <a:lnSpc>
                <a:spcPct val="100000"/>
              </a:lnSpc>
              <a:spcBef>
                <a:spcPts val="0"/>
              </a:spcBef>
              <a:spcAft>
                <a:spcPts val="0"/>
              </a:spcAft>
              <a:buClr>
                <a:schemeClr val="lt1"/>
              </a:buClr>
              <a:buSzPts val="1800"/>
              <a:buFont typeface="Calibri"/>
              <a:buAutoNum type="arabicPeriod"/>
            </a:pPr>
            <a:r>
              <a:rPr lang="fr-FR" sz="1800" b="0" i="0" u="none" strike="noStrike" cap="none">
                <a:solidFill>
                  <a:schemeClr val="lt1"/>
                </a:solidFill>
                <a:latin typeface="Calibri"/>
                <a:ea typeface="Calibri"/>
                <a:cs typeface="Calibri"/>
                <a:sym typeface="Calibri"/>
              </a:rPr>
              <a:t>Les méthodes quantitatives en sciences sociales : qu’est-ce que c’est ?</a:t>
            </a:r>
            <a:endParaRPr sz="1800" b="0" i="0" u="none" strike="noStrike" cap="none">
              <a:solidFill>
                <a:schemeClr val="lt1"/>
              </a:solidFill>
              <a:latin typeface="Calibri"/>
              <a:ea typeface="Calibri"/>
              <a:cs typeface="Calibri"/>
              <a:sym typeface="Calibri"/>
            </a:endParaRPr>
          </a:p>
        </p:txBody>
      </p:sp>
      <p:sp>
        <p:nvSpPr>
          <p:cNvPr id="187" name="Google Shape;187;g2ab55a4ceb1_0_48"/>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188" name="Google Shape;188;g2ab55a4ceb1_0_48"/>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44450" marR="0" lvl="0" indent="0" algn="l" rtl="0">
              <a:lnSpc>
                <a:spcPct val="90000"/>
              </a:lnSpc>
              <a:spcBef>
                <a:spcPts val="25"/>
              </a:spcBef>
              <a:spcAft>
                <a:spcPts val="0"/>
              </a:spcAft>
              <a:buNone/>
            </a:pPr>
            <a:endParaRPr sz="2900" b="0" i="0" u="none" strike="noStrike" cap="none">
              <a:solidFill>
                <a:schemeClr val="dk1"/>
              </a:solidFill>
              <a:latin typeface="Calibri"/>
              <a:ea typeface="Calibri"/>
              <a:cs typeface="Calibri"/>
              <a:sym typeface="Calibri"/>
            </a:endParaRPr>
          </a:p>
          <a:p>
            <a:pPr marL="44450" marR="0" lvl="0" indent="0" algn="l" rtl="0">
              <a:lnSpc>
                <a:spcPct val="90000"/>
              </a:lnSpc>
              <a:spcBef>
                <a:spcPts val="25"/>
              </a:spcBef>
              <a:spcAft>
                <a:spcPts val="0"/>
              </a:spcAft>
              <a:buNone/>
            </a:pPr>
            <a:r>
              <a:rPr lang="fr-FR" sz="2900" b="0" i="0" u="none" strike="noStrike" cap="none">
                <a:solidFill>
                  <a:schemeClr val="dk1"/>
                </a:solidFill>
                <a:latin typeface="Calibri"/>
                <a:ea typeface="Calibri"/>
                <a:cs typeface="Calibri"/>
                <a:sym typeface="Calibri"/>
              </a:rPr>
              <a:t>La quantification renvoie à un </a:t>
            </a:r>
            <a:r>
              <a:rPr lang="fr-FR" sz="2900" b="1" i="0" u="none" strike="noStrike" cap="none">
                <a:solidFill>
                  <a:schemeClr val="dk1"/>
                </a:solidFill>
                <a:latin typeface="Calibri"/>
                <a:ea typeface="Calibri"/>
                <a:cs typeface="Calibri"/>
                <a:sym typeface="Calibri"/>
              </a:rPr>
              <a:t>processus de codage d’informations</a:t>
            </a:r>
            <a:r>
              <a:rPr lang="fr-FR" sz="2900" b="0" i="0" u="none" strike="noStrike" cap="none">
                <a:solidFill>
                  <a:schemeClr val="dk1"/>
                </a:solidFill>
                <a:latin typeface="Calibri"/>
                <a:ea typeface="Calibri"/>
                <a:cs typeface="Calibri"/>
                <a:sym typeface="Calibri"/>
              </a:rPr>
              <a:t> qui permet de synthétiser et de traiter ces informations avec des outils statistiques et mathématiques</a:t>
            </a:r>
            <a:endParaRPr sz="2900" b="0" i="0" u="none" strike="noStrike" cap="none">
              <a:solidFill>
                <a:schemeClr val="dk1"/>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p:txBody>
      </p:sp>
      <p:sp>
        <p:nvSpPr>
          <p:cNvPr id="189" name="Google Shape;189;g2ab55a4ceb1_0_48"/>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190" name="Google Shape;190;g2ab55a4ceb1_0_48"/>
          <p:cNvSpPr txBox="1"/>
          <p:nvPr/>
        </p:nvSpPr>
        <p:spPr>
          <a:xfrm>
            <a:off x="635281" y="1191444"/>
            <a:ext cx="8051469" cy="480131"/>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2800"/>
              <a:buFont typeface="Arial"/>
              <a:buNone/>
            </a:pPr>
            <a:r>
              <a:rPr lang="fr-FR" sz="2800" b="0" i="0" u="none" strike="noStrike" cap="none">
                <a:solidFill>
                  <a:srgbClr val="FF0000"/>
                </a:solidFill>
                <a:latin typeface="Calibri"/>
                <a:ea typeface="Calibri"/>
                <a:cs typeface="Calibri"/>
                <a:sym typeface="Calibri"/>
              </a:rPr>
              <a:t>Utiliser des méthodes quantitatives ≠ Mathématiser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2abac93716c_0_3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12</a:t>
            </a:fld>
            <a:endParaRPr sz="1000">
              <a:solidFill>
                <a:srgbClr val="808080"/>
              </a:solidFill>
              <a:latin typeface="Arial"/>
              <a:ea typeface="Arial"/>
              <a:cs typeface="Arial"/>
              <a:sym typeface="Arial"/>
            </a:endParaRPr>
          </a:p>
        </p:txBody>
      </p:sp>
      <p:sp>
        <p:nvSpPr>
          <p:cNvPr id="196" name="Google Shape;196;g2abac93716c_0_34"/>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342900" algn="l" rtl="0">
              <a:lnSpc>
                <a:spcPct val="100000"/>
              </a:lnSpc>
              <a:spcBef>
                <a:spcPts val="0"/>
              </a:spcBef>
              <a:spcAft>
                <a:spcPts val="0"/>
              </a:spcAft>
              <a:buClr>
                <a:schemeClr val="lt1"/>
              </a:buClr>
              <a:buSzPts val="1800"/>
              <a:buFont typeface="Calibri"/>
              <a:buAutoNum type="arabicPeriod"/>
            </a:pPr>
            <a:r>
              <a:rPr lang="fr-FR" sz="1800" b="0" i="0" u="none" strike="noStrike" cap="none">
                <a:solidFill>
                  <a:schemeClr val="lt1"/>
                </a:solidFill>
                <a:latin typeface="Calibri"/>
                <a:ea typeface="Calibri"/>
                <a:cs typeface="Calibri"/>
                <a:sym typeface="Calibri"/>
              </a:rPr>
              <a:t>Les méthodes quantitatives en sciences sociales : qu’est-ce que c’est ?</a:t>
            </a:r>
            <a:endParaRPr sz="1800" b="0" i="0" u="none" strike="noStrike" cap="none">
              <a:solidFill>
                <a:schemeClr val="lt1"/>
              </a:solidFill>
              <a:latin typeface="Calibri"/>
              <a:ea typeface="Calibri"/>
              <a:cs typeface="Calibri"/>
              <a:sym typeface="Calibri"/>
            </a:endParaRPr>
          </a:p>
        </p:txBody>
      </p:sp>
      <p:sp>
        <p:nvSpPr>
          <p:cNvPr id="197" name="Google Shape;197;g2abac93716c_0_34"/>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198" name="Google Shape;198;g2abac93716c_0_34"/>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900"/>
              <a:buFont typeface="Arial"/>
              <a:buNone/>
            </a:pPr>
            <a:r>
              <a:rPr lang="fr-FR" sz="2900" b="0" i="0" u="none" strike="noStrike" cap="none">
                <a:solidFill>
                  <a:schemeClr val="dk1"/>
                </a:solidFill>
                <a:latin typeface="Calibri"/>
                <a:ea typeface="Calibri"/>
                <a:cs typeface="Calibri"/>
                <a:sym typeface="Calibri"/>
              </a:rPr>
              <a:t>Il est possible de quantifier beaucoup de choses dans le monde social, à commencer par… soi !</a:t>
            </a: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457200" marR="0" lvl="0" indent="-412750" algn="l" rtl="0">
              <a:lnSpc>
                <a:spcPct val="90000"/>
              </a:lnSpc>
              <a:spcBef>
                <a:spcPts val="25"/>
              </a:spcBef>
              <a:spcAft>
                <a:spcPts val="0"/>
              </a:spcAft>
              <a:buClr>
                <a:schemeClr val="dk1"/>
              </a:buClr>
              <a:buSzPts val="2900"/>
              <a:buFont typeface="Calibri"/>
              <a:buChar char="➔"/>
            </a:pPr>
            <a:r>
              <a:rPr lang="fr-FR" sz="2900" b="0" i="0" u="none" strike="noStrike" cap="none">
                <a:solidFill>
                  <a:schemeClr val="dk1"/>
                </a:solidFill>
                <a:latin typeface="Calibri"/>
                <a:ea typeface="Calibri"/>
                <a:cs typeface="Calibri"/>
                <a:sym typeface="Calibri"/>
              </a:rPr>
              <a:t>notion de “Quantified self” ou “</a:t>
            </a:r>
            <a:r>
              <a:rPr lang="fr-FR" sz="2900" b="1" i="0" u="none" strike="noStrike" cap="none">
                <a:solidFill>
                  <a:schemeClr val="dk1"/>
                </a:solidFill>
                <a:latin typeface="Calibri"/>
                <a:ea typeface="Calibri"/>
                <a:cs typeface="Calibri"/>
                <a:sym typeface="Calibri"/>
              </a:rPr>
              <a:t>Quantification de soi</a:t>
            </a:r>
            <a:r>
              <a:rPr lang="fr-FR" sz="2900" b="0" i="0" u="none" strike="noStrike" cap="none">
                <a:solidFill>
                  <a:schemeClr val="dk1"/>
                </a:solidFill>
                <a:latin typeface="Calibri"/>
                <a:ea typeface="Calibri"/>
                <a:cs typeface="Calibri"/>
                <a:sym typeface="Calibri"/>
              </a:rPr>
              <a:t>”, un champ de recherche en plein essor avec le développement des nouvelles technologies (Dagiral et al, 2019). </a:t>
            </a: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900"/>
              <a:buFont typeface="Arial"/>
              <a:buNone/>
            </a:pPr>
            <a:endParaRPr sz="2900" b="0" i="0" u="none" strike="noStrike" cap="none">
              <a:solidFill>
                <a:srgbClr val="38761D"/>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p:txBody>
      </p:sp>
      <p:sp>
        <p:nvSpPr>
          <p:cNvPr id="199" name="Google Shape;199;g2abac93716c_0_34"/>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fr-FR" sz="3200" b="1" i="0" u="none" strike="noStrike" cap="none">
                <a:solidFill>
                  <a:schemeClr val="dk1"/>
                </a:solidFill>
                <a:latin typeface="Calibri"/>
                <a:ea typeface="Calibri"/>
                <a:cs typeface="Calibri"/>
                <a:sym typeface="Calibri"/>
              </a:rPr>
              <a:t>1.1.3. Que recueillir, que quantifier ?</a:t>
            </a:r>
            <a:endParaRPr sz="3200" b="1"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g2abbb0daa57_0_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13</a:t>
            </a:fld>
            <a:endParaRPr sz="1000">
              <a:solidFill>
                <a:srgbClr val="808080"/>
              </a:solidFill>
              <a:latin typeface="Arial"/>
              <a:ea typeface="Arial"/>
              <a:cs typeface="Arial"/>
              <a:sym typeface="Arial"/>
            </a:endParaRPr>
          </a:p>
        </p:txBody>
      </p:sp>
      <p:sp>
        <p:nvSpPr>
          <p:cNvPr id="205" name="Google Shape;205;g2abbb0daa57_0_0"/>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342900" algn="l" rtl="0">
              <a:lnSpc>
                <a:spcPct val="100000"/>
              </a:lnSpc>
              <a:spcBef>
                <a:spcPts val="0"/>
              </a:spcBef>
              <a:spcAft>
                <a:spcPts val="0"/>
              </a:spcAft>
              <a:buClr>
                <a:schemeClr val="lt1"/>
              </a:buClr>
              <a:buSzPts val="1800"/>
              <a:buFont typeface="Calibri"/>
              <a:buAutoNum type="arabicPeriod"/>
            </a:pPr>
            <a:r>
              <a:rPr lang="fr-FR" sz="1800" b="0" i="0" u="none" strike="noStrike" cap="none">
                <a:solidFill>
                  <a:schemeClr val="lt1"/>
                </a:solidFill>
                <a:latin typeface="Calibri"/>
                <a:ea typeface="Calibri"/>
                <a:cs typeface="Calibri"/>
                <a:sym typeface="Calibri"/>
              </a:rPr>
              <a:t>Les méthodes quantitatives en sciences sociales : qu’est-ce que c’est ?</a:t>
            </a:r>
            <a:endParaRPr sz="1800" b="0" i="0" u="none" strike="noStrike" cap="none">
              <a:solidFill>
                <a:schemeClr val="lt1"/>
              </a:solidFill>
              <a:latin typeface="Calibri"/>
              <a:ea typeface="Calibri"/>
              <a:cs typeface="Calibri"/>
              <a:sym typeface="Calibri"/>
            </a:endParaRPr>
          </a:p>
        </p:txBody>
      </p:sp>
      <p:sp>
        <p:nvSpPr>
          <p:cNvPr id="206" name="Google Shape;206;g2abbb0daa57_0_0"/>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207" name="Google Shape;207;g2abbb0daa57_0_0"/>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r>
              <a:rPr lang="fr-FR" sz="2900" b="0" i="0" u="none" strike="noStrike" cap="none">
                <a:solidFill>
                  <a:srgbClr val="38761D"/>
                </a:solidFill>
                <a:latin typeface="Calibri"/>
                <a:ea typeface="Calibri"/>
                <a:cs typeface="Calibri"/>
                <a:sym typeface="Calibri"/>
              </a:rPr>
              <a:t>Donnez des exemples d’applications qui permettent de “se quantifier” ou de quantifier ses pratiques</a:t>
            </a:r>
            <a:endParaRPr sz="2900" b="0" i="0" u="none" strike="noStrike" cap="none">
              <a:solidFill>
                <a:srgbClr val="38761D"/>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rgbClr val="38761D"/>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900"/>
              <a:buFont typeface="Arial"/>
              <a:buNone/>
            </a:pPr>
            <a:endParaRPr sz="2900" b="0" i="0" u="none" strike="noStrike" cap="none">
              <a:solidFill>
                <a:srgbClr val="38761D"/>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p:txBody>
      </p:sp>
      <p:sp>
        <p:nvSpPr>
          <p:cNvPr id="208" name="Google Shape;208;g2abbb0daa57_0_0"/>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Clr>
                <a:srgbClr val="000000"/>
              </a:buClr>
              <a:buSzPts val="3200"/>
              <a:buFont typeface="Arial"/>
              <a:buNone/>
            </a:pPr>
            <a:endParaRPr sz="3200" b="1"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g2d75bd79b03_0_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14</a:t>
            </a:fld>
            <a:endParaRPr sz="1000">
              <a:solidFill>
                <a:srgbClr val="808080"/>
              </a:solidFill>
              <a:latin typeface="Arial"/>
              <a:ea typeface="Arial"/>
              <a:cs typeface="Arial"/>
              <a:sym typeface="Arial"/>
            </a:endParaRPr>
          </a:p>
        </p:txBody>
      </p:sp>
      <p:sp>
        <p:nvSpPr>
          <p:cNvPr id="214" name="Google Shape;214;g2d75bd79b03_0_7"/>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342900" algn="l" rtl="0">
              <a:lnSpc>
                <a:spcPct val="100000"/>
              </a:lnSpc>
              <a:spcBef>
                <a:spcPts val="0"/>
              </a:spcBef>
              <a:spcAft>
                <a:spcPts val="0"/>
              </a:spcAft>
              <a:buClr>
                <a:schemeClr val="lt1"/>
              </a:buClr>
              <a:buSzPts val="1800"/>
              <a:buFont typeface="Calibri"/>
              <a:buAutoNum type="arabicPeriod"/>
            </a:pPr>
            <a:r>
              <a:rPr lang="fr-FR" sz="1800" b="0" i="0" u="none" strike="noStrike" cap="none">
                <a:solidFill>
                  <a:schemeClr val="lt1"/>
                </a:solidFill>
                <a:latin typeface="Calibri"/>
                <a:ea typeface="Calibri"/>
                <a:cs typeface="Calibri"/>
                <a:sym typeface="Calibri"/>
              </a:rPr>
              <a:t>Les méthodes quantitatives en sciences sociales : qu’est-ce que c’est ?</a:t>
            </a:r>
            <a:endParaRPr sz="1800" b="0" i="0" u="none" strike="noStrike" cap="none">
              <a:solidFill>
                <a:schemeClr val="lt1"/>
              </a:solidFill>
              <a:latin typeface="Calibri"/>
              <a:ea typeface="Calibri"/>
              <a:cs typeface="Calibri"/>
              <a:sym typeface="Calibri"/>
            </a:endParaRPr>
          </a:p>
        </p:txBody>
      </p:sp>
      <p:sp>
        <p:nvSpPr>
          <p:cNvPr id="215" name="Google Shape;215;g2d75bd79b03_0_7"/>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216" name="Google Shape;216;g2d75bd79b03_0_7"/>
          <p:cNvSpPr txBox="1"/>
          <p:nvPr/>
        </p:nvSpPr>
        <p:spPr>
          <a:xfrm>
            <a:off x="467650" y="1355975"/>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r>
              <a:rPr lang="fr-FR" sz="2900" b="0" i="0" u="none" strike="noStrike" cap="none">
                <a:solidFill>
                  <a:srgbClr val="38761D"/>
                </a:solidFill>
                <a:latin typeface="Calibri"/>
                <a:ea typeface="Calibri"/>
                <a:cs typeface="Calibri"/>
                <a:sym typeface="Calibri"/>
              </a:rPr>
              <a:t>Donnez des exemples d’applications qui permettent de “se quantifier” ou de quantifier ses pratiques</a:t>
            </a:r>
            <a:endParaRPr sz="2900" b="0" i="0" u="none" strike="noStrike" cap="none">
              <a:solidFill>
                <a:srgbClr val="38761D"/>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rgbClr val="38761D"/>
              </a:solidFill>
              <a:latin typeface="Calibri"/>
              <a:ea typeface="Calibri"/>
              <a:cs typeface="Calibri"/>
              <a:sym typeface="Calibri"/>
            </a:endParaRPr>
          </a:p>
          <a:p>
            <a:pPr marL="457200" marR="0" lvl="0" indent="-412750" algn="l" rtl="0">
              <a:lnSpc>
                <a:spcPct val="90000"/>
              </a:lnSpc>
              <a:spcBef>
                <a:spcPts val="25"/>
              </a:spcBef>
              <a:spcAft>
                <a:spcPts val="0"/>
              </a:spcAft>
              <a:buClr>
                <a:schemeClr val="dk1"/>
              </a:buClr>
              <a:buSzPts val="2900"/>
              <a:buFont typeface="Calibri"/>
              <a:buChar char="➔"/>
            </a:pPr>
            <a:r>
              <a:rPr lang="fr-FR" sz="2900" b="0" i="0" u="none" strike="noStrike" cap="none">
                <a:solidFill>
                  <a:schemeClr val="dk1"/>
                </a:solidFill>
                <a:latin typeface="Calibri"/>
                <a:ea typeface="Calibri"/>
                <a:cs typeface="Calibri"/>
                <a:sym typeface="Calibri"/>
              </a:rPr>
              <a:t>Applications de running, montres intelligentes mesurant la fréquence cardiaque, applications menstruelles, ou même Spotify et ses Rétrospectives</a:t>
            </a:r>
            <a:r>
              <a:rPr lang="fr-FR" sz="2900">
                <a:solidFill>
                  <a:schemeClr val="dk1"/>
                </a:solidFill>
                <a:latin typeface="Calibri"/>
                <a:ea typeface="Calibri"/>
                <a:cs typeface="Calibri"/>
                <a:sym typeface="Calibri"/>
              </a:rPr>
              <a:t>…</a:t>
            </a:r>
            <a:endParaRPr sz="2900">
              <a:solidFill>
                <a:schemeClr val="dk1"/>
              </a:solidFill>
              <a:latin typeface="Calibri"/>
              <a:ea typeface="Calibri"/>
              <a:cs typeface="Calibri"/>
              <a:sym typeface="Calibri"/>
            </a:endParaRPr>
          </a:p>
          <a:p>
            <a:pPr marL="457200" marR="0" lvl="0" indent="0" algn="l" rtl="0">
              <a:lnSpc>
                <a:spcPct val="90000"/>
              </a:lnSpc>
              <a:spcBef>
                <a:spcPts val="25"/>
              </a:spcBef>
              <a:spcAft>
                <a:spcPts val="0"/>
              </a:spcAft>
              <a:buNone/>
            </a:pPr>
            <a:endParaRPr sz="2900">
              <a:solidFill>
                <a:schemeClr val="dk1"/>
              </a:solidFill>
              <a:latin typeface="Calibri"/>
              <a:ea typeface="Calibri"/>
              <a:cs typeface="Calibri"/>
              <a:sym typeface="Calibri"/>
            </a:endParaRPr>
          </a:p>
          <a:p>
            <a:pPr marL="457200" marR="0" lvl="0" indent="-412750" algn="l" rtl="0">
              <a:lnSpc>
                <a:spcPct val="90000"/>
              </a:lnSpc>
              <a:spcBef>
                <a:spcPts val="25"/>
              </a:spcBef>
              <a:spcAft>
                <a:spcPts val="0"/>
              </a:spcAft>
              <a:buClr>
                <a:schemeClr val="dk1"/>
              </a:buClr>
              <a:buSzPts val="2900"/>
              <a:buFont typeface="Calibri"/>
              <a:buChar char="➔"/>
            </a:pPr>
            <a:r>
              <a:rPr lang="fr-FR" sz="2900">
                <a:solidFill>
                  <a:schemeClr val="dk1"/>
                </a:solidFill>
                <a:latin typeface="Calibri"/>
                <a:ea typeface="Calibri"/>
                <a:cs typeface="Calibri"/>
                <a:sym typeface="Calibri"/>
              </a:rPr>
              <a:t>Une pratique de la quantification qui peut en retour avoir des effets sur les comportements et les perceptions (sociologie de la quantification, Dagiral et al.)</a:t>
            </a:r>
            <a:endParaRPr sz="2900">
              <a:solidFill>
                <a:schemeClr val="dk1"/>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900"/>
              <a:buFont typeface="Arial"/>
              <a:buNone/>
            </a:pPr>
            <a:endParaRPr sz="2900" b="0" i="0" u="none" strike="noStrike" cap="none">
              <a:solidFill>
                <a:srgbClr val="38761D"/>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p:txBody>
      </p:sp>
      <p:sp>
        <p:nvSpPr>
          <p:cNvPr id="217" name="Google Shape;217;g2d75bd79b03_0_7"/>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Clr>
                <a:srgbClr val="000000"/>
              </a:buClr>
              <a:buSzPts val="3200"/>
              <a:buFont typeface="Arial"/>
              <a:buNone/>
            </a:pPr>
            <a:endParaRPr sz="3200" b="1"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2a994f7876f_0_8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15</a:t>
            </a:fld>
            <a:endParaRPr sz="1000">
              <a:solidFill>
                <a:srgbClr val="808080"/>
              </a:solidFill>
              <a:latin typeface="Arial"/>
              <a:ea typeface="Arial"/>
              <a:cs typeface="Arial"/>
              <a:sym typeface="Arial"/>
            </a:endParaRPr>
          </a:p>
        </p:txBody>
      </p:sp>
      <p:sp>
        <p:nvSpPr>
          <p:cNvPr id="223" name="Google Shape;223;g2a994f7876f_0_88"/>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342900" algn="l" rtl="0">
              <a:lnSpc>
                <a:spcPct val="100000"/>
              </a:lnSpc>
              <a:spcBef>
                <a:spcPts val="0"/>
              </a:spcBef>
              <a:spcAft>
                <a:spcPts val="0"/>
              </a:spcAft>
              <a:buClr>
                <a:schemeClr val="lt1"/>
              </a:buClr>
              <a:buSzPts val="1800"/>
              <a:buFont typeface="Calibri"/>
              <a:buAutoNum type="arabicPeriod"/>
            </a:pPr>
            <a:r>
              <a:rPr lang="fr-FR" sz="1800" b="0" i="0" u="none" strike="noStrike" cap="none">
                <a:solidFill>
                  <a:schemeClr val="lt1"/>
                </a:solidFill>
                <a:latin typeface="Calibri"/>
                <a:ea typeface="Calibri"/>
                <a:cs typeface="Calibri"/>
                <a:sym typeface="Calibri"/>
              </a:rPr>
              <a:t>Les méthodes quantitatives en sciences sociales : qu’est-ce que c’est ?</a:t>
            </a:r>
            <a:endParaRPr sz="1800" b="0" i="0" u="none" strike="noStrike" cap="none">
              <a:solidFill>
                <a:schemeClr val="lt1"/>
              </a:solidFill>
              <a:latin typeface="Calibri"/>
              <a:ea typeface="Calibri"/>
              <a:cs typeface="Calibri"/>
              <a:sym typeface="Calibri"/>
            </a:endParaRPr>
          </a:p>
        </p:txBody>
      </p:sp>
      <p:sp>
        <p:nvSpPr>
          <p:cNvPr id="224" name="Google Shape;224;g2a994f7876f_0_88"/>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225" name="Google Shape;225;g2a994f7876f_0_88"/>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chemeClr val="dk1"/>
              </a:buClr>
              <a:buSzPts val="1100"/>
              <a:buFont typeface="Arial"/>
              <a:buNone/>
            </a:pPr>
            <a:endParaRPr sz="3200" b="1" i="0" u="none" strike="noStrike" cap="none" dirty="0">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chemeClr val="dk1"/>
              </a:buClr>
              <a:buSzPts val="1100"/>
              <a:buFont typeface="Arial"/>
              <a:buNone/>
            </a:pPr>
            <a:r>
              <a:rPr lang="fr-FR" sz="2900" b="0" i="0" u="none" strike="noStrike" cap="none" dirty="0">
                <a:solidFill>
                  <a:schemeClr val="dk1"/>
                </a:solidFill>
                <a:latin typeface="Calibri"/>
                <a:ea typeface="Calibri"/>
                <a:cs typeface="Calibri"/>
                <a:sym typeface="Calibri"/>
              </a:rPr>
              <a:t>L’usage des applications mais aussi des réseaux sociaux génère beaucoup de données. Celles-ci peuvent être ainsi utilisées dans le cadre du </a:t>
            </a:r>
            <a:r>
              <a:rPr lang="fr-FR" sz="2900" b="1" i="0" u="none" strike="noStrike" cap="none" dirty="0">
                <a:solidFill>
                  <a:schemeClr val="dk1"/>
                </a:solidFill>
                <a:latin typeface="Calibri"/>
                <a:ea typeface="Calibri"/>
                <a:cs typeface="Calibri"/>
                <a:sym typeface="Calibri"/>
              </a:rPr>
              <a:t>web-</a:t>
            </a:r>
            <a:r>
              <a:rPr lang="fr-FR" sz="2900" b="1" i="0" u="none" strike="noStrike" cap="none" dirty="0" err="1">
                <a:solidFill>
                  <a:schemeClr val="dk1"/>
                </a:solidFill>
                <a:latin typeface="Calibri"/>
                <a:ea typeface="Calibri"/>
                <a:cs typeface="Calibri"/>
                <a:sym typeface="Calibri"/>
              </a:rPr>
              <a:t>scraping</a:t>
            </a:r>
            <a:r>
              <a:rPr lang="fr-FR" sz="2900" b="1" i="0" u="none" strike="noStrike" cap="none" dirty="0">
                <a:solidFill>
                  <a:schemeClr val="dk1"/>
                </a:solidFill>
                <a:latin typeface="Calibri"/>
                <a:ea typeface="Calibri"/>
                <a:cs typeface="Calibri"/>
                <a:sym typeface="Calibri"/>
              </a:rPr>
              <a:t> </a:t>
            </a:r>
            <a:r>
              <a:rPr lang="fr-FR" sz="2900" b="0" i="0" u="none" strike="noStrike" cap="none" dirty="0">
                <a:solidFill>
                  <a:schemeClr val="dk1"/>
                </a:solidFill>
                <a:latin typeface="Calibri"/>
                <a:ea typeface="Calibri"/>
                <a:cs typeface="Calibri"/>
                <a:sym typeface="Calibri"/>
              </a:rPr>
              <a:t>(= aspirer des données disponibles sur Internet)</a:t>
            </a:r>
            <a:endParaRPr sz="2900" b="0" i="0" u="none" strike="noStrike" cap="none" dirty="0">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dirty="0">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r>
              <a:rPr lang="fr-FR" sz="2900" b="0" i="0" u="none" strike="noStrike" cap="none" dirty="0">
                <a:solidFill>
                  <a:srgbClr val="38761D"/>
                </a:solidFill>
                <a:latin typeface="Calibri"/>
                <a:ea typeface="Calibri"/>
                <a:cs typeface="Calibri"/>
                <a:sym typeface="Calibri"/>
              </a:rPr>
              <a:t>Des exemples ?</a:t>
            </a:r>
            <a:endParaRPr sz="2900" b="0" i="0" u="none" strike="noStrike" cap="none" dirty="0">
              <a:solidFill>
                <a:srgbClr val="38761D"/>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900"/>
              <a:buFont typeface="Arial"/>
              <a:buNone/>
            </a:pPr>
            <a:endParaRPr sz="2900" b="0" i="0" u="none" strike="noStrike" cap="none" dirty="0">
              <a:solidFill>
                <a:schemeClr val="dk1"/>
              </a:solidFill>
              <a:latin typeface="Calibri"/>
              <a:ea typeface="Calibri"/>
              <a:cs typeface="Calibri"/>
              <a:sym typeface="Calibri"/>
            </a:endParaRPr>
          </a:p>
        </p:txBody>
      </p:sp>
      <p:sp>
        <p:nvSpPr>
          <p:cNvPr id="226" name="Google Shape;226;g2a994f7876f_0_88"/>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fr-FR" sz="3200" b="1" i="0" u="none" strike="noStrike" cap="none">
                <a:solidFill>
                  <a:schemeClr val="dk1"/>
                </a:solidFill>
                <a:latin typeface="Calibri"/>
                <a:ea typeface="Calibri"/>
                <a:cs typeface="Calibri"/>
                <a:sym typeface="Calibri"/>
              </a:rPr>
              <a:t>Le web-scraping</a:t>
            </a:r>
            <a:endParaRPr sz="3200" b="1"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g2abbb0daa57_0_5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16</a:t>
            </a:fld>
            <a:endParaRPr sz="1000">
              <a:solidFill>
                <a:srgbClr val="808080"/>
              </a:solidFill>
              <a:latin typeface="Arial"/>
              <a:ea typeface="Arial"/>
              <a:cs typeface="Arial"/>
              <a:sym typeface="Arial"/>
            </a:endParaRPr>
          </a:p>
        </p:txBody>
      </p:sp>
      <p:sp>
        <p:nvSpPr>
          <p:cNvPr id="232" name="Google Shape;232;g2abbb0daa57_0_57"/>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342900" algn="l" rtl="0">
              <a:lnSpc>
                <a:spcPct val="100000"/>
              </a:lnSpc>
              <a:spcBef>
                <a:spcPts val="0"/>
              </a:spcBef>
              <a:spcAft>
                <a:spcPts val="0"/>
              </a:spcAft>
              <a:buClr>
                <a:schemeClr val="lt1"/>
              </a:buClr>
              <a:buSzPts val="1800"/>
              <a:buFont typeface="Calibri"/>
              <a:buAutoNum type="arabicPeriod"/>
            </a:pPr>
            <a:r>
              <a:rPr lang="fr-FR" sz="1800" b="0" i="0" u="none" strike="noStrike" cap="none">
                <a:solidFill>
                  <a:schemeClr val="lt1"/>
                </a:solidFill>
                <a:latin typeface="Calibri"/>
                <a:ea typeface="Calibri"/>
                <a:cs typeface="Calibri"/>
                <a:sym typeface="Calibri"/>
              </a:rPr>
              <a:t>Les méthodes quantitatives en sciences sociales : qu’est-ce que c’est ?</a:t>
            </a:r>
            <a:endParaRPr sz="1800" b="0" i="0" u="none" strike="noStrike" cap="none">
              <a:solidFill>
                <a:schemeClr val="lt1"/>
              </a:solidFill>
              <a:latin typeface="Calibri"/>
              <a:ea typeface="Calibri"/>
              <a:cs typeface="Calibri"/>
              <a:sym typeface="Calibri"/>
            </a:endParaRPr>
          </a:p>
        </p:txBody>
      </p:sp>
      <p:sp>
        <p:nvSpPr>
          <p:cNvPr id="233" name="Google Shape;233;g2abbb0daa57_0_57"/>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234" name="Google Shape;234;g2abbb0daa57_0_57"/>
          <p:cNvSpPr txBox="1"/>
          <p:nvPr/>
        </p:nvSpPr>
        <p:spPr>
          <a:xfrm>
            <a:off x="100350" y="1846650"/>
            <a:ext cx="90438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r>
              <a:rPr lang="fr-FR" sz="2900" b="0" i="0" u="none" strike="noStrike" cap="none">
                <a:solidFill>
                  <a:srgbClr val="38761D"/>
                </a:solidFill>
                <a:latin typeface="Calibri"/>
                <a:ea typeface="Calibri"/>
                <a:cs typeface="Calibri"/>
                <a:sym typeface="Calibri"/>
              </a:rPr>
              <a:t>Des exemples ?</a:t>
            </a:r>
            <a:endParaRPr sz="2900" b="0" i="0" u="none" strike="noStrike" cap="none">
              <a:solidFill>
                <a:srgbClr val="38761D"/>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900"/>
              <a:buFont typeface="Arial"/>
              <a:buNone/>
            </a:pPr>
            <a:endParaRPr sz="2900" b="0" i="0" u="none" strike="noStrike" cap="none">
              <a:solidFill>
                <a:srgbClr val="38761D"/>
              </a:solidFill>
              <a:latin typeface="Calibri"/>
              <a:ea typeface="Calibri"/>
              <a:cs typeface="Calibri"/>
              <a:sym typeface="Calibri"/>
            </a:endParaRPr>
          </a:p>
          <a:p>
            <a:pPr marL="457200" marR="0" lvl="0" indent="-412750" algn="l" rtl="0">
              <a:lnSpc>
                <a:spcPct val="90000"/>
              </a:lnSpc>
              <a:spcBef>
                <a:spcPts val="25"/>
              </a:spcBef>
              <a:spcAft>
                <a:spcPts val="0"/>
              </a:spcAft>
              <a:buClr>
                <a:schemeClr val="dk1"/>
              </a:buClr>
              <a:buSzPts val="2900"/>
              <a:buFont typeface="Calibri"/>
              <a:buChar char="-"/>
            </a:pPr>
            <a:r>
              <a:rPr lang="fr-FR" sz="2900" b="0" i="0" u="none" strike="noStrike" cap="none">
                <a:solidFill>
                  <a:schemeClr val="dk1"/>
                </a:solidFill>
                <a:latin typeface="Calibri"/>
                <a:ea typeface="Calibri"/>
                <a:cs typeface="Calibri"/>
                <a:sym typeface="Calibri"/>
              </a:rPr>
              <a:t>Réseaux sociaux comme LinkedIn, Twitter, Facebook, Instagram,...</a:t>
            </a:r>
            <a:endParaRPr sz="2900" b="0" i="0" u="none" strike="noStrike" cap="none">
              <a:solidFill>
                <a:schemeClr val="dk1"/>
              </a:solidFill>
              <a:latin typeface="Calibri"/>
              <a:ea typeface="Calibri"/>
              <a:cs typeface="Calibri"/>
              <a:sym typeface="Calibri"/>
            </a:endParaRPr>
          </a:p>
          <a:p>
            <a:pPr marL="457200" marR="0" lvl="0" indent="-412750" algn="l" rtl="0">
              <a:lnSpc>
                <a:spcPct val="90000"/>
              </a:lnSpc>
              <a:spcBef>
                <a:spcPts val="0"/>
              </a:spcBef>
              <a:spcAft>
                <a:spcPts val="0"/>
              </a:spcAft>
              <a:buClr>
                <a:schemeClr val="dk1"/>
              </a:buClr>
              <a:buSzPts val="2900"/>
              <a:buFont typeface="Calibri"/>
              <a:buChar char="-"/>
            </a:pPr>
            <a:r>
              <a:rPr lang="fr-FR" sz="2900" b="0" i="0" u="none" strike="noStrike" cap="none">
                <a:solidFill>
                  <a:schemeClr val="dk1"/>
                </a:solidFill>
                <a:latin typeface="Calibri"/>
                <a:ea typeface="Calibri"/>
                <a:cs typeface="Calibri"/>
                <a:sym typeface="Calibri"/>
              </a:rPr>
              <a:t>Applications de rencontre</a:t>
            </a:r>
            <a:endParaRPr sz="2900" b="0" i="0" u="none" strike="noStrike" cap="none">
              <a:solidFill>
                <a:schemeClr val="dk1"/>
              </a:solidFill>
              <a:latin typeface="Calibri"/>
              <a:ea typeface="Calibri"/>
              <a:cs typeface="Calibri"/>
              <a:sym typeface="Calibri"/>
            </a:endParaRPr>
          </a:p>
          <a:p>
            <a:pPr marL="457200" marR="0" lvl="0" indent="-412750" algn="l" rtl="0">
              <a:lnSpc>
                <a:spcPct val="90000"/>
              </a:lnSpc>
              <a:spcBef>
                <a:spcPts val="0"/>
              </a:spcBef>
              <a:spcAft>
                <a:spcPts val="0"/>
              </a:spcAft>
              <a:buClr>
                <a:schemeClr val="dk1"/>
              </a:buClr>
              <a:buSzPts val="2900"/>
              <a:buFont typeface="Calibri"/>
              <a:buChar char="-"/>
            </a:pPr>
            <a:r>
              <a:rPr lang="fr-FR" sz="2900" b="0" i="0" u="none" strike="noStrike" cap="none">
                <a:solidFill>
                  <a:schemeClr val="dk1"/>
                </a:solidFill>
                <a:latin typeface="Calibri"/>
                <a:ea typeface="Calibri"/>
                <a:cs typeface="Calibri"/>
                <a:sym typeface="Calibri"/>
              </a:rPr>
              <a:t>…</a:t>
            </a: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0"/>
              </a:spcBef>
              <a:spcAft>
                <a:spcPts val="0"/>
              </a:spcAft>
              <a:buNone/>
            </a:pPr>
            <a:endParaRPr sz="2900">
              <a:solidFill>
                <a:schemeClr val="dk1"/>
              </a:solidFill>
              <a:latin typeface="Calibri"/>
              <a:ea typeface="Calibri"/>
              <a:cs typeface="Calibri"/>
              <a:sym typeface="Calibri"/>
            </a:endParaRPr>
          </a:p>
          <a:p>
            <a:pPr marL="0" marR="0" lvl="0" indent="0" algn="l" rtl="0">
              <a:lnSpc>
                <a:spcPct val="90000"/>
              </a:lnSpc>
              <a:spcBef>
                <a:spcPts val="0"/>
              </a:spcBef>
              <a:spcAft>
                <a:spcPts val="0"/>
              </a:spcAft>
              <a:buNone/>
            </a:pPr>
            <a:r>
              <a:rPr lang="fr-FR" sz="2900">
                <a:solidFill>
                  <a:schemeClr val="dk1"/>
                </a:solidFill>
                <a:latin typeface="Calibri"/>
                <a:ea typeface="Calibri"/>
                <a:cs typeface="Calibri"/>
                <a:sym typeface="Calibri"/>
              </a:rPr>
              <a:t>Peuvent être utilisées pour des études en sciences sociales: </a:t>
            </a:r>
            <a:endParaRPr sz="2900">
              <a:solidFill>
                <a:schemeClr val="dk1"/>
              </a:solidFill>
              <a:latin typeface="Calibri"/>
              <a:ea typeface="Calibri"/>
              <a:cs typeface="Calibri"/>
              <a:sym typeface="Calibri"/>
            </a:endParaRPr>
          </a:p>
          <a:p>
            <a:pPr marL="0" marR="0" lvl="0" indent="0" algn="l" rtl="0">
              <a:lnSpc>
                <a:spcPct val="90000"/>
              </a:lnSpc>
              <a:spcBef>
                <a:spcPts val="0"/>
              </a:spcBef>
              <a:spcAft>
                <a:spcPts val="0"/>
              </a:spcAft>
              <a:buNone/>
            </a:pPr>
            <a:r>
              <a:rPr lang="fr-FR" sz="2500">
                <a:solidFill>
                  <a:schemeClr val="dk1"/>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
                  </a:ext>
                </a:extLst>
              </a:rPr>
              <a:t>Marie Bergström,</a:t>
            </a:r>
            <a:r>
              <a:rPr lang="fr-FR" sz="2500" i="1">
                <a:solidFill>
                  <a:schemeClr val="dk1"/>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 Les nouvelles lois de l’amour</a:t>
            </a:r>
            <a:r>
              <a:rPr lang="fr-FR" sz="2500">
                <a:solidFill>
                  <a:schemeClr val="dk1"/>
                </a:solidFill>
                <a:latin typeface="Calibri"/>
                <a:ea typeface="Calibri"/>
                <a:cs typeface="Calibri"/>
                <a:sym typeface="Calibri"/>
              </a:rPr>
              <a:t>, 2019, le rôle des sites de rencontre avec des données de Meetic</a:t>
            </a:r>
            <a:endParaRPr sz="2500">
              <a:solidFill>
                <a:schemeClr val="dk1"/>
              </a:solidFill>
              <a:latin typeface="Calibri"/>
              <a:ea typeface="Calibri"/>
              <a:cs typeface="Calibri"/>
              <a:sym typeface="Calibri"/>
            </a:endParaRPr>
          </a:p>
          <a:p>
            <a:pPr marL="0" marR="0" lvl="0" indent="0" algn="l" rtl="0">
              <a:lnSpc>
                <a:spcPct val="90000"/>
              </a:lnSpc>
              <a:spcBef>
                <a:spcPts val="0"/>
              </a:spcBef>
              <a:spcAft>
                <a:spcPts val="0"/>
              </a:spcAft>
              <a:buNone/>
            </a:pPr>
            <a:endParaRPr sz="2900">
              <a:solidFill>
                <a:schemeClr val="dk1"/>
              </a:solidFill>
              <a:latin typeface="Calibri"/>
              <a:ea typeface="Calibri"/>
              <a:cs typeface="Calibri"/>
              <a:sym typeface="Calibri"/>
            </a:endParaRPr>
          </a:p>
          <a:p>
            <a:pPr marL="0" marR="0" lvl="0" indent="0" algn="l" rtl="0">
              <a:lnSpc>
                <a:spcPct val="90000"/>
              </a:lnSpc>
              <a:spcBef>
                <a:spcPts val="0"/>
              </a:spcBef>
              <a:spcAft>
                <a:spcPts val="0"/>
              </a:spcAft>
              <a:buNone/>
            </a:pPr>
            <a:endParaRPr sz="2900">
              <a:solidFill>
                <a:schemeClr val="dk1"/>
              </a:solidFill>
              <a:latin typeface="Calibri"/>
              <a:ea typeface="Calibri"/>
              <a:cs typeface="Calibri"/>
              <a:sym typeface="Calibri"/>
            </a:endParaRPr>
          </a:p>
        </p:txBody>
      </p:sp>
      <p:sp>
        <p:nvSpPr>
          <p:cNvPr id="235" name="Google Shape;235;g2abbb0daa57_0_57"/>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Clr>
                <a:schemeClr val="dk1"/>
              </a:buClr>
              <a:buSzPts val="1100"/>
              <a:buFont typeface="Arial"/>
              <a:buNone/>
            </a:pPr>
            <a:endParaRPr sz="3200" b="1"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g2abbb0daa57_0_6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17</a:t>
            </a:fld>
            <a:endParaRPr sz="1000">
              <a:solidFill>
                <a:srgbClr val="808080"/>
              </a:solidFill>
              <a:latin typeface="Arial"/>
              <a:ea typeface="Arial"/>
              <a:cs typeface="Arial"/>
              <a:sym typeface="Arial"/>
            </a:endParaRPr>
          </a:p>
        </p:txBody>
      </p:sp>
      <p:sp>
        <p:nvSpPr>
          <p:cNvPr id="241" name="Google Shape;241;g2abbb0daa57_0_65"/>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342900" algn="l" rtl="0">
              <a:lnSpc>
                <a:spcPct val="100000"/>
              </a:lnSpc>
              <a:spcBef>
                <a:spcPts val="0"/>
              </a:spcBef>
              <a:spcAft>
                <a:spcPts val="0"/>
              </a:spcAft>
              <a:buClr>
                <a:schemeClr val="lt1"/>
              </a:buClr>
              <a:buSzPts val="1800"/>
              <a:buFont typeface="Calibri"/>
              <a:buAutoNum type="arabicPeriod"/>
            </a:pPr>
            <a:r>
              <a:rPr lang="fr-FR" sz="1800" b="0" i="0" u="none" strike="noStrike" cap="none">
                <a:solidFill>
                  <a:schemeClr val="lt1"/>
                </a:solidFill>
                <a:latin typeface="Calibri"/>
                <a:ea typeface="Calibri"/>
                <a:cs typeface="Calibri"/>
                <a:sym typeface="Calibri"/>
              </a:rPr>
              <a:t>Les méthodes quantitatives en sciences sociales : qu’est-ce que c’est ?</a:t>
            </a:r>
            <a:endParaRPr sz="1800" b="0" i="0" u="none" strike="noStrike" cap="none">
              <a:solidFill>
                <a:schemeClr val="lt1"/>
              </a:solidFill>
              <a:latin typeface="Calibri"/>
              <a:ea typeface="Calibri"/>
              <a:cs typeface="Calibri"/>
              <a:sym typeface="Calibri"/>
            </a:endParaRPr>
          </a:p>
        </p:txBody>
      </p:sp>
      <p:sp>
        <p:nvSpPr>
          <p:cNvPr id="242" name="Google Shape;242;g2abbb0daa57_0_65"/>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243" name="Google Shape;243;g2abbb0daa57_0_65"/>
          <p:cNvSpPr txBox="1"/>
          <p:nvPr/>
        </p:nvSpPr>
        <p:spPr>
          <a:xfrm>
            <a:off x="467925" y="1986750"/>
            <a:ext cx="8219100" cy="40749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None/>
            </a:pPr>
            <a:endParaRPr sz="2900">
              <a:solidFill>
                <a:schemeClr val="dk1"/>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endParaRPr>
          </a:p>
          <a:p>
            <a:pPr marL="457200" marR="0" lvl="0" indent="-412750" algn="l" rtl="0">
              <a:lnSpc>
                <a:spcPct val="90000"/>
              </a:lnSpc>
              <a:spcBef>
                <a:spcPts val="0"/>
              </a:spcBef>
              <a:spcAft>
                <a:spcPts val="0"/>
              </a:spcAft>
              <a:buClr>
                <a:schemeClr val="dk1"/>
              </a:buClr>
              <a:buSzPts val="2900"/>
              <a:buFont typeface="Calibri"/>
              <a:buChar char="-"/>
            </a:pPr>
            <a:r>
              <a:rPr lang="fr-FR" sz="2900">
                <a:solidFill>
                  <a:schemeClr val="dk1"/>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Etat civil (naissances, décès, mariages, divorces, immigration)</a:t>
            </a:r>
            <a:endParaRPr sz="2900">
              <a:solidFill>
                <a:schemeClr val="dk1"/>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7"/>
                </a:ext>
              </a:extLst>
            </a:endParaRPr>
          </a:p>
          <a:p>
            <a:pPr marL="457200" marR="0" lvl="0" indent="-412750" algn="l" rtl="0">
              <a:lnSpc>
                <a:spcPct val="90000"/>
              </a:lnSpc>
              <a:spcBef>
                <a:spcPts val="0"/>
              </a:spcBef>
              <a:spcAft>
                <a:spcPts val="0"/>
              </a:spcAft>
              <a:buClr>
                <a:schemeClr val="dk1"/>
              </a:buClr>
              <a:buSzPts val="2900"/>
              <a:buFont typeface="Calibri"/>
              <a:buChar char="-"/>
            </a:pPr>
            <a:r>
              <a:rPr lang="fr-FR" sz="2900">
                <a:solidFill>
                  <a:schemeClr val="dk1"/>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8"/>
                  </a:ext>
                </a:extLst>
              </a:rPr>
              <a:t>Données produites par les administrations publiques et privées : éducation nationale, registres d’entreprises, d’ONG…</a:t>
            </a:r>
            <a:endParaRPr sz="2900">
              <a:solidFill>
                <a:schemeClr val="dk1"/>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9"/>
                </a:ext>
              </a:extLst>
            </a:endParaRPr>
          </a:p>
          <a:p>
            <a:pPr marL="0" marR="0" lvl="0" indent="0" algn="l" rtl="0">
              <a:lnSpc>
                <a:spcPct val="90000"/>
              </a:lnSpc>
              <a:spcBef>
                <a:spcPts val="0"/>
              </a:spcBef>
              <a:spcAft>
                <a:spcPts val="0"/>
              </a:spcAft>
              <a:buNone/>
            </a:pPr>
            <a:endParaRPr sz="2900">
              <a:solidFill>
                <a:schemeClr val="dk1"/>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0"/>
                </a:ext>
              </a:extLst>
            </a:endParaRPr>
          </a:p>
          <a:p>
            <a:pPr marL="0" marR="0" lvl="0" indent="0" algn="l" rtl="0">
              <a:lnSpc>
                <a:spcPct val="90000"/>
              </a:lnSpc>
              <a:spcBef>
                <a:spcPts val="0"/>
              </a:spcBef>
              <a:spcAft>
                <a:spcPts val="0"/>
              </a:spcAft>
              <a:buNone/>
            </a:pPr>
            <a:r>
              <a:rPr lang="fr-FR" sz="2900">
                <a:solidFill>
                  <a:schemeClr val="dk1"/>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1"/>
                  </a:ext>
                </a:extLst>
              </a:rPr>
              <a:t>Mais des sources de données qui ne sont pas produites initialement pour la recherche.</a:t>
            </a:r>
            <a:r>
              <a:rPr lang="fr-FR" sz="2900">
                <a:solidFill>
                  <a:schemeClr val="dk1"/>
                </a:solidFill>
                <a:latin typeface="Calibri"/>
                <a:ea typeface="Calibri"/>
                <a:cs typeface="Calibri"/>
                <a:sym typeface="Calibri"/>
              </a:rPr>
              <a:t> </a:t>
            </a:r>
            <a:endParaRPr sz="2900">
              <a:solidFill>
                <a:schemeClr val="dk1"/>
              </a:solidFill>
              <a:latin typeface="Calibri"/>
              <a:ea typeface="Calibri"/>
              <a:cs typeface="Calibri"/>
              <a:sym typeface="Calibri"/>
            </a:endParaRPr>
          </a:p>
          <a:p>
            <a:pPr marL="457200" marR="0" lvl="0" indent="-381000" algn="l" rtl="0">
              <a:lnSpc>
                <a:spcPct val="90000"/>
              </a:lnSpc>
              <a:spcBef>
                <a:spcPts val="0"/>
              </a:spcBef>
              <a:spcAft>
                <a:spcPts val="0"/>
              </a:spcAft>
              <a:buClr>
                <a:schemeClr val="dk1"/>
              </a:buClr>
              <a:buSzPts val="2400"/>
              <a:buFont typeface="Calibri"/>
              <a:buChar char="●"/>
            </a:pPr>
            <a:r>
              <a:rPr lang="fr-FR" sz="2400">
                <a:solidFill>
                  <a:schemeClr val="dk1"/>
                </a:solidFill>
                <a:latin typeface="Calibri"/>
                <a:ea typeface="Calibri"/>
                <a:cs typeface="Calibri"/>
                <a:sym typeface="Calibri"/>
              </a:rPr>
              <a:t>Limite: pose la question de l’adéquation de la question de recherche aux catégories et aux outils de quantifications utilisées par les administrations</a:t>
            </a:r>
            <a:endParaRPr sz="2400">
              <a:solidFill>
                <a:schemeClr val="dk1"/>
              </a:solidFill>
              <a:latin typeface="Calibri"/>
              <a:ea typeface="Calibri"/>
              <a:cs typeface="Calibri"/>
              <a:sym typeface="Calibri"/>
            </a:endParaRPr>
          </a:p>
        </p:txBody>
      </p:sp>
      <p:sp>
        <p:nvSpPr>
          <p:cNvPr id="244" name="Google Shape;244;g2abbb0daa57_0_65"/>
          <p:cNvSpPr txBox="1"/>
          <p:nvPr/>
        </p:nvSpPr>
        <p:spPr>
          <a:xfrm>
            <a:off x="356850" y="973475"/>
            <a:ext cx="87873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fr-FR" sz="3000" b="1">
                <a:solidFill>
                  <a:schemeClr val="dk1"/>
                </a:solidFill>
                <a:latin typeface="Calibri"/>
                <a:ea typeface="Calibri"/>
                <a:cs typeface="Calibri"/>
                <a:sym typeface="Calibri"/>
              </a:rPr>
              <a:t>Des sources de données plus classiques:</a:t>
            </a:r>
            <a:endParaRPr sz="30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000"/>
              <a:buFont typeface="Arial"/>
              <a:buNone/>
            </a:pPr>
            <a:r>
              <a:rPr lang="fr-FR" sz="3000" b="1">
                <a:solidFill>
                  <a:schemeClr val="dk1"/>
                </a:solidFill>
                <a:latin typeface="Calibri"/>
                <a:ea typeface="Calibri"/>
                <a:cs typeface="Calibri"/>
                <a:sym typeface="Calibri"/>
              </a:rPr>
              <a:t>Les registres administratifs</a:t>
            </a:r>
            <a:endParaRPr sz="3000" b="1"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d75bd79b03_0_2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18</a:t>
            </a:fld>
            <a:endParaRPr sz="1000">
              <a:solidFill>
                <a:srgbClr val="808080"/>
              </a:solidFill>
              <a:latin typeface="Arial"/>
              <a:ea typeface="Arial"/>
              <a:cs typeface="Arial"/>
              <a:sym typeface="Arial"/>
            </a:endParaRPr>
          </a:p>
        </p:txBody>
      </p:sp>
      <p:sp>
        <p:nvSpPr>
          <p:cNvPr id="250" name="Google Shape;250;g2d75bd79b03_0_22"/>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342900" algn="l" rtl="0">
              <a:lnSpc>
                <a:spcPct val="100000"/>
              </a:lnSpc>
              <a:spcBef>
                <a:spcPts val="0"/>
              </a:spcBef>
              <a:spcAft>
                <a:spcPts val="0"/>
              </a:spcAft>
              <a:buClr>
                <a:schemeClr val="lt1"/>
              </a:buClr>
              <a:buSzPts val="1800"/>
              <a:buFont typeface="Calibri"/>
              <a:buAutoNum type="arabicPeriod"/>
            </a:pPr>
            <a:r>
              <a:rPr lang="fr-FR" sz="1800" b="0" i="0" u="none" strike="noStrike" cap="none">
                <a:solidFill>
                  <a:schemeClr val="lt1"/>
                </a:solidFill>
                <a:latin typeface="Calibri"/>
                <a:ea typeface="Calibri"/>
                <a:cs typeface="Calibri"/>
                <a:sym typeface="Calibri"/>
              </a:rPr>
              <a:t>Les méthodes quantitatives en sciences sociales : qu’est-ce que c’est ?</a:t>
            </a:r>
            <a:endParaRPr sz="1800" b="0" i="0" u="none" strike="noStrike" cap="none">
              <a:solidFill>
                <a:schemeClr val="lt1"/>
              </a:solidFill>
              <a:latin typeface="Calibri"/>
              <a:ea typeface="Calibri"/>
              <a:cs typeface="Calibri"/>
              <a:sym typeface="Calibri"/>
            </a:endParaRPr>
          </a:p>
        </p:txBody>
      </p:sp>
      <p:sp>
        <p:nvSpPr>
          <p:cNvPr id="251" name="Google Shape;251;g2d75bd79b03_0_22"/>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252" name="Google Shape;252;g2d75bd79b03_0_22"/>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900"/>
              <a:buFont typeface="Arial"/>
              <a:buNone/>
            </a:pPr>
            <a:r>
              <a:rPr lang="fr-FR" sz="2900" b="0" i="0" u="none" strike="noStrike" cap="none">
                <a:solidFill>
                  <a:schemeClr val="dk1"/>
                </a:solidFill>
                <a:latin typeface="Calibri"/>
                <a:ea typeface="Calibri"/>
                <a:cs typeface="Calibri"/>
                <a:sym typeface="Calibri"/>
              </a:rPr>
              <a:t>…qui consistent à recueillir des données dans l’objectif précis de produire des statistiques</a:t>
            </a:r>
            <a:endParaRPr sz="2900" b="0" i="0" u="none" strike="noStrike" cap="none">
              <a:solidFill>
                <a:schemeClr val="dk1"/>
              </a:solidFill>
              <a:latin typeface="Calibri"/>
              <a:ea typeface="Calibri"/>
              <a:cs typeface="Calibri"/>
              <a:sym typeface="Calibri"/>
            </a:endParaRPr>
          </a:p>
          <a:p>
            <a:pPr marL="457200" marR="0" lvl="0" indent="-412750" algn="l" rtl="0">
              <a:lnSpc>
                <a:spcPct val="90000"/>
              </a:lnSpc>
              <a:spcBef>
                <a:spcPts val="25"/>
              </a:spcBef>
              <a:spcAft>
                <a:spcPts val="0"/>
              </a:spcAft>
              <a:buClr>
                <a:schemeClr val="dk1"/>
              </a:buClr>
              <a:buSzPts val="2900"/>
              <a:buFont typeface="Calibri"/>
              <a:buChar char="-"/>
            </a:pPr>
            <a:r>
              <a:rPr lang="fr-FR" sz="2900" b="0" i="0" u="none" strike="noStrike" cap="none">
                <a:solidFill>
                  <a:schemeClr val="dk1"/>
                </a:solidFill>
                <a:latin typeface="Calibri"/>
                <a:ea typeface="Calibri"/>
                <a:cs typeface="Calibri"/>
                <a:sym typeface="Calibri"/>
              </a:rPr>
              <a:t>Enquêtes emploi</a:t>
            </a:r>
            <a:endParaRPr sz="2900" b="0" i="0" u="none" strike="noStrike" cap="none">
              <a:solidFill>
                <a:schemeClr val="dk1"/>
              </a:solidFill>
              <a:latin typeface="Calibri"/>
              <a:ea typeface="Calibri"/>
              <a:cs typeface="Calibri"/>
              <a:sym typeface="Calibri"/>
            </a:endParaRPr>
          </a:p>
          <a:p>
            <a:pPr marL="457200" marR="0" lvl="0" indent="-412750" algn="l" rtl="0">
              <a:lnSpc>
                <a:spcPct val="90000"/>
              </a:lnSpc>
              <a:spcBef>
                <a:spcPts val="0"/>
              </a:spcBef>
              <a:spcAft>
                <a:spcPts val="0"/>
              </a:spcAft>
              <a:buClr>
                <a:schemeClr val="dk1"/>
              </a:buClr>
              <a:buSzPts val="2900"/>
              <a:buFont typeface="Calibri"/>
              <a:buChar char="-"/>
            </a:pPr>
            <a:r>
              <a:rPr lang="fr-FR" sz="2900" b="0" i="0" u="none" strike="noStrike" cap="none">
                <a:solidFill>
                  <a:schemeClr val="dk1"/>
                </a:solidFill>
                <a:latin typeface="Calibri"/>
                <a:ea typeface="Calibri"/>
                <a:cs typeface="Calibri"/>
                <a:sym typeface="Calibri"/>
              </a:rPr>
              <a:t>Enquêtes emploi du temps</a:t>
            </a:r>
            <a:endParaRPr sz="2900" b="0" i="0" u="none" strike="noStrike" cap="none">
              <a:solidFill>
                <a:schemeClr val="dk1"/>
              </a:solidFill>
              <a:latin typeface="Calibri"/>
              <a:ea typeface="Calibri"/>
              <a:cs typeface="Calibri"/>
              <a:sym typeface="Calibri"/>
            </a:endParaRPr>
          </a:p>
          <a:p>
            <a:pPr marL="457200" marR="0" lvl="0" indent="-412750" algn="l" rtl="0">
              <a:lnSpc>
                <a:spcPct val="90000"/>
              </a:lnSpc>
              <a:spcBef>
                <a:spcPts val="0"/>
              </a:spcBef>
              <a:spcAft>
                <a:spcPts val="0"/>
              </a:spcAft>
              <a:buClr>
                <a:schemeClr val="dk1"/>
              </a:buClr>
              <a:buSzPts val="2900"/>
              <a:buFont typeface="Calibri"/>
              <a:buChar char="-"/>
            </a:pPr>
            <a:r>
              <a:rPr lang="fr-FR" sz="2900" b="0" i="0" u="none" strike="noStrike" cap="none">
                <a:solidFill>
                  <a:schemeClr val="dk1"/>
                </a:solidFill>
                <a:latin typeface="Calibri"/>
                <a:ea typeface="Calibri"/>
                <a:cs typeface="Calibri"/>
                <a:sym typeface="Calibri"/>
              </a:rPr>
              <a:t>Enquête Histoire de Vie</a:t>
            </a:r>
            <a:endParaRPr sz="2900" b="0" i="0" u="none" strike="noStrike" cap="none">
              <a:solidFill>
                <a:schemeClr val="dk1"/>
              </a:solidFill>
              <a:latin typeface="Calibri"/>
              <a:ea typeface="Calibri"/>
              <a:cs typeface="Calibri"/>
              <a:sym typeface="Calibri"/>
            </a:endParaRPr>
          </a:p>
          <a:p>
            <a:pPr marL="457200" marR="0" lvl="0" indent="-412750" algn="l" rtl="0">
              <a:lnSpc>
                <a:spcPct val="90000"/>
              </a:lnSpc>
              <a:spcBef>
                <a:spcPts val="0"/>
              </a:spcBef>
              <a:spcAft>
                <a:spcPts val="0"/>
              </a:spcAft>
              <a:buClr>
                <a:schemeClr val="dk1"/>
              </a:buClr>
              <a:buSzPts val="2900"/>
              <a:buFont typeface="Calibri"/>
              <a:buChar char="-"/>
            </a:pPr>
            <a:r>
              <a:rPr lang="fr-FR" sz="2900" b="0" i="0" u="none" strike="noStrike" cap="none">
                <a:solidFill>
                  <a:schemeClr val="dk1"/>
                </a:solidFill>
                <a:latin typeface="Calibri"/>
                <a:ea typeface="Calibri"/>
                <a:cs typeface="Calibri"/>
                <a:sym typeface="Calibri"/>
              </a:rPr>
              <a:t>Enquêtes Trajectoires et Origines</a:t>
            </a:r>
            <a:endParaRPr sz="2900" b="0" i="0" u="none" strike="noStrike" cap="none">
              <a:solidFill>
                <a:schemeClr val="dk1"/>
              </a:solidFill>
              <a:latin typeface="Calibri"/>
              <a:ea typeface="Calibri"/>
              <a:cs typeface="Calibri"/>
              <a:sym typeface="Calibri"/>
            </a:endParaRPr>
          </a:p>
          <a:p>
            <a:pPr marL="0" marR="0" lvl="0" indent="0" algn="l" rtl="0">
              <a:lnSpc>
                <a:spcPct val="90000"/>
              </a:lnSpc>
              <a:spcBef>
                <a:spcPts val="0"/>
              </a:spcBef>
              <a:spcAft>
                <a:spcPts val="0"/>
              </a:spcAft>
              <a:buNone/>
            </a:pPr>
            <a:endParaRPr sz="2900">
              <a:solidFill>
                <a:schemeClr val="dk1"/>
              </a:solidFill>
              <a:latin typeface="Calibri"/>
              <a:ea typeface="Calibri"/>
              <a:cs typeface="Calibri"/>
              <a:sym typeface="Calibri"/>
            </a:endParaRPr>
          </a:p>
          <a:p>
            <a:pPr marL="0" marR="0" lvl="0" indent="0" algn="l" rtl="0">
              <a:lnSpc>
                <a:spcPct val="90000"/>
              </a:lnSpc>
              <a:spcBef>
                <a:spcPts val="0"/>
              </a:spcBef>
              <a:spcAft>
                <a:spcPts val="0"/>
              </a:spcAft>
              <a:buNone/>
            </a:pPr>
            <a:r>
              <a:rPr lang="fr-FR" sz="2900">
                <a:solidFill>
                  <a:schemeClr val="dk1"/>
                </a:solidFill>
                <a:latin typeface="Calibri"/>
                <a:ea typeface="Calibri"/>
                <a:cs typeface="Calibri"/>
                <a:sym typeface="Calibri"/>
              </a:rPr>
              <a:t>Et les registres administratifs</a:t>
            </a:r>
            <a:endParaRPr sz="2900">
              <a:solidFill>
                <a:schemeClr val="dk1"/>
              </a:solidFill>
              <a:latin typeface="Calibri"/>
              <a:ea typeface="Calibri"/>
              <a:cs typeface="Calibri"/>
              <a:sym typeface="Calibri"/>
            </a:endParaRPr>
          </a:p>
          <a:p>
            <a:pPr marL="457200" marR="0" lvl="0" indent="-412750" algn="l" rtl="0">
              <a:lnSpc>
                <a:spcPct val="90000"/>
              </a:lnSpc>
              <a:spcBef>
                <a:spcPts val="0"/>
              </a:spcBef>
              <a:spcAft>
                <a:spcPts val="0"/>
              </a:spcAft>
              <a:buClr>
                <a:schemeClr val="dk1"/>
              </a:buClr>
              <a:buSzPts val="2900"/>
              <a:buFont typeface="Calibri"/>
              <a:buChar char="-"/>
            </a:pPr>
            <a:r>
              <a:rPr lang="fr-FR" sz="2900">
                <a:solidFill>
                  <a:schemeClr val="dk1"/>
                </a:solidFill>
                <a:latin typeface="Calibri"/>
                <a:ea typeface="Calibri"/>
                <a:cs typeface="Calibri"/>
                <a:sym typeface="Calibri"/>
              </a:rPr>
              <a:t>Etat civil</a:t>
            </a:r>
            <a:endParaRPr sz="2900">
              <a:solidFill>
                <a:schemeClr val="dk1"/>
              </a:solidFill>
              <a:latin typeface="Calibri"/>
              <a:ea typeface="Calibri"/>
              <a:cs typeface="Calibri"/>
              <a:sym typeface="Calibri"/>
            </a:endParaRPr>
          </a:p>
          <a:p>
            <a:pPr marL="457200" marR="0" lvl="0" indent="-412750" algn="l" rtl="0">
              <a:lnSpc>
                <a:spcPct val="90000"/>
              </a:lnSpc>
              <a:spcBef>
                <a:spcPts val="0"/>
              </a:spcBef>
              <a:spcAft>
                <a:spcPts val="0"/>
              </a:spcAft>
              <a:buClr>
                <a:schemeClr val="dk1"/>
              </a:buClr>
              <a:buSzPts val="2900"/>
              <a:buFont typeface="Calibri"/>
              <a:buChar char="-"/>
            </a:pPr>
            <a:r>
              <a:rPr lang="fr-FR" sz="2900">
                <a:solidFill>
                  <a:schemeClr val="dk1"/>
                </a:solidFill>
                <a:latin typeface="Calibri"/>
                <a:ea typeface="Calibri"/>
                <a:cs typeface="Calibri"/>
                <a:sym typeface="Calibri"/>
              </a:rPr>
              <a:t>Administration: education nationale, </a:t>
            </a:r>
            <a:endParaRPr sz="2900">
              <a:solidFill>
                <a:schemeClr val="dk1"/>
              </a:solidFill>
              <a:latin typeface="Calibri"/>
              <a:ea typeface="Calibri"/>
              <a:cs typeface="Calibri"/>
              <a:sym typeface="Calibri"/>
            </a:endParaRPr>
          </a:p>
        </p:txBody>
      </p:sp>
      <p:sp>
        <p:nvSpPr>
          <p:cNvPr id="253" name="Google Shape;253;g2d75bd79b03_0_22"/>
          <p:cNvSpPr txBox="1"/>
          <p:nvPr/>
        </p:nvSpPr>
        <p:spPr>
          <a:xfrm>
            <a:off x="0" y="973475"/>
            <a:ext cx="9144000" cy="698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000"/>
              <a:buFont typeface="Arial"/>
              <a:buNone/>
            </a:pPr>
            <a:r>
              <a:rPr lang="fr-FR" sz="3000" b="1" i="0" u="none" strike="noStrike" cap="none">
                <a:solidFill>
                  <a:schemeClr val="dk1"/>
                </a:solidFill>
                <a:latin typeface="Calibri"/>
                <a:ea typeface="Calibri"/>
                <a:cs typeface="Calibri"/>
                <a:sym typeface="Calibri"/>
              </a:rPr>
              <a:t>Mais surtout : les </a:t>
            </a:r>
            <a:r>
              <a:rPr lang="fr-FR" sz="3000" b="1">
                <a:solidFill>
                  <a:schemeClr val="dk1"/>
                </a:solidFill>
                <a:latin typeface="Calibri"/>
                <a:ea typeface="Calibri"/>
                <a:cs typeface="Calibri"/>
                <a:sym typeface="Calibri"/>
              </a:rPr>
              <a:t>grandes enquêtes par questionnaire</a:t>
            </a:r>
            <a:endParaRPr sz="3000" b="1"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g2a994f7876f_0_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19</a:t>
            </a:fld>
            <a:endParaRPr sz="1000">
              <a:solidFill>
                <a:srgbClr val="808080"/>
              </a:solidFill>
              <a:latin typeface="Arial"/>
              <a:ea typeface="Arial"/>
              <a:cs typeface="Arial"/>
              <a:sym typeface="Arial"/>
            </a:endParaRPr>
          </a:p>
        </p:txBody>
      </p:sp>
      <p:sp>
        <p:nvSpPr>
          <p:cNvPr id="259" name="Google Shape;259;g2a994f7876f_0_8"/>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E5D5A"/>
              </a:solidFill>
              <a:latin typeface="Calibri"/>
              <a:ea typeface="Calibri"/>
              <a:cs typeface="Calibri"/>
              <a:sym typeface="Calibri"/>
            </a:endParaRPr>
          </a:p>
        </p:txBody>
      </p:sp>
      <p:sp>
        <p:nvSpPr>
          <p:cNvPr id="260" name="Google Shape;260;g2a994f7876f_0_8"/>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261" name="Google Shape;261;g2a994f7876f_0_8"/>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0" algn="l" rtl="0">
              <a:lnSpc>
                <a:spcPct val="90000"/>
              </a:lnSpc>
              <a:spcBef>
                <a:spcPts val="25"/>
              </a:spcBef>
              <a:spcAft>
                <a:spcPts val="0"/>
              </a:spcAft>
              <a:buClr>
                <a:srgbClr val="000000"/>
              </a:buClr>
              <a:buSzPts val="2565"/>
              <a:buFont typeface="Arial"/>
              <a:buNone/>
            </a:pPr>
            <a:endParaRPr sz="2565" b="0" i="0" u="none" strike="noStrike" cap="none">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65"/>
              <a:buFont typeface="Arial"/>
              <a:buNone/>
            </a:pPr>
            <a:endParaRPr sz="2565" b="0" i="0" u="none" strike="noStrike" cap="none">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65"/>
              <a:buFont typeface="Arial"/>
              <a:buNone/>
            </a:pPr>
            <a:r>
              <a:rPr lang="fr-FR" sz="2565" b="0" i="0" u="none" strike="noStrike" cap="none">
                <a:solidFill>
                  <a:srgbClr val="CCCCCC"/>
                </a:solidFill>
                <a:latin typeface="Arial"/>
                <a:ea typeface="Arial"/>
                <a:cs typeface="Arial"/>
                <a:sym typeface="Arial"/>
              </a:rPr>
              <a:t>1.1.  Définitions et principes des méthodes quantitatives en sciences sociales</a:t>
            </a:r>
            <a:endParaRPr sz="2565" b="0" i="0" u="none" strike="noStrike" cap="none">
              <a:solidFill>
                <a:srgbClr val="CCCCCC"/>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65"/>
              <a:buFont typeface="Arial"/>
              <a:buNone/>
            </a:pPr>
            <a:r>
              <a:rPr lang="fr-FR" sz="2565" b="0" i="0" u="none" strike="noStrike" cap="none">
                <a:solidFill>
                  <a:schemeClr val="dk1"/>
                </a:solidFill>
                <a:latin typeface="Arial"/>
                <a:ea typeface="Arial"/>
                <a:cs typeface="Arial"/>
                <a:sym typeface="Arial"/>
              </a:rPr>
              <a:t>1.2.  L’élaboration d’une enquête de la statistique publique : Trajectoires et Origines </a:t>
            </a:r>
            <a:endParaRPr sz="4100" b="0" i="0" u="none" strike="noStrike" cap="none">
              <a:solidFill>
                <a:schemeClr val="dk1"/>
              </a:solidFill>
              <a:latin typeface="Calibri"/>
              <a:ea typeface="Calibri"/>
              <a:cs typeface="Calibri"/>
              <a:sym typeface="Calibri"/>
            </a:endParaRPr>
          </a:p>
        </p:txBody>
      </p:sp>
      <p:sp>
        <p:nvSpPr>
          <p:cNvPr id="262" name="Google Shape;262;g2a994f7876f_0_8"/>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457200" marR="0" lvl="0" indent="-431800" algn="l" rtl="0">
              <a:lnSpc>
                <a:spcPct val="100000"/>
              </a:lnSpc>
              <a:spcBef>
                <a:spcPts val="0"/>
              </a:spcBef>
              <a:spcAft>
                <a:spcPts val="0"/>
              </a:spcAft>
              <a:buClr>
                <a:srgbClr val="2E5D5A"/>
              </a:buClr>
              <a:buSzPts val="3200"/>
              <a:buFont typeface="Calibri"/>
              <a:buAutoNum type="arabicPeriod"/>
            </a:pPr>
            <a:r>
              <a:rPr lang="fr-FR" sz="3200" b="1" i="0" u="none" strike="noStrike" cap="none">
                <a:solidFill>
                  <a:srgbClr val="2E5D5A"/>
                </a:solidFill>
                <a:latin typeface="Calibri"/>
                <a:ea typeface="Calibri"/>
                <a:cs typeface="Calibri"/>
                <a:sym typeface="Calibri"/>
              </a:rPr>
              <a:t>Les méthodes quantitatives en sciences sociales : qu’est-ce que c’est ?</a:t>
            </a: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2aaa886857f_1_18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20</a:t>
            </a:fld>
            <a:endParaRPr sz="1000">
              <a:solidFill>
                <a:srgbClr val="808080"/>
              </a:solidFill>
              <a:latin typeface="Arial"/>
              <a:ea typeface="Arial"/>
              <a:cs typeface="Arial"/>
              <a:sym typeface="Arial"/>
            </a:endParaRPr>
          </a:p>
        </p:txBody>
      </p:sp>
      <p:sp>
        <p:nvSpPr>
          <p:cNvPr id="268" name="Google Shape;268;g2aaa886857f_1_182"/>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lt1"/>
                </a:solidFill>
                <a:latin typeface="Calibri"/>
                <a:ea typeface="Calibri"/>
                <a:cs typeface="Calibri"/>
                <a:sym typeface="Calibri"/>
              </a:rPr>
              <a:t>1.2. L’élaboration d’une enquête de la statistique publique : Trajectoires et Origines</a:t>
            </a:r>
            <a:endParaRPr sz="1800" b="0" i="0" u="none" strike="noStrike" cap="none">
              <a:solidFill>
                <a:schemeClr val="lt1"/>
              </a:solidFill>
              <a:latin typeface="Calibri"/>
              <a:ea typeface="Calibri"/>
              <a:cs typeface="Calibri"/>
              <a:sym typeface="Calibri"/>
            </a:endParaRPr>
          </a:p>
        </p:txBody>
      </p:sp>
      <p:sp>
        <p:nvSpPr>
          <p:cNvPr id="269" name="Google Shape;269;g2aaa886857f_1_182"/>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270" name="Google Shape;270;g2aaa886857f_1_182"/>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419100" algn="l" rtl="0">
              <a:lnSpc>
                <a:spcPct val="90000"/>
              </a:lnSpc>
              <a:spcBef>
                <a:spcPts val="25"/>
              </a:spcBef>
              <a:spcAft>
                <a:spcPts val="0"/>
              </a:spcAft>
              <a:buClr>
                <a:schemeClr val="dk1"/>
              </a:buClr>
              <a:buSzPts val="3000"/>
              <a:buFont typeface="Calibri"/>
              <a:buAutoNum type="arabicPeriod"/>
            </a:pPr>
            <a:r>
              <a:rPr lang="fr-FR" sz="3000" b="0" i="0" u="none" strike="noStrike" cap="none">
                <a:solidFill>
                  <a:schemeClr val="dk1"/>
                </a:solidFill>
                <a:latin typeface="Calibri"/>
                <a:ea typeface="Calibri"/>
                <a:cs typeface="Calibri"/>
                <a:sym typeface="Calibri"/>
              </a:rPr>
              <a:t>Elaborer une question de recherche, qui découle souvent d’un besoin public</a:t>
            </a:r>
            <a:endParaRPr sz="3000" b="0" i="0" u="none" strike="noStrike" cap="none">
              <a:solidFill>
                <a:schemeClr val="dk1"/>
              </a:solidFill>
              <a:latin typeface="Calibri"/>
              <a:ea typeface="Calibri"/>
              <a:cs typeface="Calibri"/>
              <a:sym typeface="Calibri"/>
            </a:endParaRPr>
          </a:p>
          <a:p>
            <a:pPr marL="457200" marR="0" lvl="0" indent="-419100" algn="l" rtl="0">
              <a:lnSpc>
                <a:spcPct val="90000"/>
              </a:lnSpc>
              <a:spcBef>
                <a:spcPts val="0"/>
              </a:spcBef>
              <a:spcAft>
                <a:spcPts val="0"/>
              </a:spcAft>
              <a:buClr>
                <a:schemeClr val="dk1"/>
              </a:buClr>
              <a:buSzPts val="3000"/>
              <a:buFont typeface="Calibri"/>
              <a:buAutoNum type="arabicPeriod"/>
            </a:pPr>
            <a:r>
              <a:rPr lang="fr-FR" sz="3000" b="0" i="0" u="none" strike="noStrike" cap="none">
                <a:solidFill>
                  <a:schemeClr val="dk1"/>
                </a:solidFill>
                <a:latin typeface="Calibri"/>
                <a:ea typeface="Calibri"/>
                <a:cs typeface="Calibri"/>
                <a:sym typeface="Calibri"/>
              </a:rPr>
              <a:t>Définir à partir de cette question les objets que l’on veut mesurer</a:t>
            </a:r>
            <a:endParaRPr sz="3000" b="0" i="0" u="none" strike="noStrike" cap="none">
              <a:solidFill>
                <a:schemeClr val="dk1"/>
              </a:solidFill>
              <a:latin typeface="Calibri"/>
              <a:ea typeface="Calibri"/>
              <a:cs typeface="Calibri"/>
              <a:sym typeface="Calibri"/>
            </a:endParaRPr>
          </a:p>
          <a:p>
            <a:pPr marL="457200" marR="0" lvl="0" indent="-419100" algn="l" rtl="0">
              <a:lnSpc>
                <a:spcPct val="90000"/>
              </a:lnSpc>
              <a:spcBef>
                <a:spcPts val="0"/>
              </a:spcBef>
              <a:spcAft>
                <a:spcPts val="0"/>
              </a:spcAft>
              <a:buClr>
                <a:schemeClr val="dk1"/>
              </a:buClr>
              <a:buSzPts val="3000"/>
              <a:buFont typeface="Calibri"/>
              <a:buAutoNum type="arabicPeriod"/>
            </a:pPr>
            <a:r>
              <a:rPr lang="fr-FR" sz="3000" b="0" i="0" u="none" strike="noStrike" cap="none">
                <a:solidFill>
                  <a:schemeClr val="dk1"/>
                </a:solidFill>
                <a:latin typeface="Calibri"/>
                <a:ea typeface="Calibri"/>
                <a:cs typeface="Calibri"/>
                <a:sym typeface="Calibri"/>
              </a:rPr>
              <a:t>Définir la population d’intérêt et un protocole d’enquête rigoureux pour atteindre cette population </a:t>
            </a:r>
            <a:endParaRPr sz="3000" b="0" i="0" u="none" strike="noStrike" cap="none">
              <a:solidFill>
                <a:schemeClr val="dk1"/>
              </a:solidFill>
              <a:latin typeface="Calibri"/>
              <a:ea typeface="Calibri"/>
              <a:cs typeface="Calibri"/>
              <a:sym typeface="Calibri"/>
            </a:endParaRPr>
          </a:p>
          <a:p>
            <a:pPr marL="457200" marR="0" lvl="0" indent="-419100" algn="l" rtl="0">
              <a:lnSpc>
                <a:spcPct val="90000"/>
              </a:lnSpc>
              <a:spcBef>
                <a:spcPts val="0"/>
              </a:spcBef>
              <a:spcAft>
                <a:spcPts val="0"/>
              </a:spcAft>
              <a:buClr>
                <a:schemeClr val="dk1"/>
              </a:buClr>
              <a:buSzPts val="3000"/>
              <a:buFont typeface="Calibri"/>
              <a:buAutoNum type="arabicPeriod"/>
            </a:pPr>
            <a:r>
              <a:rPr lang="fr-FR" sz="3000" b="0" i="0" u="none" strike="noStrike" cap="none">
                <a:solidFill>
                  <a:schemeClr val="dk1"/>
                </a:solidFill>
                <a:latin typeface="Calibri"/>
                <a:ea typeface="Calibri"/>
                <a:cs typeface="Calibri"/>
                <a:sym typeface="Calibri"/>
              </a:rPr>
              <a:t>Définir un moyen d’obtenir les réponses</a:t>
            </a:r>
            <a:endParaRPr sz="3000" b="0" i="0" u="none" strike="noStrike" cap="none">
              <a:solidFill>
                <a:schemeClr val="dk1"/>
              </a:solidFill>
              <a:latin typeface="Calibri"/>
              <a:ea typeface="Calibri"/>
              <a:cs typeface="Calibri"/>
              <a:sym typeface="Calibri"/>
            </a:endParaRPr>
          </a:p>
          <a:p>
            <a:pPr marL="457200" marR="0" lvl="0" indent="0" algn="r" rtl="0">
              <a:lnSpc>
                <a:spcPct val="90000"/>
              </a:lnSpc>
              <a:spcBef>
                <a:spcPts val="25"/>
              </a:spcBef>
              <a:spcAft>
                <a:spcPts val="0"/>
              </a:spcAft>
              <a:buClr>
                <a:srgbClr val="000000"/>
              </a:buClr>
              <a:buSzPts val="1400"/>
              <a:buFont typeface="Arial"/>
              <a:buNone/>
            </a:pPr>
            <a:endParaRPr sz="1400" b="0" i="0" u="sng" strike="noStrike" cap="none">
              <a:solidFill>
                <a:schemeClr val="dk1"/>
              </a:solidFill>
              <a:latin typeface="Calibri"/>
              <a:ea typeface="Calibri"/>
              <a:cs typeface="Calibri"/>
              <a:sym typeface="Calibri"/>
            </a:endParaRPr>
          </a:p>
          <a:p>
            <a:pPr marL="457200" marR="0" lvl="0" indent="0" algn="r" rtl="0">
              <a:lnSpc>
                <a:spcPct val="90000"/>
              </a:lnSpc>
              <a:spcBef>
                <a:spcPts val="25"/>
              </a:spcBef>
              <a:spcAft>
                <a:spcPts val="0"/>
              </a:spcAft>
              <a:buClr>
                <a:srgbClr val="000000"/>
              </a:buClr>
              <a:buSzPts val="1400"/>
              <a:buFont typeface="Arial"/>
              <a:buNone/>
            </a:pPr>
            <a:r>
              <a:rPr lang="fr-FR" sz="1400" b="0" i="0" u="sng" strike="noStrike" cap="none">
                <a:solidFill>
                  <a:schemeClr val="dk1"/>
                </a:solidFill>
                <a:latin typeface="Calibri"/>
                <a:ea typeface="Calibri"/>
                <a:cs typeface="Calibri"/>
                <a:sym typeface="Calibri"/>
              </a:rPr>
              <a:t>Source </a:t>
            </a:r>
            <a:r>
              <a:rPr lang="fr-FR" sz="1400" b="0" i="0" u="none" strike="noStrike" cap="none">
                <a:solidFill>
                  <a:schemeClr val="dk1"/>
                </a:solidFill>
                <a:latin typeface="Calibri"/>
                <a:ea typeface="Calibri"/>
                <a:cs typeface="Calibri"/>
                <a:sym typeface="Calibri"/>
              </a:rPr>
              <a:t>: Cours de Thibault de Saint Pol, </a:t>
            </a:r>
            <a:endParaRPr sz="1400" b="0" i="0" u="none" strike="noStrike" cap="none">
              <a:solidFill>
                <a:schemeClr val="dk1"/>
              </a:solidFill>
              <a:latin typeface="Calibri"/>
              <a:ea typeface="Calibri"/>
              <a:cs typeface="Calibri"/>
              <a:sym typeface="Calibri"/>
            </a:endParaRPr>
          </a:p>
          <a:p>
            <a:pPr marL="457200" marR="0" lvl="0" indent="0" algn="r" rtl="0">
              <a:lnSpc>
                <a:spcPct val="90000"/>
              </a:lnSpc>
              <a:spcBef>
                <a:spcPts val="25"/>
              </a:spcBef>
              <a:spcAft>
                <a:spcPts val="0"/>
              </a:spcAft>
              <a:buClr>
                <a:srgbClr val="000000"/>
              </a:buClr>
              <a:buSzPts val="1400"/>
              <a:buFont typeface="Arial"/>
              <a:buNone/>
            </a:pPr>
            <a:r>
              <a:rPr lang="fr-FR" sz="1400" b="0" i="0" u="none" strike="noStrike" cap="none">
                <a:solidFill>
                  <a:schemeClr val="dk1"/>
                </a:solidFill>
                <a:latin typeface="Calibri"/>
                <a:ea typeface="Calibri"/>
                <a:cs typeface="Calibri"/>
                <a:sym typeface="Calibri"/>
              </a:rPr>
              <a:t>Fabrique et pratique des grandes enquêtes statistiques  </a:t>
            </a:r>
            <a:endParaRPr sz="1400" b="0" i="0" u="none" strike="noStrike" cap="none">
              <a:solidFill>
                <a:schemeClr val="dk1"/>
              </a:solidFill>
              <a:latin typeface="Calibri"/>
              <a:ea typeface="Calibri"/>
              <a:cs typeface="Calibri"/>
              <a:sym typeface="Calibri"/>
            </a:endParaRPr>
          </a:p>
        </p:txBody>
      </p:sp>
      <p:sp>
        <p:nvSpPr>
          <p:cNvPr id="271" name="Google Shape;271;g2aaa886857f_1_182"/>
          <p:cNvSpPr txBox="1"/>
          <p:nvPr/>
        </p:nvSpPr>
        <p:spPr>
          <a:xfrm>
            <a:off x="462450" y="859575"/>
            <a:ext cx="8219100" cy="698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Clr>
                <a:srgbClr val="000000"/>
              </a:buClr>
              <a:buSzPts val="2600"/>
              <a:buFont typeface="Arial"/>
              <a:buNone/>
            </a:pPr>
            <a:r>
              <a:rPr lang="fr-FR" sz="2600" b="1" i="0" u="none" strike="noStrike" cap="none">
                <a:solidFill>
                  <a:schemeClr val="dk1"/>
                </a:solidFill>
                <a:latin typeface="Calibri"/>
                <a:ea typeface="Calibri"/>
                <a:cs typeface="Calibri"/>
                <a:sym typeface="Calibri"/>
              </a:rPr>
              <a:t>Les étapes de la conception d’une enquête statistique </a:t>
            </a:r>
            <a:endParaRPr sz="2600" b="1"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2a994f7876f_0_12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21</a:t>
            </a:fld>
            <a:endParaRPr sz="1000">
              <a:solidFill>
                <a:srgbClr val="808080"/>
              </a:solidFill>
              <a:latin typeface="Arial"/>
              <a:ea typeface="Arial"/>
              <a:cs typeface="Arial"/>
              <a:sym typeface="Arial"/>
            </a:endParaRPr>
          </a:p>
        </p:txBody>
      </p:sp>
      <p:sp>
        <p:nvSpPr>
          <p:cNvPr id="277" name="Google Shape;277;g2a994f7876f_0_120"/>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lt1"/>
                </a:solidFill>
                <a:latin typeface="Calibri"/>
                <a:ea typeface="Calibri"/>
                <a:cs typeface="Calibri"/>
                <a:sym typeface="Calibri"/>
              </a:rPr>
              <a:t>2. L’élaboration d’une enquête de la statistique publique : Trajectoires et Origines</a:t>
            </a:r>
            <a:endParaRPr sz="1800" b="0" i="0" u="none" strike="noStrike" cap="none">
              <a:solidFill>
                <a:schemeClr val="lt1"/>
              </a:solidFill>
              <a:latin typeface="Calibri"/>
              <a:ea typeface="Calibri"/>
              <a:cs typeface="Calibri"/>
              <a:sym typeface="Calibri"/>
            </a:endParaRPr>
          </a:p>
        </p:txBody>
      </p:sp>
      <p:sp>
        <p:nvSpPr>
          <p:cNvPr id="278" name="Google Shape;278;g2a994f7876f_0_120"/>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279" name="Google Shape;279;g2a994f7876f_0_120"/>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400050" algn="l" rtl="0">
              <a:lnSpc>
                <a:spcPct val="90000"/>
              </a:lnSpc>
              <a:spcBef>
                <a:spcPts val="25"/>
              </a:spcBef>
              <a:spcAft>
                <a:spcPts val="0"/>
              </a:spcAft>
              <a:buClr>
                <a:schemeClr val="dk1"/>
              </a:buClr>
              <a:buSzPts val="2700"/>
              <a:buFont typeface="Calibri"/>
              <a:buChar char="-"/>
            </a:pPr>
            <a:r>
              <a:rPr lang="fr-FR" sz="2700" b="0" i="0" u="none" strike="noStrike" cap="none">
                <a:solidFill>
                  <a:schemeClr val="dk1"/>
                </a:solidFill>
                <a:latin typeface="Calibri"/>
                <a:ea typeface="Calibri"/>
                <a:cs typeface="Calibri"/>
                <a:sym typeface="Calibri"/>
              </a:rPr>
              <a:t>TeO 1 : 2008-2009 </a:t>
            </a:r>
            <a:endParaRPr sz="2700" b="0" i="0" u="none" strike="noStrike" cap="none">
              <a:solidFill>
                <a:schemeClr val="dk1"/>
              </a:solidFill>
              <a:latin typeface="Calibri"/>
              <a:ea typeface="Calibri"/>
              <a:cs typeface="Calibri"/>
              <a:sym typeface="Calibri"/>
            </a:endParaRPr>
          </a:p>
          <a:p>
            <a:pPr marL="457200" marR="0" lvl="0" indent="-400050" algn="l" rtl="0">
              <a:lnSpc>
                <a:spcPct val="90000"/>
              </a:lnSpc>
              <a:spcBef>
                <a:spcPts val="0"/>
              </a:spcBef>
              <a:spcAft>
                <a:spcPts val="0"/>
              </a:spcAft>
              <a:buClr>
                <a:schemeClr val="dk1"/>
              </a:buClr>
              <a:buSzPts val="2700"/>
              <a:buFont typeface="Calibri"/>
              <a:buChar char="-"/>
            </a:pPr>
            <a:r>
              <a:rPr lang="fr-FR" sz="2700" b="0" i="0" u="none" strike="noStrike" cap="none">
                <a:solidFill>
                  <a:schemeClr val="dk1"/>
                </a:solidFill>
                <a:latin typeface="Calibri"/>
                <a:ea typeface="Calibri"/>
                <a:cs typeface="Calibri"/>
                <a:sym typeface="Calibri"/>
              </a:rPr>
              <a:t>TeO 2 : 2019-2020</a:t>
            </a: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r>
              <a:rPr lang="fr-FR" sz="2700" b="0" i="0" u="none" strike="noStrike" cap="none">
                <a:solidFill>
                  <a:schemeClr val="dk1"/>
                </a:solidFill>
                <a:latin typeface="Calibri"/>
                <a:ea typeface="Calibri"/>
                <a:cs typeface="Calibri"/>
                <a:sym typeface="Calibri"/>
              </a:rPr>
              <a:t>Deux enquêtes de grande ampleur, conduites à l’échelle nationale et représentatives de la population française. </a:t>
            </a: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r>
              <a:rPr lang="fr-FR" sz="2700" b="1" u="sng">
                <a:solidFill>
                  <a:schemeClr val="dk1"/>
                </a:solidFill>
                <a:latin typeface="Calibri"/>
                <a:ea typeface="Calibri"/>
                <a:cs typeface="Calibri"/>
                <a:sym typeface="Calibri"/>
              </a:rPr>
              <a:t>Une question de recherche </a:t>
            </a:r>
            <a:r>
              <a:rPr lang="fr-FR" sz="2700" b="1" i="0" u="sng" strike="noStrike" cap="none">
                <a:solidFill>
                  <a:schemeClr val="dk1"/>
                </a:solidFill>
                <a:latin typeface="Calibri"/>
                <a:ea typeface="Calibri"/>
                <a:cs typeface="Calibri"/>
                <a:sym typeface="Calibri"/>
              </a:rPr>
              <a:t>: </a:t>
            </a:r>
            <a:r>
              <a:rPr lang="fr-FR" sz="2700" b="0" i="0" u="none" strike="noStrike" cap="none">
                <a:solidFill>
                  <a:schemeClr val="dk1"/>
                </a:solidFill>
                <a:latin typeface="Calibri"/>
                <a:ea typeface="Calibri"/>
                <a:cs typeface="Calibri"/>
                <a:sym typeface="Calibri"/>
              </a:rPr>
              <a:t>Comment les origines des individus affectent leurs vécus et trajectoires biographiques ? </a:t>
            </a: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p:txBody>
      </p:sp>
      <p:sp>
        <p:nvSpPr>
          <p:cNvPr id="280" name="Google Shape;280;g2a994f7876f_0_120"/>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Clr>
                <a:srgbClr val="000000"/>
              </a:buClr>
              <a:buSzPts val="3200"/>
              <a:buFont typeface="Arial"/>
              <a:buNone/>
            </a:pPr>
            <a:r>
              <a:rPr lang="fr-FR" sz="3200" b="1" i="0" u="none" strike="noStrike" cap="none">
                <a:solidFill>
                  <a:srgbClr val="2E5D5A"/>
                </a:solidFill>
                <a:latin typeface="Calibri"/>
                <a:ea typeface="Calibri"/>
                <a:cs typeface="Calibri"/>
                <a:sym typeface="Calibri"/>
              </a:rPr>
              <a:t>Les enquêtes Trajectoires et Origines</a:t>
            </a: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2a994f7876f_0_17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22</a:t>
            </a:fld>
            <a:endParaRPr sz="1000">
              <a:solidFill>
                <a:srgbClr val="808080"/>
              </a:solidFill>
              <a:latin typeface="Arial"/>
              <a:ea typeface="Arial"/>
              <a:cs typeface="Arial"/>
              <a:sym typeface="Arial"/>
            </a:endParaRPr>
          </a:p>
        </p:txBody>
      </p:sp>
      <p:sp>
        <p:nvSpPr>
          <p:cNvPr id="286" name="Google Shape;286;g2a994f7876f_0_179"/>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lt1"/>
                </a:solidFill>
                <a:latin typeface="Calibri"/>
                <a:ea typeface="Calibri"/>
                <a:cs typeface="Calibri"/>
                <a:sym typeface="Calibri"/>
              </a:rPr>
              <a:t>2. L’élaboration d’une enquête de la statistique publique : Trajectoires et Origines</a:t>
            </a:r>
            <a:endParaRPr sz="1800" b="0" i="0" u="none" strike="noStrike" cap="none">
              <a:solidFill>
                <a:schemeClr val="lt1"/>
              </a:solidFill>
              <a:latin typeface="Calibri"/>
              <a:ea typeface="Calibri"/>
              <a:cs typeface="Calibri"/>
              <a:sym typeface="Calibri"/>
            </a:endParaRPr>
          </a:p>
        </p:txBody>
      </p:sp>
      <p:sp>
        <p:nvSpPr>
          <p:cNvPr id="287" name="Google Shape;287;g2a994f7876f_0_179"/>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288" name="Google Shape;288;g2a994f7876f_0_179"/>
          <p:cNvSpPr txBox="1"/>
          <p:nvPr/>
        </p:nvSpPr>
        <p:spPr>
          <a:xfrm>
            <a:off x="467650" y="1824350"/>
            <a:ext cx="8219100" cy="4215000"/>
          </a:xfrm>
          <a:prstGeom prst="rect">
            <a:avLst/>
          </a:prstGeom>
          <a:noFill/>
          <a:ln>
            <a:noFill/>
          </a:ln>
        </p:spPr>
        <p:txBody>
          <a:bodyPr spcFirstLastPara="1" wrap="square" lIns="91425" tIns="91425" rIns="91425" bIns="91425" anchor="t" anchorCtr="0">
            <a:noAutofit/>
          </a:bodyPr>
          <a:lstStyle/>
          <a:p>
            <a:pPr marL="457200" marR="0" lvl="0" indent="-400050" algn="l" rtl="0">
              <a:lnSpc>
                <a:spcPct val="90000"/>
              </a:lnSpc>
              <a:spcBef>
                <a:spcPts val="25"/>
              </a:spcBef>
              <a:spcAft>
                <a:spcPts val="0"/>
              </a:spcAft>
              <a:buClr>
                <a:schemeClr val="dk1"/>
              </a:buClr>
              <a:buSzPts val="2700"/>
              <a:buFont typeface="Calibri"/>
              <a:buChar char="●"/>
            </a:pPr>
            <a:r>
              <a:rPr lang="fr-FR" sz="2700" b="0" i="0" u="none" strike="noStrike" cap="none">
                <a:solidFill>
                  <a:schemeClr val="dk1"/>
                </a:solidFill>
                <a:latin typeface="Calibri"/>
                <a:ea typeface="Calibri"/>
                <a:cs typeface="Calibri"/>
                <a:sym typeface="Calibri"/>
              </a:rPr>
              <a:t>L’immigration construite comme un problème public par des acteurs médiatiques, publics et gouvernementaux depuis la deuxième moitié du XXème siècle (d’où émergence et développement de la sociologie de l’immigration)</a:t>
            </a:r>
            <a:endParaRPr sz="2700" b="0" i="0" u="none" strike="noStrike" cap="none">
              <a:solidFill>
                <a:schemeClr val="dk1"/>
              </a:solidFill>
              <a:latin typeface="Calibri"/>
              <a:ea typeface="Calibri"/>
              <a:cs typeface="Calibri"/>
              <a:sym typeface="Calibri"/>
            </a:endParaRPr>
          </a:p>
          <a:p>
            <a:pPr marL="457200" marR="0" lvl="0" indent="0" algn="l" rtl="0">
              <a:lnSpc>
                <a:spcPct val="90000"/>
              </a:lnSpc>
              <a:spcBef>
                <a:spcPts val="25"/>
              </a:spcBef>
              <a:spcAft>
                <a:spcPts val="0"/>
              </a:spcAft>
              <a:buNone/>
            </a:pPr>
            <a:endParaRPr sz="2700">
              <a:solidFill>
                <a:schemeClr val="dk1"/>
              </a:solidFill>
              <a:latin typeface="Calibri"/>
              <a:ea typeface="Calibri"/>
              <a:cs typeface="Calibri"/>
              <a:sym typeface="Calibri"/>
            </a:endParaRPr>
          </a:p>
          <a:p>
            <a:pPr marL="457200" marR="0" lvl="0" indent="-400050" algn="l" rtl="0">
              <a:lnSpc>
                <a:spcPct val="90000"/>
              </a:lnSpc>
              <a:spcBef>
                <a:spcPts val="0"/>
              </a:spcBef>
              <a:spcAft>
                <a:spcPts val="0"/>
              </a:spcAft>
              <a:buClr>
                <a:schemeClr val="dk1"/>
              </a:buClr>
              <a:buSzPts val="2700"/>
              <a:buFont typeface="Calibri"/>
              <a:buChar char="●"/>
            </a:pPr>
            <a:r>
              <a:rPr lang="fr-FR" sz="2700" b="0" i="0" u="none" strike="noStrike" cap="none">
                <a:solidFill>
                  <a:schemeClr val="dk1"/>
                </a:solidFill>
                <a:latin typeface="Calibri"/>
                <a:ea typeface="Calibri"/>
                <a:cs typeface="Calibri"/>
                <a:sym typeface="Calibri"/>
              </a:rPr>
              <a:t>Une enquête élaborée dans le but de répondre à un besoin politique (et académique) contemporain, afin de renseigner les inégalités de traitement et de vécu dues à l’origine migratoire</a:t>
            </a: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p:txBody>
      </p:sp>
      <p:sp>
        <p:nvSpPr>
          <p:cNvPr id="289" name="Google Shape;289;g2a994f7876f_0_179"/>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2a994f7876f_0_19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23</a:t>
            </a:fld>
            <a:endParaRPr sz="1000">
              <a:solidFill>
                <a:srgbClr val="808080"/>
              </a:solidFill>
              <a:latin typeface="Arial"/>
              <a:ea typeface="Arial"/>
              <a:cs typeface="Arial"/>
              <a:sym typeface="Arial"/>
            </a:endParaRPr>
          </a:p>
        </p:txBody>
      </p:sp>
      <p:sp>
        <p:nvSpPr>
          <p:cNvPr id="295" name="Google Shape;295;g2a994f7876f_0_196"/>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lt1"/>
                </a:solidFill>
                <a:latin typeface="Calibri"/>
                <a:ea typeface="Calibri"/>
                <a:cs typeface="Calibri"/>
                <a:sym typeface="Calibri"/>
              </a:rPr>
              <a:t>2. L’élaboration d’une enquête de la statistique publique : Trajectoires et Origines</a:t>
            </a:r>
            <a:endParaRPr sz="1800" b="0" i="0" u="none" strike="noStrike" cap="none">
              <a:solidFill>
                <a:schemeClr val="lt1"/>
              </a:solidFill>
              <a:latin typeface="Calibri"/>
              <a:ea typeface="Calibri"/>
              <a:cs typeface="Calibri"/>
              <a:sym typeface="Calibri"/>
            </a:endParaRPr>
          </a:p>
        </p:txBody>
      </p:sp>
      <p:sp>
        <p:nvSpPr>
          <p:cNvPr id="296" name="Google Shape;296;g2a994f7876f_0_196"/>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297" name="Google Shape;297;g2a994f7876f_0_196"/>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just" rtl="0">
              <a:lnSpc>
                <a:spcPct val="90000"/>
              </a:lnSpc>
              <a:spcBef>
                <a:spcPts val="25"/>
              </a:spcBef>
              <a:spcAft>
                <a:spcPts val="0"/>
              </a:spcAft>
              <a:buClr>
                <a:srgbClr val="000000"/>
              </a:buClr>
              <a:buSzPts val="1600"/>
              <a:buFont typeface="Arial"/>
              <a:buNone/>
            </a:pPr>
            <a:r>
              <a:rPr lang="fr-FR" sz="1600" b="0" i="1" u="none" strike="noStrike" cap="none">
                <a:solidFill>
                  <a:schemeClr val="dk1"/>
                </a:solidFill>
                <a:latin typeface="Arial"/>
                <a:ea typeface="Arial"/>
                <a:cs typeface="Arial"/>
                <a:sym typeface="Arial"/>
              </a:rPr>
              <a:t>Le souhait de renouveler l’enquête TeO a été exprimé lors de la réunion de la </a:t>
            </a:r>
            <a:r>
              <a:rPr lang="fr-FR" sz="1600" b="1" i="1" u="none" strike="noStrike" cap="none">
                <a:solidFill>
                  <a:schemeClr val="dk1"/>
                </a:solidFill>
                <a:latin typeface="Arial"/>
                <a:ea typeface="Arial"/>
                <a:cs typeface="Arial"/>
                <a:sym typeface="Arial"/>
              </a:rPr>
              <a:t>commission « démographie et questions sociales » du Cnis </a:t>
            </a:r>
            <a:r>
              <a:rPr lang="fr-FR" sz="1600" b="0" i="1" u="none" strike="noStrike" cap="none">
                <a:solidFill>
                  <a:schemeClr val="dk1"/>
                </a:solidFill>
                <a:latin typeface="Arial"/>
                <a:ea typeface="Arial"/>
                <a:cs typeface="Arial"/>
                <a:sym typeface="Arial"/>
              </a:rPr>
              <a:t>d’octobre 2015, ainsi que par le </a:t>
            </a:r>
            <a:r>
              <a:rPr lang="fr-FR" sz="1600" b="1" i="1" u="none" strike="noStrike" cap="none">
                <a:solidFill>
                  <a:schemeClr val="dk1"/>
                </a:solidFill>
                <a:latin typeface="Arial"/>
                <a:ea typeface="Arial"/>
                <a:cs typeface="Arial"/>
                <a:sym typeface="Arial"/>
              </a:rPr>
              <a:t>Défenseur des droits</a:t>
            </a:r>
            <a:r>
              <a:rPr lang="fr-FR" sz="1600" b="0" i="1" u="none" strike="noStrike" cap="none">
                <a:solidFill>
                  <a:schemeClr val="dk1"/>
                </a:solidFill>
                <a:latin typeface="Arial"/>
                <a:ea typeface="Arial"/>
                <a:cs typeface="Arial"/>
                <a:sym typeface="Arial"/>
              </a:rPr>
              <a:t> lors de la conférence de presse de présentation des résultats de l’enquête de 2008-2009, le 8 janvier 2016 à l’Ined. L’enquête TeO2 a, par ailleurs, été inscrite dans le </a:t>
            </a:r>
            <a:r>
              <a:rPr lang="fr-FR" sz="1600" b="1" i="1" u="none" strike="noStrike" cap="none">
                <a:solidFill>
                  <a:schemeClr val="dk1"/>
                </a:solidFill>
                <a:latin typeface="Arial"/>
                <a:ea typeface="Arial"/>
                <a:cs typeface="Arial"/>
                <a:sym typeface="Arial"/>
              </a:rPr>
              <a:t>Plan national de lutte contre le racisme et l’antisémitisme </a:t>
            </a:r>
            <a:r>
              <a:rPr lang="fr-FR" sz="1600" b="0" i="1" u="none" strike="noStrike" cap="none">
                <a:solidFill>
                  <a:schemeClr val="dk1"/>
                </a:solidFill>
                <a:latin typeface="Arial"/>
                <a:ea typeface="Arial"/>
                <a:cs typeface="Arial"/>
                <a:sym typeface="Arial"/>
              </a:rPr>
              <a:t>(2018-2020), élaboré par la </a:t>
            </a:r>
            <a:r>
              <a:rPr lang="fr-FR" sz="1600" b="1" i="1" u="none" strike="noStrike" cap="none">
                <a:solidFill>
                  <a:schemeClr val="dk1"/>
                </a:solidFill>
                <a:latin typeface="Arial"/>
                <a:ea typeface="Arial"/>
                <a:cs typeface="Arial"/>
                <a:sym typeface="Arial"/>
              </a:rPr>
              <a:t>DILCRAH </a:t>
            </a:r>
            <a:r>
              <a:rPr lang="fr-FR" sz="1600" b="0" i="1" u="none" strike="noStrike" cap="none">
                <a:solidFill>
                  <a:schemeClr val="dk1"/>
                </a:solidFill>
                <a:latin typeface="Arial"/>
                <a:ea typeface="Arial"/>
                <a:cs typeface="Arial"/>
                <a:sym typeface="Arial"/>
              </a:rPr>
              <a:t>(Délégation interministérielle à la lutte contre le racisme, l’antisémitisme et la haine anti-LGBT)</a:t>
            </a:r>
            <a:r>
              <a:rPr lang="fr-FR" sz="1200" b="0" i="0" u="none" strike="noStrike" cap="none">
                <a:solidFill>
                  <a:schemeClr val="dk1"/>
                </a:solidFill>
                <a:latin typeface="Arial"/>
                <a:ea typeface="Arial"/>
                <a:cs typeface="Arial"/>
                <a:sym typeface="Arial"/>
              </a:rPr>
              <a:t>.</a:t>
            </a:r>
            <a:endParaRPr sz="1200" b="0" i="0" u="none" strike="noStrike" cap="none">
              <a:solidFill>
                <a:schemeClr val="dk1"/>
              </a:solidFill>
              <a:latin typeface="Arial"/>
              <a:ea typeface="Arial"/>
              <a:cs typeface="Arial"/>
              <a:sym typeface="Arial"/>
            </a:endParaRPr>
          </a:p>
          <a:p>
            <a:pPr marL="0" marR="0" lvl="0" indent="0" algn="l" rtl="0">
              <a:lnSpc>
                <a:spcPct val="90000"/>
              </a:lnSpc>
              <a:spcBef>
                <a:spcPts val="25"/>
              </a:spcBef>
              <a:spcAft>
                <a:spcPts val="0"/>
              </a:spcAft>
              <a:buClr>
                <a:srgbClr val="000000"/>
              </a:buClr>
              <a:buSzPts val="1100"/>
              <a:buFont typeface="Arial"/>
              <a:buNone/>
            </a:pPr>
            <a:endParaRPr sz="1100" b="0" i="0" u="none" strike="noStrike" cap="none">
              <a:solidFill>
                <a:schemeClr val="dk1"/>
              </a:solidFill>
              <a:latin typeface="Arial"/>
              <a:ea typeface="Arial"/>
              <a:cs typeface="Arial"/>
              <a:sym typeface="Arial"/>
            </a:endParaRPr>
          </a:p>
          <a:p>
            <a:pPr marL="0" marR="0" lvl="0" indent="0" algn="r" rtl="0">
              <a:lnSpc>
                <a:spcPct val="90000"/>
              </a:lnSpc>
              <a:spcBef>
                <a:spcPts val="25"/>
              </a:spcBef>
              <a:spcAft>
                <a:spcPts val="0"/>
              </a:spcAft>
              <a:buClr>
                <a:srgbClr val="000000"/>
              </a:buClr>
              <a:buSzPts val="1100"/>
              <a:buFont typeface="Arial"/>
              <a:buNone/>
            </a:pPr>
            <a:r>
              <a:rPr lang="fr-FR" sz="1100" b="0" i="0" u="sng" strike="noStrike" cap="none">
                <a:solidFill>
                  <a:schemeClr val="dk1"/>
                </a:solidFill>
                <a:latin typeface="Arial"/>
                <a:ea typeface="Arial"/>
                <a:cs typeface="Arial"/>
                <a:sym typeface="Arial"/>
              </a:rPr>
              <a:t>Source</a:t>
            </a:r>
            <a:r>
              <a:rPr lang="fr-FR" sz="1100" b="0" i="0" u="none" strike="noStrike" cap="none">
                <a:solidFill>
                  <a:schemeClr val="dk1"/>
                </a:solidFill>
                <a:latin typeface="Arial"/>
                <a:ea typeface="Arial"/>
                <a:cs typeface="Arial"/>
                <a:sym typeface="Arial"/>
              </a:rPr>
              <a:t> : Site officiel de l’enquête Trajectoires et Origines 2 </a:t>
            </a:r>
            <a:endParaRPr sz="1100" b="0" i="0" u="none" strike="noStrike" cap="none">
              <a:solidFill>
                <a:schemeClr val="dk1"/>
              </a:solidFill>
              <a:latin typeface="Arial"/>
              <a:ea typeface="Arial"/>
              <a:cs typeface="Arial"/>
              <a:sym typeface="Arial"/>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p:txBody>
      </p:sp>
      <p:sp>
        <p:nvSpPr>
          <p:cNvPr id="298" name="Google Shape;298;g2a994f7876f_0_196"/>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g3248ac6ffd9_0_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24</a:t>
            </a:fld>
            <a:endParaRPr sz="1000">
              <a:solidFill>
                <a:srgbClr val="808080"/>
              </a:solidFill>
              <a:latin typeface="Arial"/>
              <a:ea typeface="Arial"/>
              <a:cs typeface="Arial"/>
              <a:sym typeface="Arial"/>
            </a:endParaRPr>
          </a:p>
        </p:txBody>
      </p:sp>
      <p:sp>
        <p:nvSpPr>
          <p:cNvPr id="304" name="Google Shape;304;g3248ac6ffd9_0_8"/>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lt1"/>
                </a:solidFill>
                <a:latin typeface="Calibri"/>
                <a:ea typeface="Calibri"/>
                <a:cs typeface="Calibri"/>
                <a:sym typeface="Calibri"/>
              </a:rPr>
              <a:t>2. L’élaboration d’une enquête de la statistique publique : Trajectoires et Origines</a:t>
            </a:r>
            <a:endParaRPr sz="1800" b="0" i="0" u="none" strike="noStrike" cap="none">
              <a:solidFill>
                <a:schemeClr val="lt1"/>
              </a:solidFill>
              <a:latin typeface="Calibri"/>
              <a:ea typeface="Calibri"/>
              <a:cs typeface="Calibri"/>
              <a:sym typeface="Calibri"/>
            </a:endParaRPr>
          </a:p>
        </p:txBody>
      </p:sp>
      <p:sp>
        <p:nvSpPr>
          <p:cNvPr id="305" name="Google Shape;305;g3248ac6ffd9_0_8"/>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306" name="Google Shape;306;g3248ac6ffd9_0_8"/>
          <p:cNvSpPr txBox="1"/>
          <p:nvPr/>
        </p:nvSpPr>
        <p:spPr>
          <a:xfrm>
            <a:off x="467650" y="1671575"/>
            <a:ext cx="8219100" cy="43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fr-FR" sz="2700" u="sng">
                <a:solidFill>
                  <a:schemeClr val="dk1"/>
                </a:solidFill>
                <a:latin typeface="Calibri"/>
                <a:ea typeface="Calibri"/>
                <a:cs typeface="Calibri"/>
                <a:sym typeface="Calibri"/>
              </a:rPr>
              <a:t>Thématiques abordées :</a:t>
            </a:r>
            <a:endParaRPr sz="2700" u="sng">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fr-FR" sz="2700">
                <a:solidFill>
                  <a:schemeClr val="dk1"/>
                </a:solidFill>
                <a:latin typeface="Calibri"/>
                <a:ea typeface="Calibri"/>
                <a:cs typeface="Calibri"/>
                <a:sym typeface="Calibri"/>
              </a:rPr>
              <a:t>Origines géographiques, sociales</a:t>
            </a:r>
            <a:endParaRPr sz="2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fr-FR" sz="2700">
                <a:solidFill>
                  <a:schemeClr val="dk1"/>
                </a:solidFill>
                <a:latin typeface="Calibri"/>
                <a:ea typeface="Calibri"/>
                <a:cs typeface="Calibri"/>
                <a:sym typeface="Calibri"/>
              </a:rPr>
              <a:t>Situation conjugale, famille</a:t>
            </a:r>
            <a:endParaRPr sz="2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fr-FR" sz="2700">
                <a:solidFill>
                  <a:schemeClr val="dk1"/>
                </a:solidFill>
                <a:latin typeface="Calibri"/>
                <a:ea typeface="Calibri"/>
                <a:cs typeface="Calibri"/>
                <a:sym typeface="Calibri"/>
              </a:rPr>
              <a:t>Conditions de logement</a:t>
            </a:r>
            <a:endParaRPr sz="2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fr-FR" sz="2700">
                <a:solidFill>
                  <a:schemeClr val="dk1"/>
                </a:solidFill>
                <a:latin typeface="Calibri"/>
                <a:ea typeface="Calibri"/>
                <a:cs typeface="Calibri"/>
                <a:sym typeface="Calibri"/>
              </a:rPr>
              <a:t>Travail </a:t>
            </a:r>
            <a:endParaRPr sz="2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fr-FR" sz="2700">
                <a:solidFill>
                  <a:schemeClr val="dk1"/>
                </a:solidFill>
                <a:latin typeface="Calibri"/>
                <a:ea typeface="Calibri"/>
                <a:cs typeface="Calibri"/>
                <a:sym typeface="Calibri"/>
              </a:rPr>
              <a:t>Politique</a:t>
            </a:r>
            <a:endParaRPr sz="2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fr-FR" sz="2700">
                <a:solidFill>
                  <a:schemeClr val="dk1"/>
                </a:solidFill>
                <a:latin typeface="Calibri"/>
                <a:ea typeface="Calibri"/>
                <a:cs typeface="Calibri"/>
                <a:sym typeface="Calibri"/>
              </a:rPr>
              <a:t>Santé</a:t>
            </a:r>
            <a:endParaRPr sz="27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fr-FR" sz="2700">
                <a:solidFill>
                  <a:schemeClr val="dk1"/>
                </a:solidFill>
                <a:latin typeface="Calibri"/>
                <a:ea typeface="Calibri"/>
                <a:cs typeface="Calibri"/>
                <a:sym typeface="Calibri"/>
              </a:rPr>
              <a:t>Expériences de racisme, discrimination</a:t>
            </a:r>
            <a:endParaRPr sz="2700">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1100"/>
              <a:buFont typeface="Arial"/>
              <a:buNone/>
            </a:pPr>
            <a:endParaRPr sz="270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i="0" u="none" strike="noStrike" cap="none">
              <a:solidFill>
                <a:schemeClr val="dk1"/>
              </a:solidFill>
              <a:latin typeface="Calibri"/>
              <a:ea typeface="Calibri"/>
              <a:cs typeface="Calibri"/>
              <a:sym typeface="Calibri"/>
            </a:endParaRPr>
          </a:p>
        </p:txBody>
      </p:sp>
      <p:sp>
        <p:nvSpPr>
          <p:cNvPr id="307" name="Google Shape;307;g3248ac6ffd9_0_8"/>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g2a994f7876f_0_18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25</a:t>
            </a:fld>
            <a:endParaRPr sz="1000">
              <a:solidFill>
                <a:srgbClr val="808080"/>
              </a:solidFill>
              <a:latin typeface="Arial"/>
              <a:ea typeface="Arial"/>
              <a:cs typeface="Arial"/>
              <a:sym typeface="Arial"/>
            </a:endParaRPr>
          </a:p>
        </p:txBody>
      </p:sp>
      <p:sp>
        <p:nvSpPr>
          <p:cNvPr id="313" name="Google Shape;313;g2a994f7876f_0_187"/>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lt1"/>
                </a:solidFill>
                <a:latin typeface="Calibri"/>
                <a:ea typeface="Calibri"/>
                <a:cs typeface="Calibri"/>
                <a:sym typeface="Calibri"/>
              </a:rPr>
              <a:t>2. L’élaboration d’une enquête de la statistique publique : Trajectoires et Origines</a:t>
            </a:r>
            <a:endParaRPr sz="1800" b="0" i="0" u="none" strike="noStrike" cap="none">
              <a:solidFill>
                <a:schemeClr val="lt1"/>
              </a:solidFill>
              <a:latin typeface="Calibri"/>
              <a:ea typeface="Calibri"/>
              <a:cs typeface="Calibri"/>
              <a:sym typeface="Calibri"/>
            </a:endParaRPr>
          </a:p>
        </p:txBody>
      </p:sp>
      <p:sp>
        <p:nvSpPr>
          <p:cNvPr id="314" name="Google Shape;314;g2a994f7876f_0_187"/>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315" name="Google Shape;315;g2a994f7876f_0_187"/>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457200" marR="0" lvl="0" indent="-400050" algn="l" rtl="0">
              <a:lnSpc>
                <a:spcPct val="90000"/>
              </a:lnSpc>
              <a:spcBef>
                <a:spcPts val="25"/>
              </a:spcBef>
              <a:spcAft>
                <a:spcPts val="0"/>
              </a:spcAft>
              <a:buClr>
                <a:schemeClr val="dk1"/>
              </a:buClr>
              <a:buSzPts val="2700"/>
              <a:buFont typeface="Calibri"/>
              <a:buChar char="●"/>
            </a:pPr>
            <a:r>
              <a:rPr lang="fr-FR" sz="2700" b="0" i="0" u="none" strike="noStrike" cap="none">
                <a:solidFill>
                  <a:schemeClr val="dk1"/>
                </a:solidFill>
                <a:latin typeface="Calibri"/>
                <a:ea typeface="Calibri"/>
                <a:cs typeface="Calibri"/>
                <a:sym typeface="Calibri"/>
              </a:rPr>
              <a:t>Un dispositif de recherche rigoureux élaboré par des chercheurs et statisticiens (répondant·es anonymisé·es, pas d</a:t>
            </a:r>
            <a:r>
              <a:rPr lang="fr-FR" sz="2700">
                <a:solidFill>
                  <a:schemeClr val="dk1"/>
                </a:solidFill>
                <a:latin typeface="Calibri"/>
                <a:ea typeface="Calibri"/>
                <a:cs typeface="Calibri"/>
                <a:sym typeface="Calibri"/>
              </a:rPr>
              <a:t>’obligation de répondre)</a:t>
            </a:r>
            <a:endParaRPr sz="2700" b="0" i="0" u="none" strike="noStrike" cap="none">
              <a:solidFill>
                <a:schemeClr val="dk1"/>
              </a:solidFill>
              <a:latin typeface="Calibri"/>
              <a:ea typeface="Calibri"/>
              <a:cs typeface="Calibri"/>
              <a:sym typeface="Calibri"/>
            </a:endParaRPr>
          </a:p>
          <a:p>
            <a:pPr marL="457200" marR="0" lvl="0" indent="-400050" algn="l" rtl="0">
              <a:lnSpc>
                <a:spcPct val="90000"/>
              </a:lnSpc>
              <a:spcBef>
                <a:spcPts val="0"/>
              </a:spcBef>
              <a:spcAft>
                <a:spcPts val="0"/>
              </a:spcAft>
              <a:buClr>
                <a:schemeClr val="dk1"/>
              </a:buClr>
              <a:buSzPts val="2700"/>
              <a:buFont typeface="Calibri"/>
              <a:buChar char="●"/>
            </a:pPr>
            <a:r>
              <a:rPr lang="fr-FR" sz="2700" b="1" i="0" u="none" strike="noStrike" cap="none">
                <a:solidFill>
                  <a:schemeClr val="dk1"/>
                </a:solidFill>
                <a:latin typeface="Calibri"/>
                <a:ea typeface="Calibri"/>
                <a:cs typeface="Calibri"/>
                <a:sym typeface="Calibri"/>
              </a:rPr>
              <a:t>N=27,181</a:t>
            </a:r>
            <a:r>
              <a:rPr lang="fr-FR" sz="2700" b="0" i="0" u="none" strike="noStrike" cap="none">
                <a:solidFill>
                  <a:schemeClr val="dk1"/>
                </a:solidFill>
                <a:latin typeface="Calibri"/>
                <a:ea typeface="Calibri"/>
                <a:cs typeface="Calibri"/>
                <a:sym typeface="Calibri"/>
              </a:rPr>
              <a:t> individus interrogés (population majoritaire, immigrés, descendants d’immigrés)</a:t>
            </a:r>
            <a:endParaRPr sz="2700" b="0" i="0" u="none" strike="noStrike" cap="none">
              <a:solidFill>
                <a:schemeClr val="dk1"/>
              </a:solidFill>
              <a:latin typeface="Calibri"/>
              <a:ea typeface="Calibri"/>
              <a:cs typeface="Calibri"/>
              <a:sym typeface="Calibri"/>
            </a:endParaRPr>
          </a:p>
          <a:p>
            <a:pPr marL="457200" marR="0" lvl="0" indent="-400050" algn="l" rtl="0">
              <a:lnSpc>
                <a:spcPct val="90000"/>
              </a:lnSpc>
              <a:spcBef>
                <a:spcPts val="0"/>
              </a:spcBef>
              <a:spcAft>
                <a:spcPts val="0"/>
              </a:spcAft>
              <a:buClr>
                <a:schemeClr val="dk1"/>
              </a:buClr>
              <a:buSzPts val="2700"/>
              <a:buFont typeface="Calibri"/>
              <a:buChar char="●"/>
            </a:pPr>
            <a:r>
              <a:rPr lang="fr-FR" sz="2700" b="0" i="0" u="none" strike="noStrike" cap="none">
                <a:solidFill>
                  <a:schemeClr val="dk1"/>
                </a:solidFill>
                <a:latin typeface="Calibri"/>
                <a:ea typeface="Calibri"/>
                <a:cs typeface="Calibri"/>
                <a:sym typeface="Calibri"/>
              </a:rPr>
              <a:t>Une enquête conduite entre juillet 2019 et décembre 2020 par des enquêteurs qui interrogent en </a:t>
            </a:r>
            <a:r>
              <a:rPr lang="fr-FR" sz="2700" b="0" i="0" u="none" strike="noStrike" cap="none">
                <a:solidFill>
                  <a:schemeClr val="dk1"/>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2"/>
                  </a:ext>
                </a:extLst>
              </a:rPr>
              <a:t>face-à-face les répondants</a:t>
            </a:r>
            <a:r>
              <a:rPr lang="fr-FR" sz="2700" b="0" i="0" u="none" strike="noStrike" cap="none">
                <a:solidFill>
                  <a:schemeClr val="dk1"/>
                </a:solidFill>
                <a:latin typeface="Calibri"/>
                <a:ea typeface="Calibri"/>
                <a:cs typeface="Calibri"/>
                <a:sym typeface="Calibri"/>
              </a:rPr>
              <a:t> grâce à un questionnaire standardisé</a:t>
            </a:r>
            <a:r>
              <a:rPr lang="fr-FR" sz="2700">
                <a:solidFill>
                  <a:schemeClr val="dk1"/>
                </a:solidFill>
                <a:latin typeface="Calibri"/>
                <a:ea typeface="Calibri"/>
                <a:cs typeface="Calibri"/>
                <a:sym typeface="Calibri"/>
              </a:rPr>
              <a:t>, et par téléphone durant le premier confinement</a:t>
            </a: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p:txBody>
      </p:sp>
      <p:sp>
        <p:nvSpPr>
          <p:cNvPr id="316" name="Google Shape;316;g2a994f7876f_0_187"/>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g2a994f7876f_0_17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26</a:t>
            </a:fld>
            <a:endParaRPr sz="1000">
              <a:solidFill>
                <a:srgbClr val="808080"/>
              </a:solidFill>
              <a:latin typeface="Arial"/>
              <a:ea typeface="Arial"/>
              <a:cs typeface="Arial"/>
              <a:sym typeface="Arial"/>
            </a:endParaRPr>
          </a:p>
        </p:txBody>
      </p:sp>
      <p:sp>
        <p:nvSpPr>
          <p:cNvPr id="322" name="Google Shape;322;g2a994f7876f_0_171"/>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lt1"/>
                </a:solidFill>
                <a:latin typeface="Calibri"/>
                <a:ea typeface="Calibri"/>
                <a:cs typeface="Calibri"/>
                <a:sym typeface="Calibri"/>
              </a:rPr>
              <a:t>2. L’élaboration d’une enquête de la statistique publique : Trajectoires et Origines</a:t>
            </a:r>
            <a:endParaRPr sz="1800" b="0" i="0" u="none" strike="noStrike" cap="none">
              <a:solidFill>
                <a:schemeClr val="lt1"/>
              </a:solidFill>
              <a:latin typeface="Calibri"/>
              <a:ea typeface="Calibri"/>
              <a:cs typeface="Calibri"/>
              <a:sym typeface="Calibri"/>
            </a:endParaRPr>
          </a:p>
        </p:txBody>
      </p:sp>
      <p:sp>
        <p:nvSpPr>
          <p:cNvPr id="323" name="Google Shape;323;g2a994f7876f_0_171"/>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324" name="Google Shape;324;g2a994f7876f_0_171"/>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700"/>
              <a:buFont typeface="Arial"/>
              <a:buNone/>
            </a:pPr>
            <a:r>
              <a:rPr lang="fr-FR" sz="2700" b="0" i="0" u="none" strike="noStrike" cap="none">
                <a:solidFill>
                  <a:schemeClr val="dk1"/>
                </a:solidFill>
                <a:latin typeface="Calibri"/>
                <a:ea typeface="Calibri"/>
                <a:cs typeface="Calibri"/>
                <a:sym typeface="Calibri"/>
              </a:rPr>
              <a:t>La conduite des enquêtes statistiques dépend fortement des contextes nationaux. </a:t>
            </a: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r>
              <a:rPr lang="fr-FR" sz="2700" b="0" i="0" u="sng" strike="noStrike" cap="none">
                <a:solidFill>
                  <a:schemeClr val="dk1"/>
                </a:solidFill>
                <a:latin typeface="Calibri"/>
                <a:ea typeface="Calibri"/>
                <a:cs typeface="Calibri"/>
                <a:sym typeface="Calibri"/>
              </a:rPr>
              <a:t>Exemples</a:t>
            </a:r>
            <a:r>
              <a:rPr lang="fr-FR" sz="2700" b="0" i="0" u="none" strike="noStrike" cap="none">
                <a:solidFill>
                  <a:schemeClr val="dk1"/>
                </a:solidFill>
                <a:latin typeface="Calibri"/>
                <a:ea typeface="Calibri"/>
                <a:cs typeface="Calibri"/>
                <a:sym typeface="Calibri"/>
              </a:rPr>
              <a:t> : </a:t>
            </a:r>
            <a:endParaRPr sz="2700">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a:solidFill>
                <a:schemeClr val="dk1"/>
              </a:solidFill>
              <a:latin typeface="Calibri"/>
              <a:ea typeface="Calibri"/>
              <a:cs typeface="Calibri"/>
              <a:sym typeface="Calibri"/>
            </a:endParaRPr>
          </a:p>
          <a:p>
            <a:pPr marL="457200" marR="0" lvl="0" indent="-400050" algn="l" rtl="0">
              <a:lnSpc>
                <a:spcPct val="90000"/>
              </a:lnSpc>
              <a:spcBef>
                <a:spcPts val="25"/>
              </a:spcBef>
              <a:spcAft>
                <a:spcPts val="0"/>
              </a:spcAft>
              <a:buClr>
                <a:schemeClr val="dk1"/>
              </a:buClr>
              <a:buSzPts val="2700"/>
              <a:buFont typeface="Calibri"/>
              <a:buChar char="-"/>
            </a:pPr>
            <a:r>
              <a:rPr lang="fr-FR" sz="2700" b="0" i="0" u="none" strike="noStrike" cap="none">
                <a:solidFill>
                  <a:schemeClr val="dk1"/>
                </a:solidFill>
                <a:latin typeface="Calibri"/>
                <a:ea typeface="Calibri"/>
                <a:cs typeface="Calibri"/>
                <a:sym typeface="Calibri"/>
              </a:rPr>
              <a:t>Les impacts de la crise sanitaire sur la conduite de l’enquête TeO 2 (entre juillet 2019 et décembre 2020 : confinements en France)</a:t>
            </a:r>
            <a:endParaRPr sz="2700" b="0" i="0" u="none" strike="noStrike" cap="none">
              <a:solidFill>
                <a:schemeClr val="dk1"/>
              </a:solidFill>
              <a:latin typeface="Calibri"/>
              <a:ea typeface="Calibri"/>
              <a:cs typeface="Calibri"/>
              <a:sym typeface="Calibri"/>
            </a:endParaRPr>
          </a:p>
          <a:p>
            <a:pPr marL="457200" marR="0" lvl="0" indent="-400050" algn="l" rtl="0">
              <a:lnSpc>
                <a:spcPct val="90000"/>
              </a:lnSpc>
              <a:spcBef>
                <a:spcPts val="0"/>
              </a:spcBef>
              <a:spcAft>
                <a:spcPts val="0"/>
              </a:spcAft>
              <a:buClr>
                <a:schemeClr val="dk1"/>
              </a:buClr>
              <a:buSzPts val="2700"/>
              <a:buFont typeface="Calibri"/>
              <a:buChar char="-"/>
            </a:pPr>
            <a:r>
              <a:rPr lang="fr-FR" sz="2700" b="0" i="0" u="none" strike="noStrike" cap="none">
                <a:solidFill>
                  <a:schemeClr val="dk1"/>
                </a:solidFill>
                <a:latin typeface="Calibri"/>
                <a:ea typeface="Calibri"/>
                <a:cs typeface="Calibri"/>
                <a:sym typeface="Calibri"/>
              </a:rPr>
              <a:t>Les statistiques ethniques, objet de polémiques et non autorisées en France (mais autorisées aux Etats-Unis ou en Angleterre)</a:t>
            </a:r>
            <a:endParaRPr sz="27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p:txBody>
      </p:sp>
      <p:sp>
        <p:nvSpPr>
          <p:cNvPr id="325" name="Google Shape;325;g2a994f7876f_0_171"/>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g2a994f7876f_0_12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27</a:t>
            </a:fld>
            <a:endParaRPr sz="1000">
              <a:solidFill>
                <a:srgbClr val="808080"/>
              </a:solidFill>
              <a:latin typeface="Arial"/>
              <a:ea typeface="Arial"/>
              <a:cs typeface="Arial"/>
              <a:sym typeface="Arial"/>
            </a:endParaRPr>
          </a:p>
        </p:txBody>
      </p:sp>
      <p:sp>
        <p:nvSpPr>
          <p:cNvPr id="331" name="Google Shape;331;g2a994f7876f_0_128"/>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2" name="Google Shape;332;g2a994f7876f_0_128"/>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333" name="Google Shape;333;g2a994f7876f_0_128"/>
          <p:cNvSpPr txBox="1"/>
          <p:nvPr/>
        </p:nvSpPr>
        <p:spPr>
          <a:xfrm>
            <a:off x="7859900" y="5359150"/>
            <a:ext cx="1020000" cy="8541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1000"/>
              <a:buFont typeface="Arial"/>
              <a:buNone/>
            </a:pPr>
            <a:r>
              <a:rPr lang="fr-FR" sz="1000" b="0" i="0" u="sng" strike="noStrike" cap="none">
                <a:solidFill>
                  <a:schemeClr val="dk1"/>
                </a:solidFill>
                <a:latin typeface="Calibri"/>
                <a:ea typeface="Calibri"/>
                <a:cs typeface="Calibri"/>
                <a:sym typeface="Calibri"/>
              </a:rPr>
              <a:t>Source </a:t>
            </a:r>
            <a:r>
              <a:rPr lang="fr-FR"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1000"/>
              <a:buFont typeface="Arial"/>
              <a:buNone/>
            </a:pPr>
            <a:r>
              <a:rPr lang="fr-FR" sz="1000" b="0" i="0" u="none" strike="noStrike" cap="none">
                <a:solidFill>
                  <a:schemeClr val="dk1"/>
                </a:solidFill>
                <a:latin typeface="Calibri"/>
                <a:ea typeface="Calibri"/>
                <a:cs typeface="Calibri"/>
                <a:sym typeface="Calibri"/>
              </a:rPr>
              <a:t>Documentation de l’enquête TeO 2</a:t>
            </a:r>
            <a:endParaRPr sz="1000" b="0" i="0" u="none" strike="noStrike" cap="none">
              <a:solidFill>
                <a:schemeClr val="dk1"/>
              </a:solidFill>
              <a:latin typeface="Calibri"/>
              <a:ea typeface="Calibri"/>
              <a:cs typeface="Calibri"/>
              <a:sym typeface="Calibri"/>
            </a:endParaRPr>
          </a:p>
        </p:txBody>
      </p:sp>
      <p:sp>
        <p:nvSpPr>
          <p:cNvPr id="334" name="Google Shape;334;g2a994f7876f_0_128"/>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E6142D"/>
              </a:solidFill>
              <a:latin typeface="Calibri"/>
              <a:ea typeface="Calibri"/>
              <a:cs typeface="Calibri"/>
              <a:sym typeface="Calibri"/>
            </a:endParaRPr>
          </a:p>
        </p:txBody>
      </p:sp>
      <p:pic>
        <p:nvPicPr>
          <p:cNvPr id="335" name="Google Shape;335;g2a994f7876f_0_128"/>
          <p:cNvPicPr preferRelativeResize="0"/>
          <p:nvPr/>
        </p:nvPicPr>
        <p:blipFill rotWithShape="1">
          <a:blip r:embed="rId3">
            <a:alphaModFix/>
          </a:blip>
          <a:srcRect l="35301" t="31140" r="36149" b="5071"/>
          <a:stretch/>
        </p:blipFill>
        <p:spPr>
          <a:xfrm>
            <a:off x="2248327" y="0"/>
            <a:ext cx="5456870" cy="6858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g2a994f7876f_0_20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28</a:t>
            </a:fld>
            <a:endParaRPr sz="1000">
              <a:solidFill>
                <a:srgbClr val="808080"/>
              </a:solidFill>
              <a:latin typeface="Arial"/>
              <a:ea typeface="Arial"/>
              <a:cs typeface="Arial"/>
              <a:sym typeface="Arial"/>
            </a:endParaRPr>
          </a:p>
        </p:txBody>
      </p:sp>
      <p:sp>
        <p:nvSpPr>
          <p:cNvPr id="341" name="Google Shape;341;g2a994f7876f_0_204"/>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45720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2E5D5A"/>
              </a:solidFill>
              <a:latin typeface="Calibri"/>
              <a:ea typeface="Calibri"/>
              <a:cs typeface="Calibri"/>
              <a:sym typeface="Calibri"/>
            </a:endParaRPr>
          </a:p>
        </p:txBody>
      </p:sp>
      <p:sp>
        <p:nvSpPr>
          <p:cNvPr id="342" name="Google Shape;342;g2a994f7876f_0_204"/>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343" name="Google Shape;343;g2a994f7876f_0_204"/>
          <p:cNvSpPr txBox="1"/>
          <p:nvPr/>
        </p:nvSpPr>
        <p:spPr>
          <a:xfrm>
            <a:off x="7859900" y="5359150"/>
            <a:ext cx="1020000" cy="8541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1000"/>
              <a:buFont typeface="Arial"/>
              <a:buNone/>
            </a:pPr>
            <a:r>
              <a:rPr lang="fr-FR" sz="1000" b="0" i="0" u="sng" strike="noStrike" cap="none">
                <a:solidFill>
                  <a:schemeClr val="dk1"/>
                </a:solidFill>
                <a:latin typeface="Calibri"/>
                <a:ea typeface="Calibri"/>
                <a:cs typeface="Calibri"/>
                <a:sym typeface="Calibri"/>
              </a:rPr>
              <a:t>Source </a:t>
            </a:r>
            <a:r>
              <a:rPr lang="fr-FR"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1000"/>
              <a:buFont typeface="Arial"/>
              <a:buNone/>
            </a:pPr>
            <a:r>
              <a:rPr lang="fr-FR" sz="1000" b="0" i="0" u="none" strike="noStrike" cap="none">
                <a:solidFill>
                  <a:schemeClr val="dk1"/>
                </a:solidFill>
                <a:latin typeface="Calibri"/>
                <a:ea typeface="Calibri"/>
                <a:cs typeface="Calibri"/>
                <a:sym typeface="Calibri"/>
              </a:rPr>
              <a:t>Documentation de l’enquête TeO 2</a:t>
            </a:r>
            <a:endParaRPr sz="1000" b="0" i="0" u="none" strike="noStrike" cap="none">
              <a:solidFill>
                <a:schemeClr val="dk1"/>
              </a:solidFill>
              <a:latin typeface="Calibri"/>
              <a:ea typeface="Calibri"/>
              <a:cs typeface="Calibri"/>
              <a:sym typeface="Calibri"/>
            </a:endParaRPr>
          </a:p>
        </p:txBody>
      </p:sp>
      <p:sp>
        <p:nvSpPr>
          <p:cNvPr id="344" name="Google Shape;344;g2a994f7876f_0_204"/>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E6142D"/>
              </a:solidFill>
              <a:latin typeface="Calibri"/>
              <a:ea typeface="Calibri"/>
              <a:cs typeface="Calibri"/>
              <a:sym typeface="Calibri"/>
            </a:endParaRPr>
          </a:p>
        </p:txBody>
      </p:sp>
      <p:pic>
        <p:nvPicPr>
          <p:cNvPr id="345" name="Google Shape;345;g2a994f7876f_0_204"/>
          <p:cNvPicPr preferRelativeResize="0"/>
          <p:nvPr/>
        </p:nvPicPr>
        <p:blipFill rotWithShape="1">
          <a:blip r:embed="rId3">
            <a:alphaModFix/>
          </a:blip>
          <a:srcRect l="34097" t="25840" r="35644" b="10715"/>
          <a:stretch/>
        </p:blipFill>
        <p:spPr>
          <a:xfrm>
            <a:off x="1669989" y="0"/>
            <a:ext cx="5814413" cy="6858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g2a994f7876f_0_16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29</a:t>
            </a:fld>
            <a:endParaRPr sz="1000">
              <a:solidFill>
                <a:srgbClr val="808080"/>
              </a:solidFill>
              <a:latin typeface="Arial"/>
              <a:ea typeface="Arial"/>
              <a:cs typeface="Arial"/>
              <a:sym typeface="Arial"/>
            </a:endParaRPr>
          </a:p>
        </p:txBody>
      </p:sp>
      <p:sp>
        <p:nvSpPr>
          <p:cNvPr id="351" name="Google Shape;351;g2a994f7876f_0_163"/>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lt1"/>
                </a:solidFill>
                <a:latin typeface="Calibri"/>
                <a:ea typeface="Calibri"/>
                <a:cs typeface="Calibri"/>
                <a:sym typeface="Calibri"/>
              </a:rPr>
              <a:t>2. L’élaboration d’une enquête de la statistique publique : Trajectoires et Origines</a:t>
            </a:r>
            <a:endParaRPr sz="1800" b="0" i="0" u="none" strike="noStrike" cap="none">
              <a:solidFill>
                <a:schemeClr val="lt1"/>
              </a:solidFill>
              <a:latin typeface="Calibri"/>
              <a:ea typeface="Calibri"/>
              <a:cs typeface="Calibri"/>
              <a:sym typeface="Calibri"/>
            </a:endParaRPr>
          </a:p>
        </p:txBody>
      </p:sp>
      <p:sp>
        <p:nvSpPr>
          <p:cNvPr id="352" name="Google Shape;352;g2a994f7876f_0_163"/>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353" name="Google Shape;353;g2a994f7876f_0_163"/>
          <p:cNvSpPr txBox="1"/>
          <p:nvPr/>
        </p:nvSpPr>
        <p:spPr>
          <a:xfrm>
            <a:off x="361047" y="1040387"/>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Comment étudier les questions de racisme et de discriminations sans renseigner les catégories ethno-raciales ? </a:t>
            </a:r>
            <a:endParaRPr/>
          </a:p>
          <a:p>
            <a:pPr marL="0" marR="0" lvl="0" indent="0" algn="l" rtl="0">
              <a:lnSpc>
                <a:spcPct val="90000"/>
              </a:lnSpc>
              <a:spcBef>
                <a:spcPts val="25"/>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     </a:t>
            </a:r>
            <a:r>
              <a:rPr lang="fr-FR" sz="2400">
                <a:solidFill>
                  <a:schemeClr val="dk1"/>
                </a:solidFill>
                <a:latin typeface="Calibri"/>
                <a:ea typeface="Calibri"/>
                <a:cs typeface="Calibri"/>
                <a:sym typeface="Calibri"/>
              </a:rPr>
              <a:t>-</a:t>
            </a:r>
            <a:r>
              <a:rPr lang="fr-FR" sz="2400" b="0" i="0" u="none" strike="noStrike" cap="none">
                <a:solidFill>
                  <a:schemeClr val="dk1"/>
                </a:solidFill>
                <a:latin typeface="Calibri"/>
                <a:ea typeface="Calibri"/>
                <a:cs typeface="Calibri"/>
                <a:sym typeface="Calibri"/>
              </a:rPr>
              <a:t> Le pays de naissance de la mère et du père comme proxy</a:t>
            </a:r>
            <a:endParaRPr sz="2400" b="0" i="0" u="none" strike="noStrike" cap="none">
              <a:solidFill>
                <a:schemeClr val="dk1"/>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 </a:t>
            </a:r>
            <a:endParaRPr sz="2400" b="0" i="0" u="none" strike="noStrike" cap="none">
              <a:solidFill>
                <a:schemeClr val="dk1"/>
              </a:solidFill>
              <a:latin typeface="Calibri"/>
              <a:ea typeface="Calibri"/>
              <a:cs typeface="Calibri"/>
              <a:sym typeface="Calibri"/>
            </a:endParaRPr>
          </a:p>
          <a:p>
            <a:pPr marL="0" marR="0" lvl="0" indent="0" algn="l" rtl="0">
              <a:lnSpc>
                <a:spcPct val="90000"/>
              </a:lnSpc>
              <a:spcBef>
                <a:spcPts val="25"/>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Des catégorisations dans le codage de l’enquête qui se révèlent tributaires de certaines représentations (construites par le contexte historique)</a:t>
            </a:r>
            <a:endParaRPr sz="2400" b="0" i="0" u="none" strike="noStrike" cap="none">
              <a:solidFill>
                <a:schemeClr val="dk1"/>
              </a:solidFill>
              <a:latin typeface="Calibri"/>
              <a:ea typeface="Calibri"/>
              <a:cs typeface="Calibri"/>
              <a:sym typeface="Calibri"/>
            </a:endParaRPr>
          </a:p>
          <a:p>
            <a:pPr marL="457200" marR="0" lvl="0" indent="-400050" algn="l" rtl="0">
              <a:lnSpc>
                <a:spcPct val="90000"/>
              </a:lnSpc>
              <a:spcBef>
                <a:spcPts val="25"/>
              </a:spcBef>
              <a:spcAft>
                <a:spcPts val="0"/>
              </a:spcAft>
              <a:buClr>
                <a:schemeClr val="dk1"/>
              </a:buClr>
              <a:buSzPts val="2700"/>
              <a:buFont typeface="Calibri"/>
              <a:buChar char="-"/>
            </a:pPr>
            <a:r>
              <a:rPr lang="fr-FR" sz="2400" b="0" i="0" u="none" strike="noStrike" cap="none">
                <a:solidFill>
                  <a:schemeClr val="dk1"/>
                </a:solidFill>
                <a:latin typeface="Calibri"/>
                <a:ea typeface="Calibri"/>
                <a:cs typeface="Calibri"/>
                <a:sym typeface="Calibri"/>
              </a:rPr>
              <a:t>Catégorie “Asie du Sud-Est” </a:t>
            </a:r>
            <a:endParaRPr sz="2400" b="0" i="0" u="none" strike="noStrike" cap="none">
              <a:solidFill>
                <a:schemeClr val="dk1"/>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 Vietnam, Cambodge, Laos </a:t>
            </a:r>
            <a:endParaRPr sz="2400" b="0" i="0" u="none" strike="noStrike" cap="none">
              <a:solidFill>
                <a:schemeClr val="dk1"/>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400"/>
              <a:buFont typeface="Arial"/>
              <a:buNone/>
            </a:pPr>
            <a:r>
              <a:rPr lang="fr-FR" sz="2400" b="0" i="0" u="none" strike="noStrike" cap="none">
                <a:solidFill>
                  <a:schemeClr val="dk1"/>
                </a:solidFill>
                <a:latin typeface="Calibri"/>
                <a:ea typeface="Calibri"/>
                <a:cs typeface="Calibri"/>
                <a:sym typeface="Calibri"/>
              </a:rPr>
              <a:t>= ex-Indochine</a:t>
            </a:r>
            <a:endParaRPr/>
          </a:p>
          <a:p>
            <a:pPr marL="45720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a:p>
            <a:pPr marL="457200" marR="0" lvl="0" indent="0" algn="l" rtl="0">
              <a:lnSpc>
                <a:spcPct val="90000"/>
              </a:lnSpc>
              <a:spcBef>
                <a:spcPts val="25"/>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p:txBody>
      </p:sp>
      <p:sp>
        <p:nvSpPr>
          <p:cNvPr id="354" name="Google Shape;354;g2a994f7876f_0_163"/>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2E5D5A"/>
              </a:solidFill>
              <a:latin typeface="Calibri"/>
              <a:ea typeface="Calibri"/>
              <a:cs typeface="Calibri"/>
              <a:sym typeface="Calibri"/>
            </a:endParaRPr>
          </a:p>
        </p:txBody>
      </p:sp>
      <p:sp>
        <p:nvSpPr>
          <p:cNvPr id="355" name="Google Shape;355;g2a994f7876f_0_163"/>
          <p:cNvSpPr txBox="1"/>
          <p:nvPr/>
        </p:nvSpPr>
        <p:spPr>
          <a:xfrm>
            <a:off x="361046" y="5322299"/>
            <a:ext cx="8325703"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fr-FR" sz="1800" b="0" i="0" u="none" strike="noStrike" cap="none">
                <a:solidFill>
                  <a:schemeClr val="dk1"/>
                </a:solidFill>
                <a:latin typeface="Arial"/>
                <a:ea typeface="Arial"/>
                <a:cs typeface="Arial"/>
                <a:sym typeface="Arial"/>
              </a:rPr>
              <a:t>Pour aller plus loin : </a:t>
            </a:r>
            <a:r>
              <a:rPr lang="fr-FR" sz="1800" b="1" i="0" u="none" strike="noStrike" cap="none">
                <a:solidFill>
                  <a:schemeClr val="dk1"/>
                </a:solidFill>
                <a:latin typeface="Arial"/>
                <a:ea typeface="Arial"/>
                <a:cs typeface="Arial"/>
                <a:sym typeface="Arial"/>
              </a:rPr>
              <a:t>Brun, Solène, et Claire Cosquer</a:t>
            </a:r>
            <a:r>
              <a:rPr lang="fr-FR" sz="1800" b="0" i="0" u="none" strike="noStrike" cap="none">
                <a:solidFill>
                  <a:schemeClr val="dk1"/>
                </a:solidFill>
                <a:latin typeface="Arial"/>
                <a:ea typeface="Arial"/>
                <a:cs typeface="Arial"/>
                <a:sym typeface="Arial"/>
              </a:rPr>
              <a:t>. « 9. Les défis méthodologiques d’une analyse sociologique de la race », </a:t>
            </a:r>
            <a:r>
              <a:rPr lang="fr-FR" sz="1800" b="0" i="1" u="none" strike="noStrike" cap="none">
                <a:solidFill>
                  <a:schemeClr val="dk1"/>
                </a:solidFill>
                <a:latin typeface="Arial"/>
                <a:ea typeface="Arial"/>
                <a:cs typeface="Arial"/>
                <a:sym typeface="Arial"/>
              </a:rPr>
              <a:t>Sociologie de la race</a:t>
            </a:r>
            <a:r>
              <a:rPr lang="fr-FR" sz="1800" b="0" i="0" u="none" strike="noStrike" cap="none">
                <a:solidFill>
                  <a:schemeClr val="dk1"/>
                </a:solidFill>
                <a:latin typeface="Arial"/>
                <a:ea typeface="Arial"/>
                <a:cs typeface="Arial"/>
                <a:sym typeface="Arial"/>
              </a:rPr>
              <a:t>. Armand Colin, 2022, pp. 111-124.</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2a994f7876f_0_1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30</a:t>
            </a:fld>
            <a:endParaRPr sz="1000">
              <a:solidFill>
                <a:srgbClr val="808080"/>
              </a:solidFill>
              <a:latin typeface="Arial"/>
              <a:ea typeface="Arial"/>
              <a:cs typeface="Arial"/>
              <a:sym typeface="Arial"/>
            </a:endParaRPr>
          </a:p>
        </p:txBody>
      </p:sp>
      <p:sp>
        <p:nvSpPr>
          <p:cNvPr id="361" name="Google Shape;361;g2a994f7876f_0_16"/>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E5D5A"/>
              </a:solidFill>
              <a:latin typeface="Calibri"/>
              <a:ea typeface="Calibri"/>
              <a:cs typeface="Calibri"/>
              <a:sym typeface="Calibri"/>
            </a:endParaRPr>
          </a:p>
        </p:txBody>
      </p:sp>
      <p:sp>
        <p:nvSpPr>
          <p:cNvPr id="362" name="Google Shape;362;g2a994f7876f_0_16"/>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363" name="Google Shape;363;g2a994f7876f_0_16"/>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0" algn="l" rtl="0">
              <a:lnSpc>
                <a:spcPct val="90000"/>
              </a:lnSpc>
              <a:spcBef>
                <a:spcPts val="25"/>
              </a:spcBef>
              <a:spcAft>
                <a:spcPts val="0"/>
              </a:spcAft>
              <a:buClr>
                <a:srgbClr val="000000"/>
              </a:buClr>
              <a:buSzPts val="2565"/>
              <a:buFont typeface="Arial"/>
              <a:buNone/>
            </a:pPr>
            <a:endParaRPr sz="2565" b="0" i="0" u="none" strike="noStrike" cap="none" dirty="0">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65"/>
              <a:buFont typeface="Arial"/>
              <a:buNone/>
            </a:pPr>
            <a:endParaRPr sz="2565" b="0" i="0" u="none" strike="noStrike" cap="none" dirty="0">
              <a:solidFill>
                <a:schemeClr val="dk1"/>
              </a:solidFill>
              <a:latin typeface="Arial"/>
              <a:ea typeface="Arial"/>
              <a:cs typeface="Arial"/>
              <a:sym typeface="Arial"/>
            </a:endParaRPr>
          </a:p>
          <a:p>
            <a:pPr marL="457200" marR="0" lvl="0" indent="-390525" algn="l" rtl="0">
              <a:lnSpc>
                <a:spcPct val="90000"/>
              </a:lnSpc>
              <a:spcBef>
                <a:spcPts val="25"/>
              </a:spcBef>
              <a:spcAft>
                <a:spcPts val="0"/>
              </a:spcAft>
              <a:buClr>
                <a:srgbClr val="2E5D5A"/>
              </a:buClr>
              <a:buSzPts val="2550"/>
              <a:buFont typeface="Arial"/>
              <a:buChar char="●"/>
            </a:pPr>
            <a:r>
              <a:rPr lang="fr-FR" sz="2550" b="0" i="0" u="none" strike="noStrike" cap="none" dirty="0">
                <a:solidFill>
                  <a:schemeClr val="dk1"/>
                </a:solidFill>
                <a:latin typeface="Arial"/>
                <a:ea typeface="Arial"/>
                <a:cs typeface="Arial"/>
                <a:sym typeface="Arial"/>
              </a:rPr>
              <a:t>Apprentissages théoriques et mise en pratique sur R avec l’enquête </a:t>
            </a:r>
            <a:r>
              <a:rPr lang="fr-FR" sz="2550" dirty="0">
                <a:solidFill>
                  <a:schemeClr val="dk1"/>
                </a:solidFill>
              </a:rPr>
              <a:t>Engagements, politisation et réseaux sociaux (ETUPOL)</a:t>
            </a:r>
          </a:p>
          <a:p>
            <a:pPr marL="457200" marR="0" lvl="0" indent="-390525" algn="l" rtl="0">
              <a:lnSpc>
                <a:spcPct val="90000"/>
              </a:lnSpc>
              <a:spcBef>
                <a:spcPts val="25"/>
              </a:spcBef>
              <a:spcAft>
                <a:spcPts val="0"/>
              </a:spcAft>
              <a:buClr>
                <a:srgbClr val="2E5D5A"/>
              </a:buClr>
              <a:buSzPts val="2550"/>
              <a:buFont typeface="Arial"/>
              <a:buChar char="●"/>
            </a:pPr>
            <a:r>
              <a:rPr lang="fr-FR" sz="2550" b="0" i="0" u="none" strike="noStrike" cap="none" dirty="0">
                <a:solidFill>
                  <a:srgbClr val="CCCCCC"/>
                </a:solidFill>
                <a:latin typeface="Arial"/>
                <a:ea typeface="Arial"/>
                <a:cs typeface="Arial"/>
                <a:sym typeface="Arial"/>
              </a:rPr>
              <a:t>Planning du semestre : contenu des cours et évaluations</a:t>
            </a:r>
            <a:endParaRPr sz="2550" b="0" i="0" u="none" strike="noStrike" cap="none" dirty="0">
              <a:solidFill>
                <a:srgbClr val="CCCCCC"/>
              </a:solidFill>
              <a:latin typeface="Arial"/>
              <a:ea typeface="Arial"/>
              <a:cs typeface="Arial"/>
              <a:sym typeface="Arial"/>
            </a:endParaRPr>
          </a:p>
        </p:txBody>
      </p:sp>
      <p:sp>
        <p:nvSpPr>
          <p:cNvPr id="364" name="Google Shape;364;g2a994f7876f_0_16"/>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fr-FR" sz="3200" b="1" i="0" u="none" strike="noStrike" cap="none">
                <a:solidFill>
                  <a:srgbClr val="2E5D5A"/>
                </a:solidFill>
                <a:latin typeface="Calibri"/>
                <a:ea typeface="Calibri"/>
                <a:cs typeface="Calibri"/>
                <a:sym typeface="Calibri"/>
              </a:rPr>
              <a:t>2. Objectifs et programme du cours</a:t>
            </a: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g2abbb0daa57_0_1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31</a:t>
            </a:fld>
            <a:endParaRPr sz="1000">
              <a:solidFill>
                <a:srgbClr val="808080"/>
              </a:solidFill>
              <a:latin typeface="Arial"/>
              <a:ea typeface="Arial"/>
              <a:cs typeface="Arial"/>
              <a:sym typeface="Arial"/>
            </a:endParaRPr>
          </a:p>
        </p:txBody>
      </p:sp>
      <p:sp>
        <p:nvSpPr>
          <p:cNvPr id="370" name="Google Shape;370;g2abbb0daa57_0_16"/>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E5D5A"/>
              </a:solidFill>
              <a:latin typeface="Calibri"/>
              <a:ea typeface="Calibri"/>
              <a:cs typeface="Calibri"/>
              <a:sym typeface="Calibri"/>
            </a:endParaRPr>
          </a:p>
        </p:txBody>
      </p:sp>
      <p:sp>
        <p:nvSpPr>
          <p:cNvPr id="371" name="Google Shape;371;g2abbb0daa57_0_16"/>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372" name="Google Shape;372;g2abbb0daa57_0_16"/>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390525" algn="l" rtl="0">
              <a:lnSpc>
                <a:spcPct val="90000"/>
              </a:lnSpc>
              <a:spcBef>
                <a:spcPts val="25"/>
              </a:spcBef>
              <a:spcAft>
                <a:spcPts val="0"/>
              </a:spcAft>
              <a:buClr>
                <a:schemeClr val="dk1"/>
              </a:buClr>
              <a:buSzPts val="2550"/>
              <a:buFont typeface="Arial"/>
              <a:buChar char="-"/>
            </a:pPr>
            <a:r>
              <a:rPr lang="fr-FR" sz="2550" b="0" i="0" u="none" strike="noStrike" cap="none">
                <a:solidFill>
                  <a:schemeClr val="dk1"/>
                </a:solidFill>
                <a:latin typeface="Arial"/>
                <a:ea typeface="Arial"/>
                <a:cs typeface="Arial"/>
                <a:sym typeface="Arial"/>
              </a:rPr>
              <a:t>Ouvrir la boîte noire de la production des statistiques, en montrant comment sont construites les enquêtes statistiques </a:t>
            </a:r>
            <a:endParaRPr sz="2550" b="0" i="0" u="none" strike="noStrike" cap="none">
              <a:solidFill>
                <a:schemeClr val="dk1"/>
              </a:solidFill>
              <a:latin typeface="Arial"/>
              <a:ea typeface="Arial"/>
              <a:cs typeface="Arial"/>
              <a:sym typeface="Arial"/>
            </a:endParaRPr>
          </a:p>
          <a:p>
            <a:pPr marL="457200" marR="0" lvl="0" indent="0" algn="l" rtl="0">
              <a:lnSpc>
                <a:spcPct val="90000"/>
              </a:lnSpc>
              <a:spcBef>
                <a:spcPts val="25"/>
              </a:spcBef>
              <a:spcAft>
                <a:spcPts val="0"/>
              </a:spcAft>
              <a:buNone/>
            </a:pPr>
            <a:endParaRPr sz="2550">
              <a:solidFill>
                <a:schemeClr val="dk1"/>
              </a:solidFill>
            </a:endParaRPr>
          </a:p>
          <a:p>
            <a:pPr marL="457200" marR="0" lvl="0" indent="-390525" algn="l" rtl="0">
              <a:lnSpc>
                <a:spcPct val="90000"/>
              </a:lnSpc>
              <a:spcBef>
                <a:spcPts val="0"/>
              </a:spcBef>
              <a:spcAft>
                <a:spcPts val="0"/>
              </a:spcAft>
              <a:buClr>
                <a:schemeClr val="dk1"/>
              </a:buClr>
              <a:buSzPts val="2550"/>
              <a:buFont typeface="Arial"/>
              <a:buChar char="-"/>
            </a:pPr>
            <a:r>
              <a:rPr lang="fr-FR" sz="2550" b="0" i="0" u="none" strike="noStrike" cap="none">
                <a:solidFill>
                  <a:schemeClr val="dk1"/>
                </a:solidFill>
                <a:latin typeface="Arial"/>
                <a:ea typeface="Arial"/>
                <a:cs typeface="Arial"/>
                <a:sym typeface="Arial"/>
              </a:rPr>
              <a:t>Initier aux méthodes quantitatives d’un point de vue théorique : acquisition des connaissances de base en statistique descriptive (détails sur le syllabus)</a:t>
            </a:r>
            <a:endParaRPr sz="2550" b="0" i="0" u="none" strike="noStrike" cap="none">
              <a:solidFill>
                <a:schemeClr val="dk1"/>
              </a:solidFill>
              <a:latin typeface="Arial"/>
              <a:ea typeface="Arial"/>
              <a:cs typeface="Arial"/>
              <a:sym typeface="Arial"/>
            </a:endParaRPr>
          </a:p>
          <a:p>
            <a:pPr marL="457200" marR="0" lvl="0" indent="0" algn="l" rtl="0">
              <a:lnSpc>
                <a:spcPct val="90000"/>
              </a:lnSpc>
              <a:spcBef>
                <a:spcPts val="0"/>
              </a:spcBef>
              <a:spcAft>
                <a:spcPts val="0"/>
              </a:spcAft>
              <a:buNone/>
            </a:pPr>
            <a:endParaRPr sz="2550">
              <a:solidFill>
                <a:schemeClr val="dk1"/>
              </a:solidFill>
            </a:endParaRPr>
          </a:p>
          <a:p>
            <a:pPr marL="457200" marR="0" lvl="0" indent="-390525" algn="l" rtl="0">
              <a:lnSpc>
                <a:spcPct val="90000"/>
              </a:lnSpc>
              <a:spcBef>
                <a:spcPts val="0"/>
              </a:spcBef>
              <a:spcAft>
                <a:spcPts val="0"/>
              </a:spcAft>
              <a:buClr>
                <a:schemeClr val="dk1"/>
              </a:buClr>
              <a:buSzPts val="2550"/>
              <a:buFont typeface="Arial"/>
              <a:buChar char="-"/>
            </a:pPr>
            <a:r>
              <a:rPr lang="fr-FR" sz="2550" b="0" i="0" u="none" strike="noStrike" cap="none">
                <a:solidFill>
                  <a:schemeClr val="dk1"/>
                </a:solidFill>
                <a:latin typeface="Arial"/>
                <a:ea typeface="Arial"/>
                <a:cs typeface="Arial"/>
                <a:sym typeface="Arial"/>
              </a:rPr>
              <a:t>Initier aux méthodes quantitatives en pratique : premiers pas avec un logiciel de programmation statistique utilisé par des sociologues</a:t>
            </a:r>
            <a:r>
              <a:rPr lang="fr-FR" sz="2550">
                <a:solidFill>
                  <a:schemeClr val="dk1"/>
                </a:solidFill>
              </a:rPr>
              <a:t> (R) </a:t>
            </a:r>
            <a:endParaRPr sz="2550" b="0" i="0" u="none" strike="noStrike" cap="none">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endParaRPr sz="2550" b="0" i="0" u="none" strike="noStrike" cap="none">
              <a:solidFill>
                <a:schemeClr val="dk1"/>
              </a:solidFill>
              <a:latin typeface="Arial"/>
              <a:ea typeface="Arial"/>
              <a:cs typeface="Arial"/>
              <a:sym typeface="Arial"/>
            </a:endParaRPr>
          </a:p>
        </p:txBody>
      </p:sp>
      <p:sp>
        <p:nvSpPr>
          <p:cNvPr id="373" name="Google Shape;373;g2abbb0daa57_0_16"/>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chemeClr val="dk1"/>
              </a:buClr>
              <a:buSzPts val="1100"/>
              <a:buFont typeface="Arial"/>
              <a:buNone/>
            </a:pPr>
            <a:r>
              <a:rPr lang="fr-FR" sz="2550" b="0" i="0" u="none" strike="noStrike" cap="none">
                <a:solidFill>
                  <a:schemeClr val="dk1"/>
                </a:solidFill>
                <a:latin typeface="Arial"/>
                <a:ea typeface="Arial"/>
                <a:cs typeface="Arial"/>
                <a:sym typeface="Arial"/>
              </a:rPr>
              <a:t>Le cours de MQSS aura pour objectif de : </a:t>
            </a:r>
            <a:endParaRPr sz="2550" b="0" i="0" u="none" strike="noStrike" cap="non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g2abbb0daa57_0_4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32</a:t>
            </a:fld>
            <a:endParaRPr sz="1000">
              <a:solidFill>
                <a:srgbClr val="808080"/>
              </a:solidFill>
              <a:latin typeface="Arial"/>
              <a:ea typeface="Arial"/>
              <a:cs typeface="Arial"/>
              <a:sym typeface="Arial"/>
            </a:endParaRPr>
          </a:p>
        </p:txBody>
      </p:sp>
      <p:sp>
        <p:nvSpPr>
          <p:cNvPr id="379" name="Google Shape;379;g2abbb0daa57_0_40"/>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E5D5A"/>
              </a:solidFill>
              <a:latin typeface="Calibri"/>
              <a:ea typeface="Calibri"/>
              <a:cs typeface="Calibri"/>
              <a:sym typeface="Calibri"/>
            </a:endParaRPr>
          </a:p>
        </p:txBody>
      </p:sp>
      <p:sp>
        <p:nvSpPr>
          <p:cNvPr id="380" name="Google Shape;380;g2abbb0daa57_0_40"/>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381" name="Google Shape;381;g2abbb0daa57_0_40"/>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0" algn="l" rtl="0">
              <a:lnSpc>
                <a:spcPct val="90000"/>
              </a:lnSpc>
              <a:spcBef>
                <a:spcPts val="25"/>
              </a:spcBef>
              <a:spcAft>
                <a:spcPts val="0"/>
              </a:spcAft>
              <a:buClr>
                <a:srgbClr val="000000"/>
              </a:buClr>
              <a:buSzPts val="2550"/>
              <a:buFont typeface="Arial"/>
              <a:buNone/>
            </a:pPr>
            <a:endParaRPr sz="2550" b="0" i="0" u="none" strike="noStrike" cap="none">
              <a:solidFill>
                <a:schemeClr val="dk1"/>
              </a:solidFill>
              <a:latin typeface="Arial"/>
              <a:ea typeface="Arial"/>
              <a:cs typeface="Arial"/>
              <a:sym typeface="Arial"/>
            </a:endParaRPr>
          </a:p>
          <a:p>
            <a:pPr marL="457200" marR="0" lvl="0" indent="-390525" algn="l" rtl="0">
              <a:lnSpc>
                <a:spcPct val="90000"/>
              </a:lnSpc>
              <a:spcBef>
                <a:spcPts val="25"/>
              </a:spcBef>
              <a:spcAft>
                <a:spcPts val="0"/>
              </a:spcAft>
              <a:buClr>
                <a:schemeClr val="dk1"/>
              </a:buClr>
              <a:buSzPts val="2550"/>
              <a:buFont typeface="Arial"/>
              <a:buChar char="-"/>
            </a:pPr>
            <a:r>
              <a:rPr lang="fr-FR" sz="2550" b="0" i="0" u="none" strike="noStrike" cap="none">
                <a:solidFill>
                  <a:schemeClr val="dk1"/>
                </a:solidFill>
                <a:latin typeface="Arial"/>
                <a:ea typeface="Arial"/>
                <a:cs typeface="Arial"/>
                <a:sym typeface="Arial"/>
              </a:rPr>
              <a:t>Créé par Joseph J. Allaire (développeur informatique états-unien) en 2011</a:t>
            </a:r>
            <a:endParaRPr sz="2550" b="0" i="0" u="none" strike="noStrike" cap="none">
              <a:solidFill>
                <a:schemeClr val="dk1"/>
              </a:solidFill>
              <a:latin typeface="Arial"/>
              <a:ea typeface="Arial"/>
              <a:cs typeface="Arial"/>
              <a:sym typeface="Arial"/>
            </a:endParaRPr>
          </a:p>
          <a:p>
            <a:pPr marL="457200" marR="0" lvl="0" indent="-390525" algn="l" rtl="0">
              <a:lnSpc>
                <a:spcPct val="90000"/>
              </a:lnSpc>
              <a:spcBef>
                <a:spcPts val="0"/>
              </a:spcBef>
              <a:spcAft>
                <a:spcPts val="0"/>
              </a:spcAft>
              <a:buClr>
                <a:schemeClr val="dk1"/>
              </a:buClr>
              <a:buSzPts val="2550"/>
              <a:buFont typeface="Arial"/>
              <a:buChar char="-"/>
            </a:pPr>
            <a:r>
              <a:rPr lang="fr-FR" sz="2550" b="0" i="0" u="none" strike="noStrike" cap="none">
                <a:solidFill>
                  <a:schemeClr val="dk1"/>
                </a:solidFill>
                <a:latin typeface="Arial"/>
                <a:ea typeface="Arial"/>
                <a:cs typeface="Arial"/>
                <a:sym typeface="Arial"/>
              </a:rPr>
              <a:t>Logiciel libre, gratuit, utilisant un langage de programmation</a:t>
            </a:r>
            <a:endParaRPr sz="2550" b="0" i="0" u="none" strike="noStrike" cap="none">
              <a:solidFill>
                <a:schemeClr val="dk1"/>
              </a:solidFill>
              <a:latin typeface="Arial"/>
              <a:ea typeface="Arial"/>
              <a:cs typeface="Arial"/>
              <a:sym typeface="Arial"/>
            </a:endParaRPr>
          </a:p>
          <a:p>
            <a:pPr marL="457200" marR="0" lvl="0" indent="-390525" algn="l" rtl="0">
              <a:lnSpc>
                <a:spcPct val="90000"/>
              </a:lnSpc>
              <a:spcBef>
                <a:spcPts val="0"/>
              </a:spcBef>
              <a:spcAft>
                <a:spcPts val="0"/>
              </a:spcAft>
              <a:buClr>
                <a:schemeClr val="dk1"/>
              </a:buClr>
              <a:buSzPts val="2550"/>
              <a:buFont typeface="Arial"/>
              <a:buChar char="-"/>
            </a:pPr>
            <a:r>
              <a:rPr lang="fr-FR" sz="2550" b="0" i="0" u="none" strike="noStrike" cap="none">
                <a:solidFill>
                  <a:schemeClr val="dk1"/>
                </a:solidFill>
                <a:latin typeface="Arial"/>
                <a:ea typeface="Arial"/>
                <a:cs typeface="Arial"/>
                <a:sym typeface="Arial"/>
              </a:rPr>
              <a:t>Utilisé par de nombreux.ses sociologues pour le traitement de données et l’analyse statistique</a:t>
            </a:r>
            <a:endParaRPr sz="2550" b="0" i="0" u="none" strike="noStrike" cap="none">
              <a:solidFill>
                <a:schemeClr val="dk1"/>
              </a:solidFill>
              <a:latin typeface="Arial"/>
              <a:ea typeface="Arial"/>
              <a:cs typeface="Arial"/>
              <a:sym typeface="Arial"/>
            </a:endParaRPr>
          </a:p>
          <a:p>
            <a:pPr marL="457200" marR="0" lvl="0" indent="-390525" algn="l" rtl="0">
              <a:lnSpc>
                <a:spcPct val="90000"/>
              </a:lnSpc>
              <a:spcBef>
                <a:spcPts val="0"/>
              </a:spcBef>
              <a:spcAft>
                <a:spcPts val="0"/>
              </a:spcAft>
              <a:buClr>
                <a:schemeClr val="dk1"/>
              </a:buClr>
              <a:buSzPts val="2550"/>
              <a:buFont typeface="Arial"/>
              <a:buChar char="-"/>
            </a:pPr>
            <a:r>
              <a:rPr lang="fr-FR" sz="2550" b="0" i="0" u="none" strike="noStrike" cap="none">
                <a:solidFill>
                  <a:schemeClr val="dk1"/>
                </a:solidFill>
                <a:latin typeface="Arial"/>
                <a:ea typeface="Arial"/>
                <a:cs typeface="Arial"/>
                <a:sym typeface="Arial"/>
              </a:rPr>
              <a:t>Alternatives à R chez les sociologues : Stata </a:t>
            </a:r>
            <a:endParaRPr sz="2550" b="0" i="0" u="none" strike="noStrike" cap="none">
              <a:solidFill>
                <a:schemeClr val="dk1"/>
              </a:solidFill>
              <a:latin typeface="Arial"/>
              <a:ea typeface="Arial"/>
              <a:cs typeface="Arial"/>
              <a:sym typeface="Arial"/>
            </a:endParaRPr>
          </a:p>
        </p:txBody>
      </p:sp>
      <p:sp>
        <p:nvSpPr>
          <p:cNvPr id="382" name="Google Shape;382;g2abbb0daa57_0_40"/>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550"/>
              <a:buFont typeface="Arial"/>
              <a:buNone/>
            </a:pPr>
            <a:r>
              <a:rPr lang="fr-FR" sz="2550" b="1" i="0" u="none" strike="noStrike" cap="none">
                <a:solidFill>
                  <a:schemeClr val="dk1"/>
                </a:solidFill>
                <a:latin typeface="Arial"/>
                <a:ea typeface="Arial"/>
                <a:cs typeface="Arial"/>
                <a:sym typeface="Arial"/>
              </a:rPr>
              <a:t>Le logiciel R : brève présentation  </a:t>
            </a:r>
            <a:endParaRPr sz="2550" b="1" i="0" u="none" strike="noStrike" cap="non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g2abbb0daa57_0_4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33</a:t>
            </a:fld>
            <a:endParaRPr sz="1000">
              <a:solidFill>
                <a:srgbClr val="808080"/>
              </a:solidFill>
              <a:latin typeface="Arial"/>
              <a:ea typeface="Arial"/>
              <a:cs typeface="Arial"/>
              <a:sym typeface="Arial"/>
            </a:endParaRPr>
          </a:p>
        </p:txBody>
      </p:sp>
      <p:sp>
        <p:nvSpPr>
          <p:cNvPr id="388" name="Google Shape;388;g2abbb0daa57_0_48"/>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E5D5A"/>
              </a:solidFill>
              <a:latin typeface="Calibri"/>
              <a:ea typeface="Calibri"/>
              <a:cs typeface="Calibri"/>
              <a:sym typeface="Calibri"/>
            </a:endParaRPr>
          </a:p>
        </p:txBody>
      </p:sp>
      <p:sp>
        <p:nvSpPr>
          <p:cNvPr id="389" name="Google Shape;389;g2abbb0daa57_0_48"/>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390" name="Google Shape;390;g2abbb0daa57_0_48"/>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0" algn="l" rtl="0">
              <a:lnSpc>
                <a:spcPct val="90000"/>
              </a:lnSpc>
              <a:spcBef>
                <a:spcPts val="25"/>
              </a:spcBef>
              <a:spcAft>
                <a:spcPts val="0"/>
              </a:spcAft>
              <a:buClr>
                <a:srgbClr val="000000"/>
              </a:buClr>
              <a:buSzPts val="2550"/>
              <a:buFont typeface="Arial"/>
              <a:buNone/>
            </a:pPr>
            <a:endParaRPr sz="2550" b="0" i="0" u="none" strike="noStrike" cap="none">
              <a:solidFill>
                <a:schemeClr val="dk1"/>
              </a:solidFill>
              <a:latin typeface="Arial"/>
              <a:ea typeface="Arial"/>
              <a:cs typeface="Arial"/>
              <a:sym typeface="Arial"/>
            </a:endParaRPr>
          </a:p>
        </p:txBody>
      </p:sp>
      <p:sp>
        <p:nvSpPr>
          <p:cNvPr id="391" name="Google Shape;391;g2abbb0daa57_0_48"/>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550"/>
              <a:buFont typeface="Arial"/>
              <a:buNone/>
            </a:pPr>
            <a:endParaRPr sz="2550" b="1" i="0" u="none" strike="noStrike" cap="none">
              <a:solidFill>
                <a:schemeClr val="dk1"/>
              </a:solidFill>
              <a:latin typeface="Arial"/>
              <a:ea typeface="Arial"/>
              <a:cs typeface="Arial"/>
              <a:sym typeface="Arial"/>
            </a:endParaRPr>
          </a:p>
        </p:txBody>
      </p:sp>
      <p:pic>
        <p:nvPicPr>
          <p:cNvPr id="392" name="Google Shape;392;g2abbb0daa57_0_48"/>
          <p:cNvPicPr preferRelativeResize="0"/>
          <p:nvPr/>
        </p:nvPicPr>
        <p:blipFill rotWithShape="1">
          <a:blip r:embed="rId3">
            <a:alphaModFix/>
          </a:blip>
          <a:srcRect/>
          <a:stretch/>
        </p:blipFill>
        <p:spPr>
          <a:xfrm>
            <a:off x="0" y="232172"/>
            <a:ext cx="9144000" cy="639365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g2abbb0daa57_0_2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34</a:t>
            </a:fld>
            <a:endParaRPr sz="1000">
              <a:solidFill>
                <a:srgbClr val="808080"/>
              </a:solidFill>
              <a:latin typeface="Arial"/>
              <a:ea typeface="Arial"/>
              <a:cs typeface="Arial"/>
              <a:sym typeface="Arial"/>
            </a:endParaRPr>
          </a:p>
        </p:txBody>
      </p:sp>
      <p:sp>
        <p:nvSpPr>
          <p:cNvPr id="398" name="Google Shape;398;g2abbb0daa57_0_24"/>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E5D5A"/>
              </a:solidFill>
              <a:latin typeface="Calibri"/>
              <a:ea typeface="Calibri"/>
              <a:cs typeface="Calibri"/>
              <a:sym typeface="Calibri"/>
            </a:endParaRPr>
          </a:p>
        </p:txBody>
      </p:sp>
      <p:sp>
        <p:nvSpPr>
          <p:cNvPr id="399" name="Google Shape;399;g2abbb0daa57_0_24"/>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400" name="Google Shape;400;g2abbb0daa57_0_24"/>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550"/>
              <a:buFont typeface="Arial"/>
              <a:buNone/>
            </a:pPr>
            <a:r>
              <a:rPr lang="fr-FR" sz="2550" b="1" i="0" u="none" strike="noStrike" cap="none" dirty="0">
                <a:solidFill>
                  <a:schemeClr val="dk1"/>
                </a:solidFill>
                <a:latin typeface="Arial"/>
                <a:ea typeface="Arial"/>
                <a:cs typeface="Arial"/>
                <a:sym typeface="Arial"/>
              </a:rPr>
              <a:t>L’enquête </a:t>
            </a:r>
            <a:r>
              <a:rPr lang="fr-FR" sz="2550" b="1" dirty="0">
                <a:solidFill>
                  <a:schemeClr val="dk1"/>
                </a:solidFill>
              </a:rPr>
              <a:t>Engagements, politisation et réseaux sociaux (enquête POF 2024-2025)</a:t>
            </a:r>
            <a:endParaRPr sz="2550" b="1" i="0" u="none" strike="noStrike" cap="none" dirty="0">
              <a:solidFill>
                <a:schemeClr val="dk1"/>
              </a:solidFill>
              <a:latin typeface="Arial"/>
              <a:ea typeface="Arial"/>
              <a:cs typeface="Arial"/>
              <a:sym typeface="Arial"/>
            </a:endParaRPr>
          </a:p>
        </p:txBody>
      </p:sp>
      <p:sp>
        <p:nvSpPr>
          <p:cNvPr id="401" name="Google Shape;401;g2abbb0daa57_0_24"/>
          <p:cNvSpPr txBox="1"/>
          <p:nvPr/>
        </p:nvSpPr>
        <p:spPr>
          <a:xfrm>
            <a:off x="467925" y="1978963"/>
            <a:ext cx="8219100" cy="4082700"/>
          </a:xfrm>
          <a:prstGeom prst="rect">
            <a:avLst/>
          </a:prstGeom>
          <a:noFill/>
          <a:ln>
            <a:noFill/>
          </a:ln>
        </p:spPr>
        <p:txBody>
          <a:bodyPr spcFirstLastPara="1" wrap="square" lIns="91425" tIns="91425" rIns="91425" bIns="91425" anchor="t" anchorCtr="0">
            <a:noAutofit/>
          </a:bodyPr>
          <a:lstStyle/>
          <a:p>
            <a:pPr marL="457200" marR="0" lvl="0" indent="-390525" algn="l" rtl="0">
              <a:lnSpc>
                <a:spcPct val="90000"/>
              </a:lnSpc>
              <a:spcBef>
                <a:spcPts val="25"/>
              </a:spcBef>
              <a:spcAft>
                <a:spcPts val="0"/>
              </a:spcAft>
              <a:buClr>
                <a:schemeClr val="dk1"/>
              </a:buClr>
              <a:buSzPts val="2550"/>
              <a:buFont typeface="Arial"/>
              <a:buChar char="-"/>
            </a:pPr>
            <a:r>
              <a:rPr lang="fr-FR" sz="2550" dirty="0">
                <a:solidFill>
                  <a:schemeClr val="dk1"/>
                </a:solidFill>
              </a:rPr>
              <a:t>Produit par et pour des </a:t>
            </a:r>
            <a:r>
              <a:rPr lang="fr-FR" sz="2550" dirty="0" err="1">
                <a:solidFill>
                  <a:schemeClr val="dk1"/>
                </a:solidFill>
              </a:rPr>
              <a:t>étudiant.es</a:t>
            </a:r>
            <a:r>
              <a:rPr lang="fr-FR" sz="2550" dirty="0">
                <a:solidFill>
                  <a:schemeClr val="dk1"/>
                </a:solidFill>
              </a:rPr>
              <a:t>, avec le collectif POF (Paris-Ouest-France) un collectif d’</a:t>
            </a:r>
            <a:r>
              <a:rPr lang="fr-FR" sz="2550" dirty="0" err="1">
                <a:solidFill>
                  <a:schemeClr val="dk1"/>
                </a:solidFill>
              </a:rPr>
              <a:t>enseignant·es-chercheur·se</a:t>
            </a:r>
            <a:r>
              <a:rPr lang="fr-FR" sz="2550" dirty="0">
                <a:solidFill>
                  <a:schemeClr val="dk1"/>
                </a:solidFill>
              </a:rPr>
              <a:t> en sociologie</a:t>
            </a:r>
          </a:p>
          <a:p>
            <a:pPr marL="457200" marR="0" lvl="0" indent="-390525" algn="l" rtl="0">
              <a:lnSpc>
                <a:spcPct val="90000"/>
              </a:lnSpc>
              <a:spcBef>
                <a:spcPts val="25"/>
              </a:spcBef>
              <a:spcAft>
                <a:spcPts val="0"/>
              </a:spcAft>
              <a:buClr>
                <a:schemeClr val="dk1"/>
              </a:buClr>
              <a:buSzPts val="2550"/>
              <a:buFont typeface="Arial"/>
              <a:buChar char="-"/>
            </a:pPr>
            <a:r>
              <a:rPr lang="fr-FR" sz="2550" dirty="0">
                <a:solidFill>
                  <a:schemeClr val="dk1"/>
                </a:solidFill>
              </a:rPr>
              <a:t>Enquête menée à Brest, Caen, l’ENS-Paris-Saclay, Le Havre, Nantes, Saint-Denis, Nanterre, Saint-Étienne, Tours, Saint-Quentin-en-Yvelines</a:t>
            </a:r>
            <a:endParaRPr sz="2550" dirty="0">
              <a:solidFill>
                <a:schemeClr val="dk1"/>
              </a:solidFill>
            </a:endParaRPr>
          </a:p>
          <a:p>
            <a:pPr marL="457200" marR="0" lvl="0" indent="-390525" algn="l" rtl="0">
              <a:lnSpc>
                <a:spcPct val="90000"/>
              </a:lnSpc>
              <a:spcBef>
                <a:spcPts val="25"/>
              </a:spcBef>
              <a:spcAft>
                <a:spcPts val="0"/>
              </a:spcAft>
              <a:buClr>
                <a:schemeClr val="dk1"/>
              </a:buClr>
              <a:buSzPts val="2550"/>
              <a:buFont typeface="Arial"/>
              <a:buChar char="-"/>
            </a:pPr>
            <a:r>
              <a:rPr lang="fr-FR" sz="2550" dirty="0">
                <a:solidFill>
                  <a:schemeClr val="dk1"/>
                </a:solidFill>
              </a:rPr>
              <a:t>Explore les formes de participation politique des étudiantes et étudiants, en s’intéressant au rôle des réseaux sociaux dans leurs pratiques informationnelles et comme vecteur d’engagement.</a:t>
            </a:r>
          </a:p>
          <a:p>
            <a:pPr marL="66675" marR="0" lvl="0" algn="l" rtl="0">
              <a:lnSpc>
                <a:spcPct val="90000"/>
              </a:lnSpc>
              <a:spcBef>
                <a:spcPts val="25"/>
              </a:spcBef>
              <a:spcAft>
                <a:spcPts val="0"/>
              </a:spcAft>
              <a:buClr>
                <a:schemeClr val="dk1"/>
              </a:buClr>
              <a:buSzPts val="2550"/>
            </a:pPr>
            <a:r>
              <a:rPr lang="en-GB" sz="2550" dirty="0">
                <a:solidFill>
                  <a:schemeClr val="dk1"/>
                </a:solidFill>
                <a:hlinkClick r:id="rId3"/>
              </a:rPr>
              <a:t>https://sites.google.com/view/collectifpof/accueil#h.q2lfs3mbrdl5</a:t>
            </a:r>
            <a:r>
              <a:rPr lang="en-GB" sz="2550" dirty="0">
                <a:solidFill>
                  <a:schemeClr val="dk1"/>
                </a:solidFill>
              </a:rPr>
              <a:t> </a:t>
            </a:r>
            <a:endParaRPr sz="2550" dirty="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g32040ae3fd7_0_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35</a:t>
            </a:fld>
            <a:endParaRPr sz="1000">
              <a:solidFill>
                <a:srgbClr val="808080"/>
              </a:solidFill>
              <a:latin typeface="Arial"/>
              <a:ea typeface="Arial"/>
              <a:cs typeface="Arial"/>
              <a:sym typeface="Arial"/>
            </a:endParaRPr>
          </a:p>
        </p:txBody>
      </p:sp>
      <p:sp>
        <p:nvSpPr>
          <p:cNvPr id="407" name="Google Shape;407;g32040ae3fd7_0_2"/>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E5D5A"/>
              </a:solidFill>
              <a:latin typeface="Calibri"/>
              <a:ea typeface="Calibri"/>
              <a:cs typeface="Calibri"/>
              <a:sym typeface="Calibri"/>
            </a:endParaRPr>
          </a:p>
        </p:txBody>
      </p:sp>
      <p:sp>
        <p:nvSpPr>
          <p:cNvPr id="408" name="Google Shape;408;g32040ae3fd7_0_2"/>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409" name="Google Shape;409;g32040ae3fd7_0_2"/>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lvl="0">
              <a:lnSpc>
                <a:spcPct val="90000"/>
              </a:lnSpc>
              <a:spcBef>
                <a:spcPts val="25"/>
              </a:spcBef>
              <a:buSzPts val="2550"/>
            </a:pPr>
            <a:r>
              <a:rPr lang="fr-FR" sz="2550" b="1" i="0" u="none" strike="noStrike" cap="none" dirty="0">
                <a:solidFill>
                  <a:schemeClr val="dk1"/>
                </a:solidFill>
                <a:latin typeface="Arial"/>
                <a:ea typeface="Arial"/>
                <a:cs typeface="Arial"/>
                <a:sym typeface="Arial"/>
              </a:rPr>
              <a:t>L’enquête Engagements, politisation et réseaux sociaux</a:t>
            </a:r>
            <a:endParaRPr sz="2550" b="1" i="0" u="none" strike="noStrike" cap="none" dirty="0">
              <a:solidFill>
                <a:schemeClr val="dk1"/>
              </a:solidFill>
              <a:latin typeface="Arial"/>
              <a:ea typeface="Arial"/>
              <a:cs typeface="Arial"/>
              <a:sym typeface="Arial"/>
            </a:endParaRPr>
          </a:p>
        </p:txBody>
      </p:sp>
      <p:sp>
        <p:nvSpPr>
          <p:cNvPr id="410" name="Google Shape;410;g32040ae3fd7_0_2"/>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384175" algn="l" rtl="0">
              <a:lnSpc>
                <a:spcPct val="90000"/>
              </a:lnSpc>
              <a:spcBef>
                <a:spcPts val="25"/>
              </a:spcBef>
              <a:spcAft>
                <a:spcPts val="0"/>
              </a:spcAft>
              <a:buClr>
                <a:schemeClr val="dk1"/>
              </a:buClr>
              <a:buSzPts val="2450"/>
              <a:buFont typeface="Arial"/>
              <a:buChar char="-"/>
            </a:pPr>
            <a:r>
              <a:rPr lang="fr-FR" sz="2450" dirty="0">
                <a:solidFill>
                  <a:schemeClr val="dk1"/>
                </a:solidFill>
              </a:rPr>
              <a:t>Tirage aléatoire des salles de cours</a:t>
            </a:r>
          </a:p>
          <a:p>
            <a:pPr marL="457200" marR="0" lvl="0" indent="-384175" algn="l" rtl="0">
              <a:lnSpc>
                <a:spcPct val="90000"/>
              </a:lnSpc>
              <a:spcBef>
                <a:spcPts val="25"/>
              </a:spcBef>
              <a:spcAft>
                <a:spcPts val="0"/>
              </a:spcAft>
              <a:buClr>
                <a:schemeClr val="dk1"/>
              </a:buClr>
              <a:buSzPts val="2450"/>
              <a:buFont typeface="Arial"/>
              <a:buChar char="-"/>
            </a:pPr>
            <a:r>
              <a:rPr lang="fr-FR" sz="2450" dirty="0">
                <a:solidFill>
                  <a:schemeClr val="dk1"/>
                </a:solidFill>
              </a:rPr>
              <a:t>Protocole mixte : questionnaire en ligne à Nantes/questionnaire papier ou via QR code dans les autres universités</a:t>
            </a:r>
          </a:p>
          <a:p>
            <a:pPr marL="457200" marR="0" lvl="0" indent="-384175" algn="l" rtl="0">
              <a:lnSpc>
                <a:spcPct val="90000"/>
              </a:lnSpc>
              <a:spcBef>
                <a:spcPts val="25"/>
              </a:spcBef>
              <a:spcAft>
                <a:spcPts val="0"/>
              </a:spcAft>
              <a:buClr>
                <a:schemeClr val="dk1"/>
              </a:buClr>
              <a:buSzPts val="2450"/>
              <a:buFont typeface="Arial"/>
              <a:buChar char="-"/>
            </a:pPr>
            <a:r>
              <a:rPr lang="fr-FR" sz="2450" dirty="0">
                <a:solidFill>
                  <a:schemeClr val="dk1"/>
                </a:solidFill>
              </a:rPr>
              <a:t>13 218 questionnaires collectés en novembre-décembre 2024</a:t>
            </a:r>
            <a:endParaRPr sz="2450" b="0" i="0" u="none" strike="noStrike" cap="none" dirty="0">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84E3BEED-B527-C8A7-D809-8F54DB649ED5}"/>
            </a:ext>
          </a:extLst>
        </p:cNvPr>
        <p:cNvGrpSpPr/>
        <p:nvPr/>
      </p:nvGrpSpPr>
      <p:grpSpPr>
        <a:xfrm>
          <a:off x="0" y="0"/>
          <a:ext cx="0" cy="0"/>
          <a:chOff x="0" y="0"/>
          <a:chExt cx="0" cy="0"/>
        </a:xfrm>
      </p:grpSpPr>
      <p:sp>
        <p:nvSpPr>
          <p:cNvPr id="406" name="Google Shape;406;g32040ae3fd7_0_2">
            <a:extLst>
              <a:ext uri="{FF2B5EF4-FFF2-40B4-BE49-F238E27FC236}">
                <a16:creationId xmlns:a16="http://schemas.microsoft.com/office/drawing/2014/main" id="{04BE9DE5-061B-7339-9ACD-DAF9C9EC29DA}"/>
              </a:ext>
            </a:extLst>
          </p:cNvPr>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36</a:t>
            </a:fld>
            <a:endParaRPr sz="1000">
              <a:solidFill>
                <a:srgbClr val="808080"/>
              </a:solidFill>
              <a:latin typeface="Arial"/>
              <a:ea typeface="Arial"/>
              <a:cs typeface="Arial"/>
              <a:sym typeface="Arial"/>
            </a:endParaRPr>
          </a:p>
        </p:txBody>
      </p:sp>
      <p:sp>
        <p:nvSpPr>
          <p:cNvPr id="407" name="Google Shape;407;g32040ae3fd7_0_2">
            <a:extLst>
              <a:ext uri="{FF2B5EF4-FFF2-40B4-BE49-F238E27FC236}">
                <a16:creationId xmlns:a16="http://schemas.microsoft.com/office/drawing/2014/main" id="{25FCB483-784A-8BCC-98BA-EDEDF3A71742}"/>
              </a:ext>
            </a:extLst>
          </p:cNvPr>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E5D5A"/>
              </a:solidFill>
              <a:latin typeface="Calibri"/>
              <a:ea typeface="Calibri"/>
              <a:cs typeface="Calibri"/>
              <a:sym typeface="Calibri"/>
            </a:endParaRPr>
          </a:p>
        </p:txBody>
      </p:sp>
      <p:sp>
        <p:nvSpPr>
          <p:cNvPr id="408" name="Google Shape;408;g32040ae3fd7_0_2">
            <a:extLst>
              <a:ext uri="{FF2B5EF4-FFF2-40B4-BE49-F238E27FC236}">
                <a16:creationId xmlns:a16="http://schemas.microsoft.com/office/drawing/2014/main" id="{8B3FE27B-5A73-61D6-B1B4-EB5391728FC8}"/>
              </a:ext>
            </a:extLst>
          </p:cNvPr>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409" name="Google Shape;409;g32040ae3fd7_0_2">
            <a:extLst>
              <a:ext uri="{FF2B5EF4-FFF2-40B4-BE49-F238E27FC236}">
                <a16:creationId xmlns:a16="http://schemas.microsoft.com/office/drawing/2014/main" id="{DF20BABF-5DD6-77AA-F376-C9CC3220667A}"/>
              </a:ext>
            </a:extLst>
          </p:cNvPr>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550"/>
              <a:buFont typeface="Arial"/>
              <a:buNone/>
            </a:pPr>
            <a:r>
              <a:rPr lang="fr-FR" sz="2550" b="1" i="0" u="none" strike="noStrike" cap="none" dirty="0">
                <a:solidFill>
                  <a:schemeClr val="dk1"/>
                </a:solidFill>
                <a:latin typeface="Arial"/>
                <a:ea typeface="Arial"/>
                <a:cs typeface="Arial"/>
                <a:sym typeface="Arial"/>
              </a:rPr>
              <a:t>Quelle enquête utiliser pour le cours ?</a:t>
            </a:r>
            <a:endParaRPr sz="2550" b="1" i="0" u="none" strike="noStrike" cap="none" dirty="0">
              <a:solidFill>
                <a:schemeClr val="dk1"/>
              </a:solidFill>
              <a:latin typeface="Arial"/>
              <a:ea typeface="Arial"/>
              <a:cs typeface="Arial"/>
              <a:sym typeface="Arial"/>
            </a:endParaRPr>
          </a:p>
        </p:txBody>
      </p:sp>
      <p:sp>
        <p:nvSpPr>
          <p:cNvPr id="410" name="Google Shape;410;g32040ae3fd7_0_2">
            <a:extLst>
              <a:ext uri="{FF2B5EF4-FFF2-40B4-BE49-F238E27FC236}">
                <a16:creationId xmlns:a16="http://schemas.microsoft.com/office/drawing/2014/main" id="{BF3E78C5-279C-A181-D9A4-F75C024F6532}"/>
              </a:ext>
            </a:extLst>
          </p:cNvPr>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lvl="0" indent="-384175">
              <a:lnSpc>
                <a:spcPct val="90000"/>
              </a:lnSpc>
              <a:spcBef>
                <a:spcPts val="25"/>
              </a:spcBef>
              <a:buClr>
                <a:schemeClr val="dk1"/>
              </a:buClr>
              <a:buSzPts val="2450"/>
              <a:buFont typeface="Arial"/>
              <a:buChar char="-"/>
            </a:pPr>
            <a:r>
              <a:rPr lang="fr-FR" sz="2450" dirty="0">
                <a:solidFill>
                  <a:schemeClr val="dk1"/>
                </a:solidFill>
              </a:rPr>
              <a:t>D’ici la prochaine séance, se rendre sur </a:t>
            </a:r>
            <a:r>
              <a:rPr lang="fr-FR" sz="2450" dirty="0">
                <a:solidFill>
                  <a:schemeClr val="dk1"/>
                </a:solidFill>
                <a:hlinkClick r:id="rId3"/>
              </a:rPr>
              <a:t>https://github.com/alextranslatus/MQSS/</a:t>
            </a:r>
            <a:r>
              <a:rPr lang="fr-FR" sz="2450" dirty="0">
                <a:solidFill>
                  <a:schemeClr val="dk1"/>
                </a:solidFill>
              </a:rPr>
              <a:t> </a:t>
            </a:r>
          </a:p>
          <a:p>
            <a:pPr marL="457200" lvl="0" indent="-384175">
              <a:lnSpc>
                <a:spcPct val="90000"/>
              </a:lnSpc>
              <a:spcBef>
                <a:spcPts val="25"/>
              </a:spcBef>
              <a:buClr>
                <a:schemeClr val="dk1"/>
              </a:buClr>
              <a:buSzPts val="2450"/>
              <a:buFont typeface="Arial"/>
              <a:buChar char="-"/>
            </a:pPr>
            <a:endParaRPr lang="fr-FR" sz="2450" dirty="0">
              <a:solidFill>
                <a:schemeClr val="dk1"/>
              </a:solidFill>
            </a:endParaRPr>
          </a:p>
          <a:p>
            <a:pPr marL="457200" marR="0" lvl="0" indent="-384175" algn="l" rtl="0">
              <a:lnSpc>
                <a:spcPct val="90000"/>
              </a:lnSpc>
              <a:spcBef>
                <a:spcPts val="25"/>
              </a:spcBef>
              <a:spcAft>
                <a:spcPts val="0"/>
              </a:spcAft>
              <a:buClr>
                <a:schemeClr val="dk1"/>
              </a:buClr>
              <a:buSzPts val="2450"/>
              <a:buFont typeface="Arial"/>
              <a:buChar char="-"/>
            </a:pPr>
            <a:r>
              <a:rPr lang="fr-FR" sz="2450" dirty="0">
                <a:solidFill>
                  <a:schemeClr val="dk1"/>
                </a:solidFill>
              </a:rPr>
              <a:t>Jeter un coup d’œil aux éléments dans le dossier « data », ils concernent l’enquête Engagements, politisation et réseaux sociaux (ETUPOL) : le questionnaire, le dictionnaire des codes, la présentation des données, même les données en </a:t>
            </a:r>
            <a:r>
              <a:rPr lang="fr-FR" sz="2450" dirty="0" err="1">
                <a:solidFill>
                  <a:schemeClr val="dk1"/>
                </a:solidFill>
              </a:rPr>
              <a:t>xls</a:t>
            </a:r>
            <a:r>
              <a:rPr lang="fr-FR" sz="2450" dirty="0">
                <a:solidFill>
                  <a:schemeClr val="dk1"/>
                </a:solidFill>
              </a:rPr>
              <a:t> si vous voulez</a:t>
            </a:r>
          </a:p>
          <a:p>
            <a:pPr marL="457200" marR="0" lvl="0" indent="-384175" algn="l" rtl="0">
              <a:lnSpc>
                <a:spcPct val="90000"/>
              </a:lnSpc>
              <a:spcBef>
                <a:spcPts val="25"/>
              </a:spcBef>
              <a:spcAft>
                <a:spcPts val="0"/>
              </a:spcAft>
              <a:buClr>
                <a:schemeClr val="dk1"/>
              </a:buClr>
              <a:buSzPts val="2450"/>
              <a:buFont typeface="Arial"/>
              <a:buChar char="-"/>
            </a:pPr>
            <a:endParaRPr lang="fr-FR" sz="2450" dirty="0">
              <a:solidFill>
                <a:schemeClr val="dk1"/>
              </a:solidFill>
            </a:endParaRPr>
          </a:p>
          <a:p>
            <a:pPr marL="457200" marR="0" lvl="0" indent="-384175" algn="l" rtl="0">
              <a:lnSpc>
                <a:spcPct val="90000"/>
              </a:lnSpc>
              <a:spcBef>
                <a:spcPts val="25"/>
              </a:spcBef>
              <a:spcAft>
                <a:spcPts val="0"/>
              </a:spcAft>
              <a:buClr>
                <a:schemeClr val="dk1"/>
              </a:buClr>
              <a:buSzPts val="2450"/>
              <a:buFont typeface="Arial"/>
              <a:buChar char="-"/>
            </a:pPr>
            <a:r>
              <a:rPr lang="fr-FR" sz="2450" dirty="0">
                <a:solidFill>
                  <a:schemeClr val="dk1"/>
                </a:solidFill>
              </a:rPr>
              <a:t>Quelles variables suscitent votre intérêt ? Votre curiosité ?</a:t>
            </a:r>
          </a:p>
        </p:txBody>
      </p:sp>
    </p:spTree>
    <p:extLst>
      <p:ext uri="{BB962C8B-B14F-4D97-AF65-F5344CB8AC3E}">
        <p14:creationId xmlns:p14="http://schemas.microsoft.com/office/powerpoint/2010/main" val="14536463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33516E96-7D7B-7C9C-9588-1DFF30B77E20}"/>
            </a:ext>
          </a:extLst>
        </p:cNvPr>
        <p:cNvGrpSpPr/>
        <p:nvPr/>
      </p:nvGrpSpPr>
      <p:grpSpPr>
        <a:xfrm>
          <a:off x="0" y="0"/>
          <a:ext cx="0" cy="0"/>
          <a:chOff x="0" y="0"/>
          <a:chExt cx="0" cy="0"/>
        </a:xfrm>
      </p:grpSpPr>
      <p:sp>
        <p:nvSpPr>
          <p:cNvPr id="406" name="Google Shape;406;g32040ae3fd7_0_2">
            <a:extLst>
              <a:ext uri="{FF2B5EF4-FFF2-40B4-BE49-F238E27FC236}">
                <a16:creationId xmlns:a16="http://schemas.microsoft.com/office/drawing/2014/main" id="{AB43E984-E618-D7D2-699B-DE5D84510905}"/>
              </a:ext>
            </a:extLst>
          </p:cNvPr>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37</a:t>
            </a:fld>
            <a:endParaRPr sz="1000">
              <a:solidFill>
                <a:srgbClr val="808080"/>
              </a:solidFill>
              <a:latin typeface="Arial"/>
              <a:ea typeface="Arial"/>
              <a:cs typeface="Arial"/>
              <a:sym typeface="Arial"/>
            </a:endParaRPr>
          </a:p>
        </p:txBody>
      </p:sp>
      <p:sp>
        <p:nvSpPr>
          <p:cNvPr id="407" name="Google Shape;407;g32040ae3fd7_0_2">
            <a:extLst>
              <a:ext uri="{FF2B5EF4-FFF2-40B4-BE49-F238E27FC236}">
                <a16:creationId xmlns:a16="http://schemas.microsoft.com/office/drawing/2014/main" id="{D30949F7-BF05-5731-6D32-3ABFC22B2753}"/>
              </a:ext>
            </a:extLst>
          </p:cNvPr>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E5D5A"/>
              </a:solidFill>
              <a:latin typeface="Calibri"/>
              <a:ea typeface="Calibri"/>
              <a:cs typeface="Calibri"/>
              <a:sym typeface="Calibri"/>
            </a:endParaRPr>
          </a:p>
        </p:txBody>
      </p:sp>
      <p:sp>
        <p:nvSpPr>
          <p:cNvPr id="408" name="Google Shape;408;g32040ae3fd7_0_2">
            <a:extLst>
              <a:ext uri="{FF2B5EF4-FFF2-40B4-BE49-F238E27FC236}">
                <a16:creationId xmlns:a16="http://schemas.microsoft.com/office/drawing/2014/main" id="{ABF0E072-62E9-1D6E-7F8E-BDDF26E055FB}"/>
              </a:ext>
            </a:extLst>
          </p:cNvPr>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409" name="Google Shape;409;g32040ae3fd7_0_2">
            <a:extLst>
              <a:ext uri="{FF2B5EF4-FFF2-40B4-BE49-F238E27FC236}">
                <a16:creationId xmlns:a16="http://schemas.microsoft.com/office/drawing/2014/main" id="{4C28DB63-9905-57AB-F703-A0E3A55E49A1}"/>
              </a:ext>
            </a:extLst>
          </p:cNvPr>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550"/>
              <a:buFont typeface="Arial"/>
              <a:buNone/>
            </a:pPr>
            <a:r>
              <a:rPr lang="fr-FR" sz="2550" b="1" i="0" u="none" strike="noStrike" cap="none" dirty="0">
                <a:solidFill>
                  <a:schemeClr val="dk1"/>
                </a:solidFill>
                <a:latin typeface="Arial"/>
                <a:ea typeface="Arial"/>
                <a:cs typeface="Arial"/>
                <a:sym typeface="Arial"/>
              </a:rPr>
              <a:t>Télécharger et installer R et </a:t>
            </a:r>
            <a:r>
              <a:rPr lang="fr-FR" sz="2550" b="1" i="0" u="none" strike="noStrike" cap="none" dirty="0" err="1">
                <a:solidFill>
                  <a:schemeClr val="dk1"/>
                </a:solidFill>
                <a:latin typeface="Arial"/>
                <a:ea typeface="Arial"/>
                <a:cs typeface="Arial"/>
                <a:sym typeface="Arial"/>
              </a:rPr>
              <a:t>Rstudio</a:t>
            </a:r>
            <a:endParaRPr sz="2550" b="1" i="0" u="none" strike="noStrike" cap="none" dirty="0">
              <a:solidFill>
                <a:schemeClr val="dk1"/>
              </a:solidFill>
              <a:latin typeface="Arial"/>
              <a:ea typeface="Arial"/>
              <a:cs typeface="Arial"/>
              <a:sym typeface="Arial"/>
            </a:endParaRPr>
          </a:p>
        </p:txBody>
      </p:sp>
      <p:sp>
        <p:nvSpPr>
          <p:cNvPr id="410" name="Google Shape;410;g32040ae3fd7_0_2">
            <a:extLst>
              <a:ext uri="{FF2B5EF4-FFF2-40B4-BE49-F238E27FC236}">
                <a16:creationId xmlns:a16="http://schemas.microsoft.com/office/drawing/2014/main" id="{134D7F15-D1FE-58A7-3F7A-B28020CC10D3}"/>
              </a:ext>
            </a:extLst>
          </p:cNvPr>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73025" lvl="0">
              <a:lnSpc>
                <a:spcPct val="90000"/>
              </a:lnSpc>
              <a:spcBef>
                <a:spcPts val="25"/>
              </a:spcBef>
              <a:buClr>
                <a:schemeClr val="dk1"/>
              </a:buClr>
              <a:buSzPts val="2450"/>
            </a:pPr>
            <a:r>
              <a:rPr lang="fr-FR" sz="2450" b="1" dirty="0">
                <a:solidFill>
                  <a:schemeClr val="dk1"/>
                </a:solidFill>
              </a:rPr>
              <a:t>Également pour la semaine prochaine</a:t>
            </a:r>
            <a:r>
              <a:rPr lang="fr-FR" sz="2450" dirty="0">
                <a:solidFill>
                  <a:schemeClr val="dk1"/>
                </a:solidFill>
              </a:rPr>
              <a:t>, télécharger et installer R en premier, puis </a:t>
            </a:r>
            <a:r>
              <a:rPr lang="fr-FR" sz="2450" dirty="0" err="1">
                <a:solidFill>
                  <a:schemeClr val="dk1"/>
                </a:solidFill>
              </a:rPr>
              <a:t>Rstudio</a:t>
            </a:r>
            <a:r>
              <a:rPr lang="fr-FR" sz="2450" dirty="0">
                <a:solidFill>
                  <a:schemeClr val="dk1"/>
                </a:solidFill>
              </a:rPr>
              <a:t> en deuxième :</a:t>
            </a:r>
          </a:p>
          <a:p>
            <a:pPr marL="73025" lvl="0">
              <a:lnSpc>
                <a:spcPct val="90000"/>
              </a:lnSpc>
              <a:spcBef>
                <a:spcPts val="25"/>
              </a:spcBef>
              <a:buClr>
                <a:schemeClr val="dk1"/>
              </a:buClr>
              <a:buSzPts val="2450"/>
            </a:pPr>
            <a:r>
              <a:rPr lang="fr-FR" sz="2450" dirty="0">
                <a:solidFill>
                  <a:schemeClr val="dk1"/>
                </a:solidFill>
                <a:hlinkClick r:id="rId3"/>
              </a:rPr>
              <a:t>https://posit.co/download/rstudio-desktop/</a:t>
            </a:r>
            <a:r>
              <a:rPr lang="fr-FR" sz="2450" dirty="0">
                <a:solidFill>
                  <a:schemeClr val="dk1"/>
                </a:solidFill>
              </a:rPr>
              <a:t> </a:t>
            </a:r>
          </a:p>
          <a:p>
            <a:pPr marL="73025" lvl="0">
              <a:lnSpc>
                <a:spcPct val="90000"/>
              </a:lnSpc>
              <a:spcBef>
                <a:spcPts val="25"/>
              </a:spcBef>
              <a:buClr>
                <a:schemeClr val="dk1"/>
              </a:buClr>
              <a:buSzPts val="2450"/>
            </a:pPr>
            <a:endParaRPr lang="fr-FR" sz="2450" b="0" i="0" u="none" strike="noStrike" cap="none" dirty="0">
              <a:solidFill>
                <a:schemeClr val="dk1"/>
              </a:solidFill>
              <a:latin typeface="Arial"/>
              <a:ea typeface="Arial"/>
              <a:cs typeface="Arial"/>
              <a:sym typeface="Arial"/>
            </a:endParaRPr>
          </a:p>
        </p:txBody>
      </p:sp>
      <p:pic>
        <p:nvPicPr>
          <p:cNvPr id="3" name="Picture 2" descr="A screenshot of a computer&#10;&#10;AI-generated content may be incorrect.">
            <a:extLst>
              <a:ext uri="{FF2B5EF4-FFF2-40B4-BE49-F238E27FC236}">
                <a16:creationId xmlns:a16="http://schemas.microsoft.com/office/drawing/2014/main" id="{D2F6F924-8294-D9CA-FB88-18514A716C4A}"/>
              </a:ext>
            </a:extLst>
          </p:cNvPr>
          <p:cNvPicPr>
            <a:picLocks noChangeAspect="1"/>
          </p:cNvPicPr>
          <p:nvPr/>
        </p:nvPicPr>
        <p:blipFill>
          <a:blip r:embed="rId4"/>
          <a:stretch>
            <a:fillRect/>
          </a:stretch>
        </p:blipFill>
        <p:spPr>
          <a:xfrm>
            <a:off x="1012990" y="3259178"/>
            <a:ext cx="7118019" cy="2518769"/>
          </a:xfrm>
          <a:prstGeom prst="rect">
            <a:avLst/>
          </a:prstGeom>
        </p:spPr>
      </p:pic>
    </p:spTree>
    <p:extLst>
      <p:ext uri="{BB962C8B-B14F-4D97-AF65-F5344CB8AC3E}">
        <p14:creationId xmlns:p14="http://schemas.microsoft.com/office/powerpoint/2010/main" val="20350282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g2a994f7876f_0_4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38</a:t>
            </a:fld>
            <a:endParaRPr sz="1000">
              <a:solidFill>
                <a:srgbClr val="808080"/>
              </a:solidFill>
              <a:latin typeface="Arial"/>
              <a:ea typeface="Arial"/>
              <a:cs typeface="Arial"/>
              <a:sym typeface="Arial"/>
            </a:endParaRPr>
          </a:p>
        </p:txBody>
      </p:sp>
      <p:sp>
        <p:nvSpPr>
          <p:cNvPr id="416" name="Google Shape;416;g2a994f7876f_0_40"/>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E5D5A"/>
              </a:solidFill>
              <a:latin typeface="Calibri"/>
              <a:ea typeface="Calibri"/>
              <a:cs typeface="Calibri"/>
              <a:sym typeface="Calibri"/>
            </a:endParaRPr>
          </a:p>
        </p:txBody>
      </p:sp>
      <p:sp>
        <p:nvSpPr>
          <p:cNvPr id="417" name="Google Shape;417;g2a994f7876f_0_40"/>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418" name="Google Shape;418;g2a994f7876f_0_40"/>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0" algn="l" rtl="0">
              <a:lnSpc>
                <a:spcPct val="90000"/>
              </a:lnSpc>
              <a:spcBef>
                <a:spcPts val="25"/>
              </a:spcBef>
              <a:spcAft>
                <a:spcPts val="0"/>
              </a:spcAft>
              <a:buClr>
                <a:srgbClr val="000000"/>
              </a:buClr>
              <a:buSzPts val="2565"/>
              <a:buFont typeface="Arial"/>
              <a:buNone/>
            </a:pPr>
            <a:endParaRPr sz="2565" b="0" i="0" u="none" strike="noStrike" cap="none" dirty="0">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65"/>
              <a:buFont typeface="Arial"/>
              <a:buNone/>
            </a:pPr>
            <a:endParaRPr sz="2565" b="0" i="0" u="none" strike="noStrike" cap="none" dirty="0">
              <a:solidFill>
                <a:schemeClr val="dk1"/>
              </a:solidFill>
              <a:latin typeface="Arial"/>
              <a:ea typeface="Arial"/>
              <a:cs typeface="Arial"/>
              <a:sym typeface="Arial"/>
            </a:endParaRPr>
          </a:p>
          <a:p>
            <a:pPr marL="457200" marR="0" lvl="0" indent="-390525" algn="l" rtl="0">
              <a:lnSpc>
                <a:spcPct val="90000"/>
              </a:lnSpc>
              <a:spcBef>
                <a:spcPts val="25"/>
              </a:spcBef>
              <a:spcAft>
                <a:spcPts val="0"/>
              </a:spcAft>
              <a:buClr>
                <a:srgbClr val="CCCCCC"/>
              </a:buClr>
              <a:buSzPts val="2550"/>
              <a:buFont typeface="Arial"/>
              <a:buChar char="●"/>
            </a:pPr>
            <a:r>
              <a:rPr lang="fr-FR" sz="2550" b="0" i="0" u="none" strike="noStrike" cap="none" dirty="0">
                <a:solidFill>
                  <a:srgbClr val="CCCCCC"/>
                </a:solidFill>
                <a:latin typeface="Arial"/>
                <a:ea typeface="Arial"/>
                <a:cs typeface="Arial"/>
                <a:sym typeface="Arial"/>
              </a:rPr>
              <a:t>Apprentissage théorique et mise en pratique sur R avec l’enquête Engagements, politisation et réseaux sociaux (ETUPOL)</a:t>
            </a:r>
            <a:endParaRPr sz="2550" b="0" i="0" u="none" strike="noStrike" cap="none" dirty="0">
              <a:solidFill>
                <a:srgbClr val="CCCCCC"/>
              </a:solidFill>
              <a:latin typeface="Arial"/>
              <a:ea typeface="Arial"/>
              <a:cs typeface="Arial"/>
              <a:sym typeface="Arial"/>
            </a:endParaRPr>
          </a:p>
          <a:p>
            <a:pPr marL="457200" marR="0" lvl="0" indent="-390525" algn="l" rtl="0">
              <a:lnSpc>
                <a:spcPct val="90000"/>
              </a:lnSpc>
              <a:spcBef>
                <a:spcPts val="25"/>
              </a:spcBef>
              <a:spcAft>
                <a:spcPts val="0"/>
              </a:spcAft>
              <a:buClr>
                <a:srgbClr val="2E5D5A"/>
              </a:buClr>
              <a:buSzPts val="2550"/>
              <a:buFont typeface="Arial"/>
              <a:buChar char="●"/>
            </a:pPr>
            <a:r>
              <a:rPr lang="fr-FR" sz="2550" b="0" i="0" u="none" strike="noStrike" cap="none" dirty="0">
                <a:solidFill>
                  <a:schemeClr val="dk1"/>
                </a:solidFill>
                <a:latin typeface="Arial"/>
                <a:ea typeface="Arial"/>
                <a:cs typeface="Arial"/>
                <a:sym typeface="Arial"/>
              </a:rPr>
              <a:t>Planning du semestre : contenu des cours et évaluations</a:t>
            </a:r>
            <a:endParaRPr sz="2550" b="0" i="0" u="none" strike="noStrike" cap="none" dirty="0">
              <a:solidFill>
                <a:srgbClr val="CCCCCC"/>
              </a:solidFill>
              <a:latin typeface="Arial"/>
              <a:ea typeface="Arial"/>
              <a:cs typeface="Arial"/>
              <a:sym typeface="Arial"/>
            </a:endParaRPr>
          </a:p>
        </p:txBody>
      </p:sp>
      <p:sp>
        <p:nvSpPr>
          <p:cNvPr id="419" name="Google Shape;419;g2a994f7876f_0_40"/>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fr-FR" sz="3200" b="1" i="0" u="none" strike="noStrike" cap="none">
                <a:solidFill>
                  <a:srgbClr val="2E5D5A"/>
                </a:solidFill>
                <a:latin typeface="Calibri"/>
                <a:ea typeface="Calibri"/>
                <a:cs typeface="Calibri"/>
                <a:sym typeface="Calibri"/>
              </a:rPr>
              <a:t>2. Objectifs et programme du cours</a:t>
            </a: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g2ab55a4ceb1_2_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39</a:t>
            </a:fld>
            <a:endParaRPr sz="1000">
              <a:solidFill>
                <a:srgbClr val="808080"/>
              </a:solidFill>
              <a:latin typeface="Arial"/>
              <a:ea typeface="Arial"/>
              <a:cs typeface="Arial"/>
              <a:sym typeface="Arial"/>
            </a:endParaRPr>
          </a:p>
        </p:txBody>
      </p:sp>
      <p:sp>
        <p:nvSpPr>
          <p:cNvPr id="425" name="Google Shape;425;g2ab55a4ceb1_2_0"/>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E5D5A"/>
              </a:solidFill>
              <a:latin typeface="Calibri"/>
              <a:ea typeface="Calibri"/>
              <a:cs typeface="Calibri"/>
              <a:sym typeface="Calibri"/>
            </a:endParaRPr>
          </a:p>
        </p:txBody>
      </p:sp>
      <p:sp>
        <p:nvSpPr>
          <p:cNvPr id="426" name="Google Shape;426;g2ab55a4ceb1_2_0"/>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427" name="Google Shape;427;g2ab55a4ceb1_2_0"/>
          <p:cNvSpPr txBox="1"/>
          <p:nvPr/>
        </p:nvSpPr>
        <p:spPr>
          <a:xfrm>
            <a:off x="571150" y="1563745"/>
            <a:ext cx="8048700" cy="46515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565"/>
              <a:buFont typeface="Arial"/>
              <a:buNone/>
            </a:pPr>
            <a:endParaRPr sz="1165">
              <a:solidFill>
                <a:schemeClr val="dk1"/>
              </a:solidFill>
            </a:endParaRPr>
          </a:p>
          <a:p>
            <a:pPr marL="0" marR="0" lvl="0" indent="0" algn="l" rtl="0">
              <a:lnSpc>
                <a:spcPct val="90000"/>
              </a:lnSpc>
              <a:spcBef>
                <a:spcPts val="25"/>
              </a:spcBef>
              <a:spcAft>
                <a:spcPts val="0"/>
              </a:spcAft>
              <a:buClr>
                <a:srgbClr val="000000"/>
              </a:buClr>
              <a:buSzPts val="2565"/>
              <a:buFont typeface="Arial"/>
              <a:buNone/>
            </a:pPr>
            <a:r>
              <a:rPr lang="fr-FR" sz="2565" b="0" i="0" u="none" strike="noStrike" cap="none">
                <a:solidFill>
                  <a:schemeClr val="dk1"/>
                </a:solidFill>
                <a:latin typeface="Arial"/>
                <a:ea typeface="Arial"/>
                <a:cs typeface="Arial"/>
                <a:sym typeface="Arial"/>
              </a:rPr>
              <a:t>cf. syllabus</a:t>
            </a:r>
            <a:endParaRPr sz="2565" b="0" i="0" u="none" strike="noStrike" cap="none">
              <a:solidFill>
                <a:schemeClr val="dk1"/>
              </a:solidFill>
              <a:latin typeface="Arial"/>
              <a:ea typeface="Arial"/>
              <a:cs typeface="Arial"/>
              <a:sym typeface="Arial"/>
            </a:endParaRPr>
          </a:p>
          <a:p>
            <a:pPr marL="0" marR="0" lvl="0" indent="0" algn="l" rtl="0">
              <a:lnSpc>
                <a:spcPct val="90000"/>
              </a:lnSpc>
              <a:spcBef>
                <a:spcPts val="25"/>
              </a:spcBef>
              <a:spcAft>
                <a:spcPts val="0"/>
              </a:spcAft>
              <a:buClr>
                <a:srgbClr val="000000"/>
              </a:buClr>
              <a:buSzPts val="2565"/>
              <a:buFont typeface="Arial"/>
              <a:buNone/>
            </a:pPr>
            <a:endParaRPr sz="1565">
              <a:solidFill>
                <a:schemeClr val="dk1"/>
              </a:solidFill>
            </a:endParaRPr>
          </a:p>
          <a:p>
            <a:pPr marL="457200" marR="0" lvl="0" indent="-391477" algn="l" rtl="0">
              <a:lnSpc>
                <a:spcPct val="90000"/>
              </a:lnSpc>
              <a:spcBef>
                <a:spcPts val="25"/>
              </a:spcBef>
              <a:spcAft>
                <a:spcPts val="0"/>
              </a:spcAft>
              <a:buClr>
                <a:schemeClr val="dk1"/>
              </a:buClr>
              <a:buSzPts val="2565"/>
              <a:buChar char="-"/>
            </a:pPr>
            <a:r>
              <a:rPr lang="fr-FR" sz="2565">
                <a:solidFill>
                  <a:schemeClr val="dk1"/>
                </a:solidFill>
              </a:rPr>
              <a:t>Séance 1 &amp; 2: Introduction: les méthodes quantitatives qu’est-ce que c’est?</a:t>
            </a:r>
            <a:endParaRPr sz="2565">
              <a:solidFill>
                <a:schemeClr val="dk1"/>
              </a:solidFill>
            </a:endParaRPr>
          </a:p>
          <a:p>
            <a:pPr marL="457200" marR="0" lvl="0" indent="0" algn="l" rtl="0">
              <a:lnSpc>
                <a:spcPct val="90000"/>
              </a:lnSpc>
              <a:spcBef>
                <a:spcPts val="25"/>
              </a:spcBef>
              <a:spcAft>
                <a:spcPts val="0"/>
              </a:spcAft>
              <a:buNone/>
            </a:pPr>
            <a:endParaRPr sz="1765">
              <a:solidFill>
                <a:schemeClr val="dk1"/>
              </a:solidFill>
            </a:endParaRPr>
          </a:p>
          <a:p>
            <a:pPr marL="457200" marR="0" lvl="0" indent="-391477" algn="l" rtl="0">
              <a:lnSpc>
                <a:spcPct val="90000"/>
              </a:lnSpc>
              <a:spcBef>
                <a:spcPts val="25"/>
              </a:spcBef>
              <a:spcAft>
                <a:spcPts val="0"/>
              </a:spcAft>
              <a:buClr>
                <a:schemeClr val="dk1"/>
              </a:buClr>
              <a:buSzPts val="2565"/>
              <a:buChar char="-"/>
            </a:pPr>
            <a:r>
              <a:rPr lang="fr-FR" sz="2565">
                <a:solidFill>
                  <a:schemeClr val="dk1"/>
                </a:solidFill>
              </a:rPr>
              <a:t>Séance 3, 4 : l’analyse univariée</a:t>
            </a:r>
            <a:endParaRPr sz="2565">
              <a:solidFill>
                <a:schemeClr val="dk1"/>
              </a:solidFill>
            </a:endParaRPr>
          </a:p>
          <a:p>
            <a:pPr marL="457200" marR="0" lvl="0" indent="0" algn="l" rtl="0">
              <a:lnSpc>
                <a:spcPct val="90000"/>
              </a:lnSpc>
              <a:spcBef>
                <a:spcPts val="25"/>
              </a:spcBef>
              <a:spcAft>
                <a:spcPts val="0"/>
              </a:spcAft>
              <a:buNone/>
            </a:pPr>
            <a:endParaRPr sz="1565">
              <a:solidFill>
                <a:schemeClr val="dk1"/>
              </a:solidFill>
            </a:endParaRPr>
          </a:p>
          <a:p>
            <a:pPr marL="457200" marR="0" lvl="0" indent="-391477" algn="l" rtl="0">
              <a:lnSpc>
                <a:spcPct val="90000"/>
              </a:lnSpc>
              <a:spcBef>
                <a:spcPts val="25"/>
              </a:spcBef>
              <a:spcAft>
                <a:spcPts val="0"/>
              </a:spcAft>
              <a:buClr>
                <a:schemeClr val="dk1"/>
              </a:buClr>
              <a:buSzPts val="2565"/>
              <a:buChar char="-"/>
            </a:pPr>
            <a:r>
              <a:rPr lang="fr-FR" sz="2565">
                <a:solidFill>
                  <a:schemeClr val="dk1"/>
                </a:solidFill>
              </a:rPr>
              <a:t>Séance 5, 6 et 7 : l’analyse bivariée</a:t>
            </a:r>
            <a:endParaRPr sz="2565">
              <a:solidFill>
                <a:schemeClr val="dk1"/>
              </a:solidFill>
            </a:endParaRPr>
          </a:p>
          <a:p>
            <a:pPr marL="457200" marR="0" lvl="0" indent="-327977" algn="l" rtl="0">
              <a:lnSpc>
                <a:spcPct val="90000"/>
              </a:lnSpc>
              <a:spcBef>
                <a:spcPts val="0"/>
              </a:spcBef>
              <a:spcAft>
                <a:spcPts val="0"/>
              </a:spcAft>
              <a:buClr>
                <a:schemeClr val="dk1"/>
              </a:buClr>
              <a:buSzPts val="1565"/>
              <a:buChar char="-"/>
            </a:pPr>
            <a:endParaRPr sz="1565">
              <a:solidFill>
                <a:schemeClr val="dk1"/>
              </a:solidFill>
            </a:endParaRPr>
          </a:p>
          <a:p>
            <a:pPr marL="457200" marR="0" lvl="0" indent="-391477" algn="l" rtl="0">
              <a:lnSpc>
                <a:spcPct val="90000"/>
              </a:lnSpc>
              <a:spcBef>
                <a:spcPts val="0"/>
              </a:spcBef>
              <a:spcAft>
                <a:spcPts val="0"/>
              </a:spcAft>
              <a:buClr>
                <a:schemeClr val="dk1"/>
              </a:buClr>
              <a:buSzPts val="2565"/>
              <a:buChar char="-"/>
            </a:pPr>
            <a:r>
              <a:rPr lang="fr-FR" sz="2565">
                <a:solidFill>
                  <a:schemeClr val="dk1"/>
                </a:solidFill>
              </a:rPr>
              <a:t>Séance 8 &amp; 9 : introduction aux indicateurs synthétiques</a:t>
            </a:r>
            <a:endParaRPr sz="2565">
              <a:solidFill>
                <a:schemeClr val="dk1"/>
              </a:solidFill>
            </a:endParaRPr>
          </a:p>
          <a:p>
            <a:pPr marL="457200" marR="0" lvl="0" indent="0" algn="l" rtl="0">
              <a:lnSpc>
                <a:spcPct val="90000"/>
              </a:lnSpc>
              <a:spcBef>
                <a:spcPts val="25"/>
              </a:spcBef>
              <a:spcAft>
                <a:spcPts val="0"/>
              </a:spcAft>
              <a:buNone/>
            </a:pPr>
            <a:endParaRPr sz="2065">
              <a:solidFill>
                <a:schemeClr val="dk1"/>
              </a:solidFill>
            </a:endParaRPr>
          </a:p>
          <a:p>
            <a:pPr marL="457200" marR="0" lvl="0" indent="-391477" algn="l" rtl="0">
              <a:lnSpc>
                <a:spcPct val="90000"/>
              </a:lnSpc>
              <a:spcBef>
                <a:spcPts val="25"/>
              </a:spcBef>
              <a:spcAft>
                <a:spcPts val="0"/>
              </a:spcAft>
              <a:buClr>
                <a:schemeClr val="dk1"/>
              </a:buClr>
              <a:buSzPts val="2565"/>
              <a:buChar char="-"/>
            </a:pPr>
            <a:r>
              <a:rPr lang="fr-FR" sz="2565">
                <a:solidFill>
                  <a:schemeClr val="dk1"/>
                </a:solidFill>
              </a:rPr>
              <a:t>Séance 10 : travail en groupe en vue du rendu final  </a:t>
            </a:r>
            <a:endParaRPr sz="2565">
              <a:solidFill>
                <a:schemeClr val="dk1"/>
              </a:solidFill>
            </a:endParaRPr>
          </a:p>
        </p:txBody>
      </p:sp>
      <p:sp>
        <p:nvSpPr>
          <p:cNvPr id="428" name="Google Shape;428;g2ab55a4ceb1_2_0"/>
          <p:cNvSpPr txBox="1"/>
          <p:nvPr/>
        </p:nvSpPr>
        <p:spPr>
          <a:xfrm>
            <a:off x="467925" y="761600"/>
            <a:ext cx="8274900" cy="6981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950"/>
              <a:buFont typeface="Arial"/>
              <a:buNone/>
            </a:pPr>
            <a:r>
              <a:rPr lang="fr-FR" sz="2750" b="1" i="0" u="none" strike="noStrike" cap="none">
                <a:solidFill>
                  <a:schemeClr val="dk1"/>
                </a:solidFill>
              </a:rPr>
              <a:t>Planning du semestre : contenu des cours et évaluations</a:t>
            </a:r>
            <a:endParaRPr sz="2750" b="1" i="0" u="none" strike="noStrike" cap="none">
              <a:solidFill>
                <a:srgbClr val="CCCCCC"/>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g2a994f7876f_0_5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40</a:t>
            </a:fld>
            <a:endParaRPr sz="1000">
              <a:solidFill>
                <a:srgbClr val="808080"/>
              </a:solidFill>
              <a:latin typeface="Arial"/>
              <a:ea typeface="Arial"/>
              <a:cs typeface="Arial"/>
              <a:sym typeface="Arial"/>
            </a:endParaRPr>
          </a:p>
        </p:txBody>
      </p:sp>
      <p:sp>
        <p:nvSpPr>
          <p:cNvPr id="434" name="Google Shape;434;g2a994f7876f_0_56"/>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35" name="Google Shape;435;g2a994f7876f_0_56"/>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436" name="Google Shape;436;g2a994f7876f_0_56"/>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0" algn="l" rtl="0">
              <a:lnSpc>
                <a:spcPct val="90000"/>
              </a:lnSpc>
              <a:spcBef>
                <a:spcPts val="25"/>
              </a:spcBef>
              <a:spcAft>
                <a:spcPts val="0"/>
              </a:spcAft>
              <a:buClr>
                <a:srgbClr val="000000"/>
              </a:buClr>
              <a:buSzPts val="2565"/>
              <a:buFont typeface="Arial"/>
              <a:buNone/>
            </a:pPr>
            <a:endParaRPr sz="2565" b="0" i="0" u="none" strike="noStrike" cap="none">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65"/>
              <a:buFont typeface="Arial"/>
              <a:buNone/>
            </a:pPr>
            <a:endParaRPr sz="2565" b="0" i="0" u="none" strike="noStrike" cap="none">
              <a:solidFill>
                <a:schemeClr val="dk1"/>
              </a:solidFill>
              <a:latin typeface="Arial"/>
              <a:ea typeface="Arial"/>
              <a:cs typeface="Arial"/>
              <a:sym typeface="Arial"/>
            </a:endParaRPr>
          </a:p>
          <a:p>
            <a:pPr marL="457200" marR="0" lvl="0" indent="-390525" algn="l" rtl="0">
              <a:lnSpc>
                <a:spcPct val="90000"/>
              </a:lnSpc>
              <a:spcBef>
                <a:spcPts val="25"/>
              </a:spcBef>
              <a:spcAft>
                <a:spcPts val="0"/>
              </a:spcAft>
              <a:buClr>
                <a:srgbClr val="2E5D5A"/>
              </a:buClr>
              <a:buSzPts val="2550"/>
              <a:buFont typeface="Arial"/>
              <a:buChar char="●"/>
            </a:pPr>
            <a:r>
              <a:rPr lang="fr-FR" sz="2550" b="0" i="0" u="none" strike="noStrike" cap="none">
                <a:solidFill>
                  <a:schemeClr val="dk1"/>
                </a:solidFill>
                <a:latin typeface="Arial"/>
                <a:ea typeface="Arial"/>
                <a:cs typeface="Arial"/>
                <a:sym typeface="Arial"/>
              </a:rPr>
              <a:t>Note de participation orale (10%)</a:t>
            </a:r>
            <a:endParaRPr sz="2550" b="0" i="0" u="none" strike="noStrike" cap="none">
              <a:solidFill>
                <a:schemeClr val="dk1"/>
              </a:solidFill>
              <a:latin typeface="Arial"/>
              <a:ea typeface="Arial"/>
              <a:cs typeface="Arial"/>
              <a:sym typeface="Arial"/>
            </a:endParaRPr>
          </a:p>
          <a:p>
            <a:pPr marL="457200" marR="0" lvl="0" indent="-390525" algn="l" rtl="0">
              <a:lnSpc>
                <a:spcPct val="90000"/>
              </a:lnSpc>
              <a:spcBef>
                <a:spcPts val="25"/>
              </a:spcBef>
              <a:spcAft>
                <a:spcPts val="0"/>
              </a:spcAft>
              <a:buClr>
                <a:srgbClr val="CCCCCC"/>
              </a:buClr>
              <a:buSzPts val="2550"/>
              <a:buFont typeface="Arial"/>
              <a:buChar char="●"/>
            </a:pPr>
            <a:r>
              <a:rPr lang="fr-FR" sz="2550" b="0" i="0" u="none" strike="noStrike" cap="none">
                <a:solidFill>
                  <a:srgbClr val="CCCCCC"/>
                </a:solidFill>
                <a:latin typeface="Arial"/>
                <a:ea typeface="Arial"/>
                <a:cs typeface="Arial"/>
                <a:sym typeface="Arial"/>
              </a:rPr>
              <a:t>Devoir sur table 1 et 2 (20% et 20%)</a:t>
            </a:r>
            <a:endParaRPr sz="2550" b="0" i="0" u="none" strike="noStrike" cap="none">
              <a:solidFill>
                <a:srgbClr val="CCCCCC"/>
              </a:solidFill>
              <a:latin typeface="Arial"/>
              <a:ea typeface="Arial"/>
              <a:cs typeface="Arial"/>
              <a:sym typeface="Arial"/>
            </a:endParaRPr>
          </a:p>
          <a:p>
            <a:pPr marL="457200" marR="0" lvl="0" indent="-390525" algn="l" rtl="0">
              <a:lnSpc>
                <a:spcPct val="90000"/>
              </a:lnSpc>
              <a:spcBef>
                <a:spcPts val="25"/>
              </a:spcBef>
              <a:spcAft>
                <a:spcPts val="0"/>
              </a:spcAft>
              <a:buClr>
                <a:srgbClr val="CCCCCC"/>
              </a:buClr>
              <a:buSzPts val="2550"/>
              <a:buFont typeface="Arial"/>
              <a:buChar char="●"/>
            </a:pPr>
            <a:r>
              <a:rPr lang="fr-FR" sz="2550" b="0" i="0" u="none" strike="noStrike" cap="none">
                <a:solidFill>
                  <a:srgbClr val="CCCCCC"/>
                </a:solidFill>
                <a:latin typeface="Arial"/>
                <a:ea typeface="Arial"/>
                <a:cs typeface="Arial"/>
                <a:sym typeface="Arial"/>
              </a:rPr>
              <a:t>Compte rendu collectif (50%)</a:t>
            </a:r>
            <a:endParaRPr sz="2550" b="0" i="0" u="none" strike="noStrike" cap="none">
              <a:solidFill>
                <a:srgbClr val="CCCCCC"/>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endParaRPr sz="2550" b="0" i="0" u="none" strike="noStrike" cap="none">
              <a:solidFill>
                <a:srgbClr val="CCCCCC"/>
              </a:solidFill>
              <a:latin typeface="Arial"/>
              <a:ea typeface="Arial"/>
              <a:cs typeface="Arial"/>
              <a:sym typeface="Arial"/>
            </a:endParaRPr>
          </a:p>
        </p:txBody>
      </p:sp>
      <p:sp>
        <p:nvSpPr>
          <p:cNvPr id="437" name="Google Shape;437;g2a994f7876f_0_56"/>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fr-FR" sz="3200" b="1" i="0" u="none" strike="noStrike" cap="none">
                <a:solidFill>
                  <a:srgbClr val="2E5D5A"/>
                </a:solidFill>
                <a:latin typeface="Calibri"/>
                <a:ea typeface="Calibri"/>
                <a:cs typeface="Calibri"/>
                <a:sym typeface="Calibri"/>
              </a:rPr>
              <a:t>3. Modalités d’évaluation</a:t>
            </a: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g2ab55a4ceb1_2_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41</a:t>
            </a:fld>
            <a:endParaRPr sz="1000">
              <a:solidFill>
                <a:srgbClr val="808080"/>
              </a:solidFill>
              <a:latin typeface="Arial"/>
              <a:ea typeface="Arial"/>
              <a:cs typeface="Arial"/>
              <a:sym typeface="Arial"/>
            </a:endParaRPr>
          </a:p>
        </p:txBody>
      </p:sp>
      <p:sp>
        <p:nvSpPr>
          <p:cNvPr id="443" name="Google Shape;443;g2ab55a4ceb1_2_8"/>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44" name="Google Shape;444;g2ab55a4ceb1_2_8"/>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445" name="Google Shape;445;g2ab55a4ceb1_2_8"/>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390525" algn="l" rtl="0">
              <a:lnSpc>
                <a:spcPct val="90000"/>
              </a:lnSpc>
              <a:spcBef>
                <a:spcPts val="25"/>
              </a:spcBef>
              <a:spcAft>
                <a:spcPts val="0"/>
              </a:spcAft>
              <a:buClr>
                <a:srgbClr val="2E5D5A"/>
              </a:buClr>
              <a:buSzPts val="2550"/>
              <a:buChar char="●"/>
            </a:pPr>
            <a:r>
              <a:rPr lang="fr-FR" sz="2550" b="1" i="0" u="none" strike="noStrike" cap="none">
                <a:solidFill>
                  <a:schemeClr val="dk1"/>
                </a:solidFill>
              </a:rPr>
              <a:t>Note de participation orale (10% de la note)</a:t>
            </a:r>
            <a:endParaRPr sz="2550" b="1" i="0" u="none" strike="noStrike" cap="none">
              <a:solidFill>
                <a:schemeClr val="dk1"/>
              </a:solidFill>
            </a:endParaRPr>
          </a:p>
          <a:p>
            <a:pPr marL="0" marR="0" lvl="0" indent="0" algn="l" rtl="0">
              <a:lnSpc>
                <a:spcPct val="90000"/>
              </a:lnSpc>
              <a:spcBef>
                <a:spcPts val="25"/>
              </a:spcBef>
              <a:spcAft>
                <a:spcPts val="0"/>
              </a:spcAft>
              <a:buClr>
                <a:srgbClr val="000000"/>
              </a:buClr>
              <a:buSzPts val="2550"/>
              <a:buFont typeface="Arial"/>
              <a:buNone/>
            </a:pPr>
            <a:endParaRPr sz="2550" b="0" i="0" u="none" strike="noStrike" cap="none">
              <a:solidFill>
                <a:srgbClr val="CCCCCC"/>
              </a:solidFill>
              <a:latin typeface="Arial"/>
              <a:ea typeface="Arial"/>
              <a:cs typeface="Arial"/>
              <a:sym typeface="Arial"/>
            </a:endParaRPr>
          </a:p>
          <a:p>
            <a:pPr marL="457200" marR="0" lvl="0" indent="-390525" algn="l" rtl="0">
              <a:lnSpc>
                <a:spcPct val="90000"/>
              </a:lnSpc>
              <a:spcBef>
                <a:spcPts val="25"/>
              </a:spcBef>
              <a:spcAft>
                <a:spcPts val="0"/>
              </a:spcAft>
              <a:buClr>
                <a:schemeClr val="dk1"/>
              </a:buClr>
              <a:buSzPts val="2550"/>
              <a:buFont typeface="Arial"/>
              <a:buChar char="-"/>
            </a:pPr>
            <a:r>
              <a:rPr lang="fr-FR" sz="2550" b="0" i="0" u="none" strike="noStrike" cap="none">
                <a:solidFill>
                  <a:schemeClr val="dk1"/>
                </a:solidFill>
                <a:latin typeface="Arial"/>
                <a:ea typeface="Arial"/>
                <a:cs typeface="Arial"/>
                <a:sym typeface="Arial"/>
              </a:rPr>
              <a:t>chaque participation est comptée (réponses, remarques, questions)</a:t>
            </a:r>
            <a:endParaRPr sz="2550" b="0" i="0" u="none" strike="noStrike" cap="none">
              <a:solidFill>
                <a:schemeClr val="dk1"/>
              </a:solidFill>
              <a:latin typeface="Arial"/>
              <a:ea typeface="Arial"/>
              <a:cs typeface="Arial"/>
              <a:sym typeface="Arial"/>
            </a:endParaRPr>
          </a:p>
          <a:p>
            <a:pPr marL="457200" marR="0" lvl="0" indent="-390525" algn="l" rtl="0">
              <a:lnSpc>
                <a:spcPct val="90000"/>
              </a:lnSpc>
              <a:spcBef>
                <a:spcPts val="0"/>
              </a:spcBef>
              <a:spcAft>
                <a:spcPts val="0"/>
              </a:spcAft>
              <a:buClr>
                <a:schemeClr val="dk1"/>
              </a:buClr>
              <a:buSzPts val="2550"/>
              <a:buFont typeface="Arial"/>
              <a:buChar char="-"/>
            </a:pPr>
            <a:r>
              <a:rPr lang="fr-FR" sz="2550" b="0" i="0" u="none" strike="noStrike" cap="none">
                <a:solidFill>
                  <a:schemeClr val="dk1"/>
                </a:solidFill>
                <a:latin typeface="Arial"/>
                <a:ea typeface="Arial"/>
                <a:cs typeface="Arial"/>
                <a:sym typeface="Arial"/>
              </a:rPr>
              <a:t>note finale basée sur le nombre de participations au cours du semestre</a:t>
            </a:r>
            <a:endParaRPr sz="2550" b="0" i="0" u="none" strike="noStrike" cap="none">
              <a:solidFill>
                <a:schemeClr val="dk1"/>
              </a:solidFill>
              <a:latin typeface="Arial"/>
              <a:ea typeface="Arial"/>
              <a:cs typeface="Arial"/>
              <a:sym typeface="Arial"/>
            </a:endParaRPr>
          </a:p>
          <a:p>
            <a:pPr marL="0" marR="0" lvl="0" indent="0" algn="l" rtl="0">
              <a:lnSpc>
                <a:spcPct val="90000"/>
              </a:lnSpc>
              <a:spcBef>
                <a:spcPts val="25"/>
              </a:spcBef>
              <a:spcAft>
                <a:spcPts val="0"/>
              </a:spcAft>
              <a:buClr>
                <a:srgbClr val="000000"/>
              </a:buClr>
              <a:buSzPts val="2550"/>
              <a:buFont typeface="Arial"/>
              <a:buNone/>
            </a:pPr>
            <a:endParaRPr sz="2550" b="0" i="0" u="none" strike="noStrike" cap="none">
              <a:solidFill>
                <a:schemeClr val="dk1"/>
              </a:solidFill>
              <a:latin typeface="Arial"/>
              <a:ea typeface="Arial"/>
              <a:cs typeface="Arial"/>
              <a:sym typeface="Arial"/>
            </a:endParaRPr>
          </a:p>
          <a:p>
            <a:pPr marL="0" marR="0" lvl="0" indent="0" algn="l" rtl="0">
              <a:lnSpc>
                <a:spcPct val="90000"/>
              </a:lnSpc>
              <a:spcBef>
                <a:spcPts val="25"/>
              </a:spcBef>
              <a:spcAft>
                <a:spcPts val="0"/>
              </a:spcAft>
              <a:buClr>
                <a:srgbClr val="000000"/>
              </a:buClr>
              <a:buSzPts val="2550"/>
              <a:buFont typeface="Arial"/>
              <a:buNone/>
            </a:pPr>
            <a:r>
              <a:rPr lang="fr-FR" sz="2550" b="0" i="0" u="none" strike="noStrike" cap="none">
                <a:solidFill>
                  <a:schemeClr val="dk1"/>
                </a:solidFill>
                <a:latin typeface="Arial"/>
                <a:ea typeface="Arial"/>
                <a:cs typeface="Arial"/>
                <a:sym typeface="Arial"/>
              </a:rPr>
              <a:t>= Quantification de votre participation au cours du semestre !</a:t>
            </a:r>
            <a:endParaRPr sz="2550" b="0" i="0" u="none" strike="noStrike" cap="none">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endParaRPr sz="2550" b="0" i="0" u="none" strike="noStrike" cap="none">
              <a:solidFill>
                <a:srgbClr val="CCCCCC"/>
              </a:solidFill>
              <a:latin typeface="Arial"/>
              <a:ea typeface="Arial"/>
              <a:cs typeface="Arial"/>
              <a:sym typeface="Arial"/>
            </a:endParaRPr>
          </a:p>
        </p:txBody>
      </p:sp>
      <p:sp>
        <p:nvSpPr>
          <p:cNvPr id="446" name="Google Shape;446;g2ab55a4ceb1_2_8"/>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g2a994f7876f_0_6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42</a:t>
            </a:fld>
            <a:endParaRPr sz="1000">
              <a:solidFill>
                <a:srgbClr val="808080"/>
              </a:solidFill>
              <a:latin typeface="Arial"/>
              <a:ea typeface="Arial"/>
              <a:cs typeface="Arial"/>
              <a:sym typeface="Arial"/>
            </a:endParaRPr>
          </a:p>
        </p:txBody>
      </p:sp>
      <p:sp>
        <p:nvSpPr>
          <p:cNvPr id="452" name="Google Shape;452;g2a994f7876f_0_64"/>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53" name="Google Shape;453;g2a994f7876f_0_64"/>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454" name="Google Shape;454;g2a994f7876f_0_64"/>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0" algn="l" rtl="0">
              <a:lnSpc>
                <a:spcPct val="90000"/>
              </a:lnSpc>
              <a:spcBef>
                <a:spcPts val="25"/>
              </a:spcBef>
              <a:spcAft>
                <a:spcPts val="0"/>
              </a:spcAft>
              <a:buClr>
                <a:srgbClr val="000000"/>
              </a:buClr>
              <a:buSzPts val="2565"/>
              <a:buFont typeface="Arial"/>
              <a:buNone/>
            </a:pPr>
            <a:endParaRPr sz="2565" b="0" i="0" u="none" strike="noStrike" cap="none">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65"/>
              <a:buFont typeface="Arial"/>
              <a:buNone/>
            </a:pPr>
            <a:endParaRPr sz="2565" b="0" i="0" u="none" strike="noStrike" cap="none">
              <a:solidFill>
                <a:schemeClr val="dk1"/>
              </a:solidFill>
              <a:latin typeface="Arial"/>
              <a:ea typeface="Arial"/>
              <a:cs typeface="Arial"/>
              <a:sym typeface="Arial"/>
            </a:endParaRPr>
          </a:p>
          <a:p>
            <a:pPr marL="457200" marR="0" lvl="0" indent="-390525" algn="l" rtl="0">
              <a:lnSpc>
                <a:spcPct val="90000"/>
              </a:lnSpc>
              <a:spcBef>
                <a:spcPts val="25"/>
              </a:spcBef>
              <a:spcAft>
                <a:spcPts val="0"/>
              </a:spcAft>
              <a:buClr>
                <a:srgbClr val="CCCCCC"/>
              </a:buClr>
              <a:buSzPts val="2550"/>
              <a:buFont typeface="Arial"/>
              <a:buChar char="●"/>
            </a:pPr>
            <a:r>
              <a:rPr lang="fr-FR" sz="2550" b="0" i="0" u="none" strike="noStrike" cap="none">
                <a:solidFill>
                  <a:srgbClr val="CCCCCC"/>
                </a:solidFill>
                <a:latin typeface="Arial"/>
                <a:ea typeface="Arial"/>
                <a:cs typeface="Arial"/>
                <a:sym typeface="Arial"/>
              </a:rPr>
              <a:t>Note de participation orale (10%</a:t>
            </a:r>
            <a:r>
              <a:rPr lang="fr-FR" sz="2550">
                <a:solidFill>
                  <a:srgbClr val="CCCCCC"/>
                </a:solidFill>
              </a:rPr>
              <a:t>)</a:t>
            </a:r>
            <a:endParaRPr sz="2550" b="0" i="0" u="none" strike="noStrike" cap="none">
              <a:solidFill>
                <a:srgbClr val="CCCCCC"/>
              </a:solidFill>
              <a:latin typeface="Arial"/>
              <a:ea typeface="Arial"/>
              <a:cs typeface="Arial"/>
              <a:sym typeface="Arial"/>
            </a:endParaRPr>
          </a:p>
          <a:p>
            <a:pPr marL="457200" marR="0" lvl="0" indent="-390525" algn="l" rtl="0">
              <a:lnSpc>
                <a:spcPct val="90000"/>
              </a:lnSpc>
              <a:spcBef>
                <a:spcPts val="25"/>
              </a:spcBef>
              <a:spcAft>
                <a:spcPts val="0"/>
              </a:spcAft>
              <a:buClr>
                <a:srgbClr val="2E5D5A"/>
              </a:buClr>
              <a:buSzPts val="2550"/>
              <a:buFont typeface="Arial"/>
              <a:buChar char="●"/>
            </a:pPr>
            <a:r>
              <a:rPr lang="fr-FR" sz="2550" b="0" i="0" u="none" strike="noStrike" cap="none">
                <a:solidFill>
                  <a:schemeClr val="dk1"/>
                </a:solidFill>
                <a:latin typeface="Arial"/>
                <a:ea typeface="Arial"/>
                <a:cs typeface="Arial"/>
                <a:sym typeface="Arial"/>
              </a:rPr>
              <a:t>Devoir sur table 1 et 2 (20% et 20%)</a:t>
            </a:r>
            <a:endParaRPr sz="2550" b="0" i="0" u="none" strike="noStrike" cap="none">
              <a:solidFill>
                <a:schemeClr val="dk1"/>
              </a:solidFill>
              <a:latin typeface="Arial"/>
              <a:ea typeface="Arial"/>
              <a:cs typeface="Arial"/>
              <a:sym typeface="Arial"/>
            </a:endParaRPr>
          </a:p>
          <a:p>
            <a:pPr marL="457200" marR="0" lvl="0" indent="-390525" algn="l" rtl="0">
              <a:lnSpc>
                <a:spcPct val="90000"/>
              </a:lnSpc>
              <a:spcBef>
                <a:spcPts val="25"/>
              </a:spcBef>
              <a:spcAft>
                <a:spcPts val="0"/>
              </a:spcAft>
              <a:buClr>
                <a:srgbClr val="CCCCCC"/>
              </a:buClr>
              <a:buSzPts val="2550"/>
              <a:buFont typeface="Arial"/>
              <a:buChar char="●"/>
            </a:pPr>
            <a:r>
              <a:rPr lang="fr-FR" sz="2550" b="0" i="0" u="none" strike="noStrike" cap="none">
                <a:solidFill>
                  <a:srgbClr val="CCCCCC"/>
                </a:solidFill>
                <a:latin typeface="Arial"/>
                <a:ea typeface="Arial"/>
                <a:cs typeface="Arial"/>
                <a:sym typeface="Arial"/>
              </a:rPr>
              <a:t>Compte rendu collectif (50%)</a:t>
            </a:r>
            <a:endParaRPr sz="2550" b="0" i="0" u="none" strike="noStrike" cap="none">
              <a:solidFill>
                <a:srgbClr val="CCCCCC"/>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endParaRPr sz="2550" b="0" i="0" u="none" strike="noStrike" cap="none">
              <a:solidFill>
                <a:srgbClr val="CCCCCC"/>
              </a:solidFill>
              <a:latin typeface="Arial"/>
              <a:ea typeface="Arial"/>
              <a:cs typeface="Arial"/>
              <a:sym typeface="Arial"/>
            </a:endParaRPr>
          </a:p>
        </p:txBody>
      </p:sp>
      <p:sp>
        <p:nvSpPr>
          <p:cNvPr id="455" name="Google Shape;455;g2a994f7876f_0_64"/>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g2ab55a4ceb1_2_1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43</a:t>
            </a:fld>
            <a:endParaRPr sz="1000">
              <a:solidFill>
                <a:srgbClr val="808080"/>
              </a:solidFill>
              <a:latin typeface="Arial"/>
              <a:ea typeface="Arial"/>
              <a:cs typeface="Arial"/>
              <a:sym typeface="Arial"/>
            </a:endParaRPr>
          </a:p>
        </p:txBody>
      </p:sp>
      <p:sp>
        <p:nvSpPr>
          <p:cNvPr id="461" name="Google Shape;461;g2ab55a4ceb1_2_16"/>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2" name="Google Shape;462;g2ab55a4ceb1_2_16"/>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463" name="Google Shape;463;g2ab55a4ceb1_2_16"/>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0" algn="l" rtl="0">
              <a:lnSpc>
                <a:spcPct val="90000"/>
              </a:lnSpc>
              <a:spcBef>
                <a:spcPts val="25"/>
              </a:spcBef>
              <a:spcAft>
                <a:spcPts val="0"/>
              </a:spcAft>
              <a:buClr>
                <a:srgbClr val="000000"/>
              </a:buClr>
              <a:buSzPts val="2565"/>
              <a:buFont typeface="Arial"/>
              <a:buNone/>
            </a:pPr>
            <a:endParaRPr sz="2565" b="0" i="0" u="none" strike="noStrike" cap="none" dirty="0">
              <a:solidFill>
                <a:schemeClr val="dk1"/>
              </a:solidFill>
              <a:latin typeface="Arial"/>
              <a:ea typeface="Arial"/>
              <a:cs typeface="Arial"/>
              <a:sym typeface="Arial"/>
            </a:endParaRPr>
          </a:p>
          <a:p>
            <a:pPr marL="0" marR="0" lvl="0" indent="0" algn="l" rtl="0">
              <a:lnSpc>
                <a:spcPct val="90000"/>
              </a:lnSpc>
              <a:spcBef>
                <a:spcPts val="25"/>
              </a:spcBef>
              <a:spcAft>
                <a:spcPts val="0"/>
              </a:spcAft>
              <a:buClr>
                <a:srgbClr val="000000"/>
              </a:buClr>
              <a:buSzPts val="2550"/>
              <a:buFont typeface="Arial"/>
              <a:buNone/>
            </a:pPr>
            <a:endParaRPr sz="2550" b="0" i="0" u="none" strike="noStrike" cap="none" dirty="0">
              <a:solidFill>
                <a:srgbClr val="CCCCCC"/>
              </a:solidFill>
              <a:latin typeface="Arial"/>
              <a:ea typeface="Arial"/>
              <a:cs typeface="Arial"/>
              <a:sym typeface="Arial"/>
            </a:endParaRPr>
          </a:p>
          <a:p>
            <a:pPr marL="0" marR="0" lvl="0" indent="0" algn="l" rtl="0">
              <a:lnSpc>
                <a:spcPct val="90000"/>
              </a:lnSpc>
              <a:spcBef>
                <a:spcPts val="25"/>
              </a:spcBef>
              <a:spcAft>
                <a:spcPts val="0"/>
              </a:spcAft>
              <a:buClr>
                <a:srgbClr val="000000"/>
              </a:buClr>
              <a:buSzPts val="2550"/>
              <a:buFont typeface="Arial"/>
              <a:buNone/>
            </a:pPr>
            <a:r>
              <a:rPr lang="fr-FR" sz="2550" b="1" i="0" u="none" strike="noStrike" cap="none" dirty="0">
                <a:solidFill>
                  <a:schemeClr val="dk1"/>
                </a:solidFill>
                <a:latin typeface="Arial"/>
                <a:ea typeface="Arial"/>
                <a:cs typeface="Arial"/>
                <a:sym typeface="Arial"/>
              </a:rPr>
              <a:t>QCM 1 : </a:t>
            </a:r>
            <a:r>
              <a:rPr lang="fr-FR" sz="2550" b="1" dirty="0">
                <a:solidFill>
                  <a:schemeClr val="dk1"/>
                </a:solidFill>
              </a:rPr>
              <a:t>12</a:t>
            </a:r>
            <a:r>
              <a:rPr lang="fr-FR" sz="2550" b="1" i="0" u="none" strike="noStrike" cap="none" dirty="0">
                <a:solidFill>
                  <a:schemeClr val="dk1"/>
                </a:solidFill>
                <a:latin typeface="Arial"/>
                <a:ea typeface="Arial"/>
                <a:cs typeface="Arial"/>
                <a:sym typeface="Arial"/>
              </a:rPr>
              <a:t> février (20%</a:t>
            </a:r>
            <a:r>
              <a:rPr lang="fr-FR" sz="2550" b="1" dirty="0">
                <a:solidFill>
                  <a:schemeClr val="dk1"/>
                </a:solidFill>
              </a:rPr>
              <a:t> de la note finale)</a:t>
            </a:r>
            <a:endParaRPr sz="2550" b="1" i="0" u="none" strike="noStrike" cap="none" dirty="0">
              <a:solidFill>
                <a:schemeClr val="dk1"/>
              </a:solidFill>
              <a:latin typeface="Arial"/>
              <a:ea typeface="Arial"/>
              <a:cs typeface="Arial"/>
              <a:sym typeface="Arial"/>
            </a:endParaRPr>
          </a:p>
          <a:p>
            <a:pPr marL="0" marR="0" lvl="0" indent="0" algn="l" rtl="0">
              <a:lnSpc>
                <a:spcPct val="90000"/>
              </a:lnSpc>
              <a:spcBef>
                <a:spcPts val="25"/>
              </a:spcBef>
              <a:spcAft>
                <a:spcPts val="0"/>
              </a:spcAft>
              <a:buClr>
                <a:srgbClr val="000000"/>
              </a:buClr>
              <a:buSzPts val="2550"/>
              <a:buFont typeface="Arial"/>
              <a:buNone/>
            </a:pPr>
            <a:endParaRPr sz="2550" b="0" i="0" u="none" strike="noStrike" cap="none" dirty="0">
              <a:solidFill>
                <a:schemeClr val="dk1"/>
              </a:solidFill>
              <a:latin typeface="Arial"/>
              <a:ea typeface="Arial"/>
              <a:cs typeface="Arial"/>
              <a:sym typeface="Arial"/>
            </a:endParaRPr>
          </a:p>
          <a:p>
            <a:pPr marL="457200" marR="0" lvl="0" indent="-390525" algn="l" rtl="0">
              <a:lnSpc>
                <a:spcPct val="90000"/>
              </a:lnSpc>
              <a:spcBef>
                <a:spcPts val="25"/>
              </a:spcBef>
              <a:spcAft>
                <a:spcPts val="0"/>
              </a:spcAft>
              <a:buClr>
                <a:schemeClr val="dk1"/>
              </a:buClr>
              <a:buSzPts val="2550"/>
              <a:buFont typeface="Arial"/>
              <a:buChar char="-"/>
            </a:pPr>
            <a:r>
              <a:rPr lang="fr-FR" sz="2550" b="0" i="0" u="none" strike="noStrike" cap="none" dirty="0">
                <a:solidFill>
                  <a:schemeClr val="dk1"/>
                </a:solidFill>
                <a:latin typeface="Arial"/>
                <a:ea typeface="Arial"/>
                <a:cs typeface="Arial"/>
                <a:sym typeface="Arial"/>
              </a:rPr>
              <a:t>Sujet : Grandes enquêtes et analyse univariée</a:t>
            </a:r>
            <a:endParaRPr sz="2550" b="0" i="0" u="none" strike="noStrike" cap="none" dirty="0">
              <a:solidFill>
                <a:schemeClr val="dk1"/>
              </a:solidFill>
              <a:latin typeface="Arial"/>
              <a:ea typeface="Arial"/>
              <a:cs typeface="Arial"/>
              <a:sym typeface="Arial"/>
            </a:endParaRPr>
          </a:p>
          <a:p>
            <a:pPr marL="457200" marR="0" lvl="0" indent="-390525" algn="l" rtl="0">
              <a:lnSpc>
                <a:spcPct val="90000"/>
              </a:lnSpc>
              <a:spcBef>
                <a:spcPts val="0"/>
              </a:spcBef>
              <a:spcAft>
                <a:spcPts val="0"/>
              </a:spcAft>
              <a:buClr>
                <a:schemeClr val="dk1"/>
              </a:buClr>
              <a:buSzPts val="2550"/>
              <a:buFont typeface="Arial"/>
              <a:buChar char="-"/>
            </a:pPr>
            <a:r>
              <a:rPr lang="fr-FR" sz="2550" b="0" i="0" u="none" strike="noStrike" cap="none" dirty="0">
                <a:solidFill>
                  <a:schemeClr val="dk1"/>
                </a:solidFill>
                <a:latin typeface="Arial"/>
                <a:ea typeface="Arial"/>
                <a:cs typeface="Arial"/>
                <a:sym typeface="Arial"/>
              </a:rPr>
              <a:t>Durée : 30 mn</a:t>
            </a:r>
            <a:endParaRPr sz="2550" b="0" i="0" u="none" strike="noStrike" cap="none" dirty="0">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endParaRPr sz="2550" b="0" i="0" u="none" strike="noStrike" cap="none" dirty="0">
              <a:solidFill>
                <a:schemeClr val="dk1"/>
              </a:solidFill>
              <a:latin typeface="Arial"/>
              <a:ea typeface="Arial"/>
              <a:cs typeface="Arial"/>
              <a:sym typeface="Arial"/>
            </a:endParaRPr>
          </a:p>
        </p:txBody>
      </p:sp>
      <p:sp>
        <p:nvSpPr>
          <p:cNvPr id="464" name="Google Shape;464;g2ab55a4ceb1_2_16"/>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g2ab55a4ceb1_0_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44</a:t>
            </a:fld>
            <a:endParaRPr sz="1000">
              <a:solidFill>
                <a:srgbClr val="808080"/>
              </a:solidFill>
              <a:latin typeface="Arial"/>
              <a:ea typeface="Arial"/>
              <a:cs typeface="Arial"/>
              <a:sym typeface="Arial"/>
            </a:endParaRPr>
          </a:p>
        </p:txBody>
      </p:sp>
      <p:sp>
        <p:nvSpPr>
          <p:cNvPr id="470" name="Google Shape;470;g2ab55a4ceb1_0_0"/>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1" name="Google Shape;471;g2ab55a4ceb1_0_0"/>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472" name="Google Shape;472;g2ab55a4ceb1_0_0"/>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0" algn="l" rtl="0">
              <a:lnSpc>
                <a:spcPct val="90000"/>
              </a:lnSpc>
              <a:spcBef>
                <a:spcPts val="25"/>
              </a:spcBef>
              <a:spcAft>
                <a:spcPts val="0"/>
              </a:spcAft>
              <a:buClr>
                <a:srgbClr val="000000"/>
              </a:buClr>
              <a:buSzPts val="2565"/>
              <a:buFont typeface="Arial"/>
              <a:buNone/>
            </a:pPr>
            <a:endParaRPr sz="2565" b="0" i="0" u="none" strike="noStrike" cap="none" dirty="0">
              <a:solidFill>
                <a:schemeClr val="dk1"/>
              </a:solidFill>
              <a:latin typeface="Arial"/>
              <a:ea typeface="Arial"/>
              <a:cs typeface="Arial"/>
              <a:sym typeface="Arial"/>
            </a:endParaRPr>
          </a:p>
          <a:p>
            <a:pPr marL="0" marR="0" lvl="0" indent="0" algn="l" rtl="0">
              <a:lnSpc>
                <a:spcPct val="90000"/>
              </a:lnSpc>
              <a:spcBef>
                <a:spcPts val="25"/>
              </a:spcBef>
              <a:spcAft>
                <a:spcPts val="0"/>
              </a:spcAft>
              <a:buClr>
                <a:srgbClr val="000000"/>
              </a:buClr>
              <a:buSzPts val="2550"/>
              <a:buFont typeface="Arial"/>
              <a:buNone/>
            </a:pPr>
            <a:endParaRPr sz="2550" b="0" i="0" u="none" strike="noStrike" cap="none" dirty="0">
              <a:solidFill>
                <a:srgbClr val="CCCCCC"/>
              </a:solidFill>
              <a:latin typeface="Arial"/>
              <a:ea typeface="Arial"/>
              <a:cs typeface="Arial"/>
              <a:sym typeface="Arial"/>
            </a:endParaRPr>
          </a:p>
          <a:p>
            <a:pPr marL="0" marR="0" lvl="0" indent="0" algn="l" rtl="0">
              <a:lnSpc>
                <a:spcPct val="90000"/>
              </a:lnSpc>
              <a:spcBef>
                <a:spcPts val="25"/>
              </a:spcBef>
              <a:spcAft>
                <a:spcPts val="0"/>
              </a:spcAft>
              <a:buClr>
                <a:srgbClr val="000000"/>
              </a:buClr>
              <a:buSzPts val="2550"/>
              <a:buFont typeface="Arial"/>
              <a:buNone/>
            </a:pPr>
            <a:r>
              <a:rPr lang="fr-FR" sz="2550" b="1" i="0" u="none" strike="noStrike" cap="none" dirty="0">
                <a:solidFill>
                  <a:schemeClr val="dk1"/>
                </a:solidFill>
                <a:latin typeface="Arial"/>
                <a:ea typeface="Arial"/>
                <a:cs typeface="Arial"/>
                <a:sym typeface="Arial"/>
              </a:rPr>
              <a:t>QCM 2 : 19 mars (20% de la note finale)</a:t>
            </a:r>
            <a:endParaRPr sz="2550" b="1" i="0" u="none" strike="noStrike" cap="none" dirty="0">
              <a:solidFill>
                <a:schemeClr val="dk1"/>
              </a:solidFill>
              <a:latin typeface="Arial"/>
              <a:ea typeface="Arial"/>
              <a:cs typeface="Arial"/>
              <a:sym typeface="Arial"/>
            </a:endParaRPr>
          </a:p>
          <a:p>
            <a:pPr marL="0" marR="0" lvl="0" indent="0" algn="l" rtl="0">
              <a:lnSpc>
                <a:spcPct val="90000"/>
              </a:lnSpc>
              <a:spcBef>
                <a:spcPts val="25"/>
              </a:spcBef>
              <a:spcAft>
                <a:spcPts val="0"/>
              </a:spcAft>
              <a:buClr>
                <a:srgbClr val="000000"/>
              </a:buClr>
              <a:buSzPts val="2550"/>
              <a:buFont typeface="Arial"/>
              <a:buNone/>
            </a:pPr>
            <a:endParaRPr sz="2550" b="0" i="0" u="none" strike="noStrike" cap="none" dirty="0">
              <a:solidFill>
                <a:schemeClr val="dk1"/>
              </a:solidFill>
              <a:latin typeface="Arial"/>
              <a:ea typeface="Arial"/>
              <a:cs typeface="Arial"/>
              <a:sym typeface="Arial"/>
            </a:endParaRPr>
          </a:p>
          <a:p>
            <a:pPr marL="457200" marR="0" lvl="0" indent="-390525" algn="l" rtl="0">
              <a:lnSpc>
                <a:spcPct val="90000"/>
              </a:lnSpc>
              <a:spcBef>
                <a:spcPts val="25"/>
              </a:spcBef>
              <a:spcAft>
                <a:spcPts val="0"/>
              </a:spcAft>
              <a:buClr>
                <a:schemeClr val="dk1"/>
              </a:buClr>
              <a:buSzPts val="2550"/>
              <a:buFont typeface="Arial"/>
              <a:buChar char="-"/>
            </a:pPr>
            <a:r>
              <a:rPr lang="fr-FR" sz="2550" b="0" i="0" u="none" strike="noStrike" cap="none" dirty="0">
                <a:solidFill>
                  <a:schemeClr val="dk1"/>
                </a:solidFill>
                <a:latin typeface="Arial"/>
                <a:ea typeface="Arial"/>
                <a:cs typeface="Arial"/>
                <a:sym typeface="Arial"/>
              </a:rPr>
              <a:t>Sujet : Analyse bivariée</a:t>
            </a:r>
            <a:endParaRPr sz="2550" b="0" i="0" u="none" strike="noStrike" cap="none" dirty="0">
              <a:solidFill>
                <a:schemeClr val="dk1"/>
              </a:solidFill>
              <a:latin typeface="Arial"/>
              <a:ea typeface="Arial"/>
              <a:cs typeface="Arial"/>
              <a:sym typeface="Arial"/>
            </a:endParaRPr>
          </a:p>
          <a:p>
            <a:pPr marL="457200" marR="0" lvl="0" indent="-390525" algn="l" rtl="0">
              <a:lnSpc>
                <a:spcPct val="90000"/>
              </a:lnSpc>
              <a:spcBef>
                <a:spcPts val="0"/>
              </a:spcBef>
              <a:spcAft>
                <a:spcPts val="0"/>
              </a:spcAft>
              <a:buClr>
                <a:schemeClr val="dk1"/>
              </a:buClr>
              <a:buSzPts val="2550"/>
              <a:buFont typeface="Arial"/>
              <a:buChar char="-"/>
            </a:pPr>
            <a:r>
              <a:rPr lang="fr-FR" sz="2550" b="0" i="0" u="none" strike="noStrike" cap="none" dirty="0">
                <a:solidFill>
                  <a:schemeClr val="dk1"/>
                </a:solidFill>
                <a:latin typeface="Arial"/>
                <a:ea typeface="Arial"/>
                <a:cs typeface="Arial"/>
                <a:sym typeface="Arial"/>
              </a:rPr>
              <a:t>Durée : </a:t>
            </a:r>
            <a:r>
              <a:rPr lang="fr-FR" sz="2550" dirty="0">
                <a:solidFill>
                  <a:schemeClr val="dk1"/>
                </a:solidFill>
              </a:rPr>
              <a:t>30</a:t>
            </a:r>
            <a:r>
              <a:rPr lang="fr-FR" sz="2550" b="0" i="0" u="none" strike="noStrike" cap="none" dirty="0">
                <a:solidFill>
                  <a:schemeClr val="dk1"/>
                </a:solidFill>
                <a:latin typeface="Arial"/>
                <a:ea typeface="Arial"/>
                <a:cs typeface="Arial"/>
                <a:sym typeface="Arial"/>
              </a:rPr>
              <a:t> mn</a:t>
            </a:r>
            <a:endParaRPr sz="2550" b="0" i="0" u="none" strike="noStrike" cap="none" dirty="0">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endParaRPr sz="2550" b="0" i="0" u="none" strike="noStrike" cap="none" dirty="0">
              <a:solidFill>
                <a:schemeClr val="dk1"/>
              </a:solidFill>
              <a:latin typeface="Arial"/>
              <a:ea typeface="Arial"/>
              <a:cs typeface="Arial"/>
              <a:sym typeface="Arial"/>
            </a:endParaRPr>
          </a:p>
        </p:txBody>
      </p:sp>
      <p:sp>
        <p:nvSpPr>
          <p:cNvPr id="473" name="Google Shape;473;g2ab55a4ceb1_0_0"/>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g2a994f7876f_0_7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45</a:t>
            </a:fld>
            <a:endParaRPr sz="1000">
              <a:solidFill>
                <a:srgbClr val="808080"/>
              </a:solidFill>
              <a:latin typeface="Arial"/>
              <a:ea typeface="Arial"/>
              <a:cs typeface="Arial"/>
              <a:sym typeface="Arial"/>
            </a:endParaRPr>
          </a:p>
        </p:txBody>
      </p:sp>
      <p:sp>
        <p:nvSpPr>
          <p:cNvPr id="479" name="Google Shape;479;g2a994f7876f_0_72"/>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0" name="Google Shape;480;g2a994f7876f_0_72"/>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481" name="Google Shape;481;g2a994f7876f_0_72"/>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0" algn="l" rtl="0">
              <a:lnSpc>
                <a:spcPct val="90000"/>
              </a:lnSpc>
              <a:spcBef>
                <a:spcPts val="25"/>
              </a:spcBef>
              <a:spcAft>
                <a:spcPts val="0"/>
              </a:spcAft>
              <a:buClr>
                <a:srgbClr val="000000"/>
              </a:buClr>
              <a:buSzPts val="2565"/>
              <a:buFont typeface="Arial"/>
              <a:buNone/>
            </a:pPr>
            <a:endParaRPr sz="2565" b="0" i="0" u="none" strike="noStrike" cap="none">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65"/>
              <a:buFont typeface="Arial"/>
              <a:buNone/>
            </a:pPr>
            <a:endParaRPr sz="2565" b="0" i="0" u="none" strike="noStrike" cap="none">
              <a:solidFill>
                <a:schemeClr val="dk1"/>
              </a:solidFill>
              <a:latin typeface="Arial"/>
              <a:ea typeface="Arial"/>
              <a:cs typeface="Arial"/>
              <a:sym typeface="Arial"/>
            </a:endParaRPr>
          </a:p>
          <a:p>
            <a:pPr marL="457200" marR="0" lvl="0" indent="-390525" algn="l" rtl="0">
              <a:lnSpc>
                <a:spcPct val="90000"/>
              </a:lnSpc>
              <a:spcBef>
                <a:spcPts val="25"/>
              </a:spcBef>
              <a:spcAft>
                <a:spcPts val="0"/>
              </a:spcAft>
              <a:buClr>
                <a:srgbClr val="CCCCCC"/>
              </a:buClr>
              <a:buSzPts val="2550"/>
              <a:buFont typeface="Arial"/>
              <a:buChar char="●"/>
            </a:pPr>
            <a:r>
              <a:rPr lang="fr-FR" sz="2550" b="0" i="0" u="none" strike="noStrike" cap="none">
                <a:solidFill>
                  <a:srgbClr val="CCCCCC"/>
                </a:solidFill>
                <a:latin typeface="Arial"/>
                <a:ea typeface="Arial"/>
                <a:cs typeface="Arial"/>
                <a:sym typeface="Arial"/>
              </a:rPr>
              <a:t>Note de participation orale</a:t>
            </a:r>
            <a:endParaRPr sz="2550" b="0" i="0" u="none" strike="noStrike" cap="none">
              <a:solidFill>
                <a:srgbClr val="CCCCCC"/>
              </a:solidFill>
              <a:latin typeface="Arial"/>
              <a:ea typeface="Arial"/>
              <a:cs typeface="Arial"/>
              <a:sym typeface="Arial"/>
            </a:endParaRPr>
          </a:p>
          <a:p>
            <a:pPr marL="457200" marR="0" lvl="0" indent="-390525" algn="l" rtl="0">
              <a:lnSpc>
                <a:spcPct val="90000"/>
              </a:lnSpc>
              <a:spcBef>
                <a:spcPts val="25"/>
              </a:spcBef>
              <a:spcAft>
                <a:spcPts val="0"/>
              </a:spcAft>
              <a:buClr>
                <a:srgbClr val="CCCCCC"/>
              </a:buClr>
              <a:buSzPts val="2550"/>
              <a:buFont typeface="Arial"/>
              <a:buChar char="●"/>
            </a:pPr>
            <a:r>
              <a:rPr lang="fr-FR" sz="2550" b="0" i="0" u="none" strike="noStrike" cap="none">
                <a:solidFill>
                  <a:srgbClr val="CCCCCC"/>
                </a:solidFill>
                <a:latin typeface="Arial"/>
                <a:ea typeface="Arial"/>
                <a:cs typeface="Arial"/>
                <a:sym typeface="Arial"/>
              </a:rPr>
              <a:t>Devoir sur table 1 et 2</a:t>
            </a:r>
            <a:endParaRPr sz="2550" b="0" i="0" u="none" strike="noStrike" cap="none">
              <a:solidFill>
                <a:srgbClr val="CCCCCC"/>
              </a:solidFill>
              <a:latin typeface="Arial"/>
              <a:ea typeface="Arial"/>
              <a:cs typeface="Arial"/>
              <a:sym typeface="Arial"/>
            </a:endParaRPr>
          </a:p>
          <a:p>
            <a:pPr marL="457200" marR="0" lvl="0" indent="-390525" algn="l" rtl="0">
              <a:lnSpc>
                <a:spcPct val="90000"/>
              </a:lnSpc>
              <a:spcBef>
                <a:spcPts val="25"/>
              </a:spcBef>
              <a:spcAft>
                <a:spcPts val="0"/>
              </a:spcAft>
              <a:buClr>
                <a:srgbClr val="2E5D5A"/>
              </a:buClr>
              <a:buSzPts val="2550"/>
              <a:buFont typeface="Arial"/>
              <a:buChar char="●"/>
            </a:pPr>
            <a:r>
              <a:rPr lang="fr-FR" sz="2550" b="0" i="0" u="none" strike="noStrike" cap="none">
                <a:solidFill>
                  <a:schemeClr val="dk1"/>
                </a:solidFill>
                <a:latin typeface="Arial"/>
                <a:ea typeface="Arial"/>
                <a:cs typeface="Arial"/>
                <a:sym typeface="Arial"/>
              </a:rPr>
              <a:t>Compte rendu collectif</a:t>
            </a:r>
            <a:endParaRPr sz="2550" b="0" i="0" u="none" strike="noStrike" cap="none">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endParaRPr sz="2550" b="0" i="0" u="none" strike="noStrike" cap="none">
              <a:solidFill>
                <a:srgbClr val="CCCCCC"/>
              </a:solidFill>
              <a:latin typeface="Arial"/>
              <a:ea typeface="Arial"/>
              <a:cs typeface="Arial"/>
              <a:sym typeface="Arial"/>
            </a:endParaRPr>
          </a:p>
        </p:txBody>
      </p:sp>
      <p:sp>
        <p:nvSpPr>
          <p:cNvPr id="482" name="Google Shape;482;g2a994f7876f_0_72"/>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g2ab55a4ceb1_0_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46</a:t>
            </a:fld>
            <a:endParaRPr sz="1000">
              <a:solidFill>
                <a:srgbClr val="808080"/>
              </a:solidFill>
              <a:latin typeface="Arial"/>
              <a:ea typeface="Arial"/>
              <a:cs typeface="Arial"/>
              <a:sym typeface="Arial"/>
            </a:endParaRPr>
          </a:p>
        </p:txBody>
      </p:sp>
      <p:sp>
        <p:nvSpPr>
          <p:cNvPr id="488" name="Google Shape;488;g2ab55a4ceb1_0_8"/>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9" name="Google Shape;489;g2ab55a4ceb1_0_8"/>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490" name="Google Shape;490;g2ab55a4ceb1_0_8"/>
          <p:cNvSpPr txBox="1"/>
          <p:nvPr/>
        </p:nvSpPr>
        <p:spPr>
          <a:xfrm>
            <a:off x="467650" y="1355975"/>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550"/>
              <a:buFont typeface="Arial"/>
              <a:buNone/>
            </a:pPr>
            <a:r>
              <a:rPr lang="fr-FR" sz="2550" b="1" i="0" u="none" strike="noStrike" cap="none" dirty="0">
                <a:solidFill>
                  <a:schemeClr val="dk1"/>
                </a:solidFill>
                <a:latin typeface="Arial"/>
                <a:ea typeface="Arial"/>
                <a:cs typeface="Arial"/>
                <a:sym typeface="Arial"/>
              </a:rPr>
              <a:t>Compte rendu collectif (50%</a:t>
            </a:r>
            <a:r>
              <a:rPr lang="fr-FR" sz="2550" b="1" dirty="0">
                <a:solidFill>
                  <a:schemeClr val="dk1"/>
                </a:solidFill>
              </a:rPr>
              <a:t> de la note finale)</a:t>
            </a:r>
            <a:endParaRPr sz="2550" b="1" i="0" u="none" strike="noStrike" cap="none" dirty="0">
              <a:solidFill>
                <a:schemeClr val="dk1"/>
              </a:solidFill>
              <a:latin typeface="Arial"/>
              <a:ea typeface="Arial"/>
              <a:cs typeface="Arial"/>
              <a:sym typeface="Arial"/>
            </a:endParaRPr>
          </a:p>
          <a:p>
            <a:pPr marL="0" marR="0" lvl="0" indent="0" algn="l" rtl="0">
              <a:lnSpc>
                <a:spcPct val="90000"/>
              </a:lnSpc>
              <a:spcBef>
                <a:spcPts val="25"/>
              </a:spcBef>
              <a:spcAft>
                <a:spcPts val="0"/>
              </a:spcAft>
              <a:buNone/>
            </a:pPr>
            <a:endParaRPr sz="2550" u="sng" dirty="0">
              <a:solidFill>
                <a:schemeClr val="dk1"/>
              </a:solidFill>
            </a:endParaRPr>
          </a:p>
          <a:p>
            <a:pPr marL="457200" marR="0" lvl="0" indent="-390525" algn="l" rtl="0">
              <a:lnSpc>
                <a:spcPct val="90000"/>
              </a:lnSpc>
              <a:spcBef>
                <a:spcPts val="25"/>
              </a:spcBef>
              <a:spcAft>
                <a:spcPts val="0"/>
              </a:spcAft>
              <a:buClr>
                <a:schemeClr val="dk1"/>
              </a:buClr>
              <a:buSzPts val="2550"/>
              <a:buFont typeface="Arial"/>
              <a:buChar char="-"/>
            </a:pPr>
            <a:r>
              <a:rPr lang="fr-FR" sz="2550" u="sng" dirty="0">
                <a:solidFill>
                  <a:schemeClr val="dk1"/>
                </a:solidFill>
              </a:rPr>
              <a:t>Groupe:</a:t>
            </a:r>
            <a:r>
              <a:rPr lang="fr-FR" sz="2550" dirty="0">
                <a:solidFill>
                  <a:schemeClr val="dk1"/>
                </a:solidFill>
              </a:rPr>
              <a:t> 3 ou 4 personnes</a:t>
            </a:r>
            <a:endParaRPr sz="2550" dirty="0">
              <a:solidFill>
                <a:schemeClr val="dk1"/>
              </a:solidFill>
            </a:endParaRPr>
          </a:p>
          <a:p>
            <a:pPr marL="457200" marR="0" lvl="0" indent="0" algn="l" rtl="0">
              <a:lnSpc>
                <a:spcPct val="90000"/>
              </a:lnSpc>
              <a:spcBef>
                <a:spcPts val="25"/>
              </a:spcBef>
              <a:spcAft>
                <a:spcPts val="0"/>
              </a:spcAft>
              <a:buNone/>
            </a:pPr>
            <a:endParaRPr sz="2550" dirty="0">
              <a:solidFill>
                <a:schemeClr val="dk1"/>
              </a:solidFill>
            </a:endParaRPr>
          </a:p>
          <a:p>
            <a:pPr marL="457200" lvl="0" indent="-390525">
              <a:lnSpc>
                <a:spcPct val="90000"/>
              </a:lnSpc>
              <a:spcBef>
                <a:spcPts val="25"/>
              </a:spcBef>
              <a:buClr>
                <a:schemeClr val="dk1"/>
              </a:buClr>
              <a:buSzPts val="2550"/>
              <a:buFont typeface="Arial"/>
              <a:buChar char="-"/>
            </a:pPr>
            <a:r>
              <a:rPr lang="fr-FR" sz="2550" b="0" i="0" u="sng" strike="noStrike" cap="none" dirty="0">
                <a:solidFill>
                  <a:schemeClr val="dk1"/>
                </a:solidFill>
                <a:latin typeface="Arial"/>
                <a:ea typeface="Arial"/>
                <a:cs typeface="Arial"/>
                <a:sym typeface="Arial"/>
              </a:rPr>
              <a:t>Sujet </a:t>
            </a:r>
            <a:r>
              <a:rPr lang="fr-FR" sz="2550" b="0" i="0" u="none" strike="noStrike" cap="none" dirty="0">
                <a:solidFill>
                  <a:schemeClr val="dk1"/>
                </a:solidFill>
                <a:latin typeface="Arial"/>
                <a:ea typeface="Arial"/>
                <a:cs typeface="Arial"/>
                <a:sym typeface="Arial"/>
              </a:rPr>
              <a:t>: à formuler par vous-mêmes à partir des variables disponibles dans la base de donnée </a:t>
            </a:r>
            <a:r>
              <a:rPr lang="fr-FR" sz="2550" dirty="0">
                <a:solidFill>
                  <a:schemeClr val="dk1"/>
                </a:solidFill>
              </a:rPr>
              <a:t>Engagements, politisation et réseaux sociaux</a:t>
            </a:r>
            <a:endParaRPr sz="2550" b="0" i="0" u="none" strike="noStrike" cap="none" dirty="0">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endParaRPr sz="2550" b="0" i="0" u="none" strike="noStrike" cap="none" dirty="0">
              <a:solidFill>
                <a:schemeClr val="dk1"/>
              </a:solidFill>
              <a:latin typeface="Arial"/>
              <a:ea typeface="Arial"/>
              <a:cs typeface="Arial"/>
              <a:sym typeface="Arial"/>
            </a:endParaRPr>
          </a:p>
          <a:p>
            <a:pPr marL="457200" marR="0" lvl="0" indent="-390525" algn="l" rtl="0">
              <a:lnSpc>
                <a:spcPct val="90000"/>
              </a:lnSpc>
              <a:spcBef>
                <a:spcPts val="25"/>
              </a:spcBef>
              <a:spcAft>
                <a:spcPts val="0"/>
              </a:spcAft>
              <a:buClr>
                <a:schemeClr val="dk1"/>
              </a:buClr>
              <a:buSzPts val="2550"/>
              <a:buFont typeface="Arial"/>
              <a:buChar char="-"/>
            </a:pPr>
            <a:r>
              <a:rPr lang="fr-FR" sz="2550" b="0" i="0" u="sng" strike="noStrike" cap="none" dirty="0">
                <a:solidFill>
                  <a:schemeClr val="dk1"/>
                </a:solidFill>
                <a:latin typeface="Arial"/>
                <a:ea typeface="Arial"/>
                <a:cs typeface="Arial"/>
                <a:sym typeface="Arial"/>
              </a:rPr>
              <a:t>Contenu </a:t>
            </a:r>
            <a:r>
              <a:rPr lang="fr-FR" sz="2550" b="0" i="0" u="none" strike="noStrike" cap="none" dirty="0">
                <a:solidFill>
                  <a:schemeClr val="dk1"/>
                </a:solidFill>
                <a:latin typeface="Arial"/>
                <a:ea typeface="Arial"/>
                <a:cs typeface="Arial"/>
                <a:sym typeface="Arial"/>
              </a:rPr>
              <a:t>: </a:t>
            </a:r>
            <a:endParaRPr sz="2550" b="0" i="0" u="none" strike="noStrike" cap="none" dirty="0">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r>
              <a:rPr lang="fr-FR" sz="2550" b="0" i="0" u="none" strike="noStrike" cap="none" dirty="0">
                <a:solidFill>
                  <a:schemeClr val="dk1"/>
                </a:solidFill>
                <a:latin typeface="Arial"/>
                <a:ea typeface="Arial"/>
                <a:cs typeface="Arial"/>
                <a:sym typeface="Arial"/>
              </a:rPr>
              <a:t>(1) Introduction incluant question de recherche</a:t>
            </a:r>
            <a:endParaRPr sz="2550" b="0" i="0" u="none" strike="noStrike" cap="none" dirty="0">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r>
              <a:rPr lang="fr-FR" sz="2550" b="0" i="0" u="none" strike="noStrike" cap="none" dirty="0">
                <a:solidFill>
                  <a:schemeClr val="dk1"/>
                </a:solidFill>
                <a:latin typeface="Arial"/>
                <a:ea typeface="Arial"/>
                <a:cs typeface="Arial"/>
                <a:sym typeface="Arial"/>
              </a:rPr>
              <a:t>(2) Présentation des variables utilisées et des méthodes employées</a:t>
            </a:r>
            <a:endParaRPr sz="2550" b="0" i="0" u="none" strike="noStrike" cap="none" dirty="0">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r>
              <a:rPr lang="fr-FR" sz="2550" b="0" i="0" u="none" strike="noStrike" cap="none" dirty="0">
                <a:solidFill>
                  <a:schemeClr val="dk1"/>
                </a:solidFill>
                <a:latin typeface="Arial"/>
                <a:ea typeface="Arial"/>
                <a:cs typeface="Arial"/>
                <a:sym typeface="Arial"/>
              </a:rPr>
              <a:t>(3) Présentation des résultats</a:t>
            </a:r>
            <a:endParaRPr sz="2550" b="0" i="0" u="none" strike="noStrike" cap="none" dirty="0">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r>
              <a:rPr lang="fr-FR" sz="2550" b="0" i="0" u="none" strike="noStrike" cap="none" dirty="0">
                <a:solidFill>
                  <a:schemeClr val="dk1"/>
                </a:solidFill>
                <a:latin typeface="Arial"/>
                <a:ea typeface="Arial"/>
                <a:cs typeface="Arial"/>
                <a:sym typeface="Arial"/>
              </a:rPr>
              <a:t>(4) Conclusion </a:t>
            </a:r>
            <a:endParaRPr sz="2550" b="0" i="0" u="none" strike="noStrike" cap="none" dirty="0">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endParaRPr sz="2550" b="0" i="0" u="none" strike="noStrike" cap="none" dirty="0">
              <a:solidFill>
                <a:schemeClr val="dk1"/>
              </a:solidFill>
              <a:latin typeface="Arial"/>
              <a:ea typeface="Arial"/>
              <a:cs typeface="Arial"/>
              <a:sym typeface="Arial"/>
            </a:endParaRPr>
          </a:p>
        </p:txBody>
      </p:sp>
      <p:sp>
        <p:nvSpPr>
          <p:cNvPr id="491" name="Google Shape;491;g2ab55a4ceb1_0_8"/>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g2ab55a4ceb1_0_1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47</a:t>
            </a:fld>
            <a:endParaRPr sz="1000">
              <a:solidFill>
                <a:srgbClr val="808080"/>
              </a:solidFill>
              <a:latin typeface="Arial"/>
              <a:ea typeface="Arial"/>
              <a:cs typeface="Arial"/>
              <a:sym typeface="Arial"/>
            </a:endParaRPr>
          </a:p>
        </p:txBody>
      </p:sp>
      <p:sp>
        <p:nvSpPr>
          <p:cNvPr id="497" name="Google Shape;497;g2ab55a4ceb1_0_16"/>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8" name="Google Shape;498;g2ab55a4ceb1_0_16"/>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499" name="Google Shape;499;g2ab55a4ceb1_0_16"/>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rgbClr val="000000"/>
              </a:buClr>
              <a:buSzPts val="2550"/>
              <a:buFont typeface="Arial"/>
              <a:buNone/>
            </a:pPr>
            <a:r>
              <a:rPr lang="fr-FR" sz="2550" b="1" i="0" u="none" strike="noStrike" cap="none" dirty="0">
                <a:solidFill>
                  <a:schemeClr val="dk1"/>
                </a:solidFill>
                <a:latin typeface="Arial"/>
                <a:ea typeface="Arial"/>
                <a:cs typeface="Arial"/>
                <a:sym typeface="Arial"/>
              </a:rPr>
              <a:t>Compte rendu collectif (50% </a:t>
            </a:r>
            <a:r>
              <a:rPr lang="fr-FR" sz="2550" b="1" dirty="0">
                <a:solidFill>
                  <a:schemeClr val="dk1"/>
                </a:solidFill>
              </a:rPr>
              <a:t>de la note finale</a:t>
            </a:r>
            <a:r>
              <a:rPr lang="fr-FR" sz="2550" b="1" i="0" u="none" strike="noStrike" cap="none" dirty="0">
                <a:solidFill>
                  <a:schemeClr val="dk1"/>
                </a:solidFill>
                <a:latin typeface="Arial"/>
                <a:ea typeface="Arial"/>
                <a:cs typeface="Arial"/>
                <a:sym typeface="Arial"/>
              </a:rPr>
              <a:t>)</a:t>
            </a:r>
            <a:endParaRPr sz="2550" b="1" i="0" u="none" strike="noStrike" cap="none" dirty="0">
              <a:solidFill>
                <a:schemeClr val="dk1"/>
              </a:solidFill>
              <a:latin typeface="Arial"/>
              <a:ea typeface="Arial"/>
              <a:cs typeface="Arial"/>
              <a:sym typeface="Arial"/>
            </a:endParaRPr>
          </a:p>
          <a:p>
            <a:pPr marL="0" marR="0" lvl="0" indent="0" algn="l" rtl="0">
              <a:lnSpc>
                <a:spcPct val="90000"/>
              </a:lnSpc>
              <a:spcBef>
                <a:spcPts val="25"/>
              </a:spcBef>
              <a:spcAft>
                <a:spcPts val="0"/>
              </a:spcAft>
              <a:buClr>
                <a:srgbClr val="000000"/>
              </a:buClr>
              <a:buSzPts val="2550"/>
              <a:buFont typeface="Arial"/>
              <a:buNone/>
            </a:pPr>
            <a:endParaRPr sz="2550" b="0" i="0" u="none" strike="noStrike" cap="none" dirty="0">
              <a:solidFill>
                <a:schemeClr val="dk1"/>
              </a:solidFill>
              <a:latin typeface="Arial"/>
              <a:ea typeface="Arial"/>
              <a:cs typeface="Arial"/>
              <a:sym typeface="Arial"/>
            </a:endParaRPr>
          </a:p>
          <a:p>
            <a:pPr marL="457200" marR="0" lvl="0" indent="-390525" algn="l" rtl="0">
              <a:lnSpc>
                <a:spcPct val="90000"/>
              </a:lnSpc>
              <a:spcBef>
                <a:spcPts val="25"/>
              </a:spcBef>
              <a:spcAft>
                <a:spcPts val="0"/>
              </a:spcAft>
              <a:buClr>
                <a:schemeClr val="dk1"/>
              </a:buClr>
              <a:buSzPts val="2550"/>
              <a:buFont typeface="Arial"/>
              <a:buChar char="-"/>
            </a:pPr>
            <a:r>
              <a:rPr lang="fr-FR" sz="2550" b="0" i="0" u="sng" strike="noStrike" cap="none" dirty="0">
                <a:solidFill>
                  <a:schemeClr val="dk1"/>
                </a:solidFill>
                <a:latin typeface="Arial"/>
                <a:ea typeface="Arial"/>
                <a:cs typeface="Arial"/>
                <a:sym typeface="Arial"/>
              </a:rPr>
              <a:t>Format </a:t>
            </a:r>
            <a:r>
              <a:rPr lang="fr-FR" sz="2550" b="0" i="0" u="none" strike="noStrike" cap="none" dirty="0">
                <a:solidFill>
                  <a:schemeClr val="dk1"/>
                </a:solidFill>
                <a:latin typeface="Arial"/>
                <a:ea typeface="Arial"/>
                <a:cs typeface="Arial"/>
                <a:sym typeface="Arial"/>
              </a:rPr>
              <a:t>: environ 6 pages, interligne 1.5, police Times New Roman, taille 12</a:t>
            </a:r>
            <a:endParaRPr sz="2550" b="0" i="0" u="none" strike="noStrike" cap="none" dirty="0">
              <a:solidFill>
                <a:schemeClr val="dk1"/>
              </a:solidFill>
              <a:latin typeface="Arial"/>
              <a:ea typeface="Arial"/>
              <a:cs typeface="Arial"/>
              <a:sym typeface="Arial"/>
            </a:endParaRPr>
          </a:p>
          <a:p>
            <a:pPr marL="457200" marR="0" lvl="0" indent="-390525" algn="l" rtl="0">
              <a:lnSpc>
                <a:spcPct val="90000"/>
              </a:lnSpc>
              <a:spcBef>
                <a:spcPts val="0"/>
              </a:spcBef>
              <a:spcAft>
                <a:spcPts val="0"/>
              </a:spcAft>
              <a:buClr>
                <a:schemeClr val="dk1"/>
              </a:buClr>
              <a:buSzPts val="2550"/>
              <a:buFont typeface="Arial"/>
              <a:buChar char="-"/>
            </a:pPr>
            <a:r>
              <a:rPr lang="fr-FR" sz="2550" b="0" i="0" u="sng" strike="noStrike" cap="none" dirty="0">
                <a:solidFill>
                  <a:schemeClr val="dk1"/>
                </a:solidFill>
                <a:latin typeface="Arial"/>
                <a:ea typeface="Arial"/>
                <a:cs typeface="Arial"/>
                <a:sym typeface="Arial"/>
              </a:rPr>
              <a:t>Date limite</a:t>
            </a:r>
            <a:r>
              <a:rPr lang="fr-FR" sz="2550" b="0" i="0" u="none" strike="noStrike" cap="none" dirty="0">
                <a:solidFill>
                  <a:schemeClr val="dk1"/>
                </a:solidFill>
                <a:latin typeface="Arial"/>
                <a:ea typeface="Arial"/>
                <a:cs typeface="Arial"/>
                <a:sym typeface="Arial"/>
              </a:rPr>
              <a:t> : le</a:t>
            </a:r>
            <a:r>
              <a:rPr lang="fr-FR" sz="2550" dirty="0">
                <a:solidFill>
                  <a:schemeClr val="dk1"/>
                </a:solidFill>
              </a:rPr>
              <a:t> jeudi 9 avril 2026</a:t>
            </a:r>
            <a:endParaRPr sz="2550" dirty="0">
              <a:solidFill>
                <a:schemeClr val="dk1"/>
              </a:solidFill>
            </a:endParaRPr>
          </a:p>
          <a:p>
            <a:pPr marL="0" marR="0" lvl="0" indent="0" algn="l" rtl="0">
              <a:lnSpc>
                <a:spcPct val="90000"/>
              </a:lnSpc>
              <a:spcBef>
                <a:spcPts val="0"/>
              </a:spcBef>
              <a:spcAft>
                <a:spcPts val="0"/>
              </a:spcAft>
              <a:buNone/>
            </a:pPr>
            <a:endParaRPr sz="2550" dirty="0">
              <a:solidFill>
                <a:schemeClr val="dk1"/>
              </a:solidFill>
              <a:highlight>
                <a:srgbClr val="FFFF00"/>
              </a:highlight>
            </a:endParaRPr>
          </a:p>
          <a:p>
            <a:pPr marL="0" lvl="0" indent="0" algn="l" rtl="0">
              <a:spcBef>
                <a:spcPts val="0"/>
              </a:spcBef>
              <a:spcAft>
                <a:spcPts val="0"/>
              </a:spcAft>
              <a:buClr>
                <a:schemeClr val="dk1"/>
              </a:buClr>
              <a:buSzPts val="3200"/>
              <a:buFont typeface="Arial"/>
              <a:buNone/>
            </a:pPr>
            <a:r>
              <a:rPr lang="fr-FR" sz="3200" b="1" dirty="0">
                <a:solidFill>
                  <a:srgbClr val="2E5D5A"/>
                </a:solidFill>
                <a:latin typeface="Calibri"/>
                <a:ea typeface="Calibri"/>
                <a:cs typeface="Calibri"/>
                <a:sym typeface="Calibri"/>
              </a:rPr>
              <a:t>Pour la semaine prochaine, installez R et R Studio, explications reçues par mail. </a:t>
            </a:r>
            <a:endParaRPr sz="2550" dirty="0">
              <a:solidFill>
                <a:schemeClr val="dk1"/>
              </a:solidFill>
              <a:highlight>
                <a:srgbClr val="FFFF00"/>
              </a:highlight>
            </a:endParaRPr>
          </a:p>
        </p:txBody>
      </p:sp>
      <p:sp>
        <p:nvSpPr>
          <p:cNvPr id="500" name="Google Shape;500;g2ab55a4ceb1_0_16"/>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g2ae90372f67_0_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48</a:t>
            </a:fld>
            <a:endParaRPr sz="1000">
              <a:solidFill>
                <a:srgbClr val="808080"/>
              </a:solidFill>
              <a:latin typeface="Arial"/>
              <a:ea typeface="Arial"/>
              <a:cs typeface="Arial"/>
              <a:sym typeface="Arial"/>
            </a:endParaRPr>
          </a:p>
        </p:txBody>
      </p:sp>
      <p:sp>
        <p:nvSpPr>
          <p:cNvPr id="506" name="Google Shape;506;g2ae90372f67_0_0"/>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7" name="Google Shape;507;g2ae90372f67_0_0"/>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508" name="Google Shape;508;g2ae90372f67_0_0"/>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457200" marR="0" lvl="0" indent="-390525" algn="l" rtl="0">
              <a:lnSpc>
                <a:spcPct val="90000"/>
              </a:lnSpc>
              <a:spcBef>
                <a:spcPts val="25"/>
              </a:spcBef>
              <a:spcAft>
                <a:spcPts val="0"/>
              </a:spcAft>
              <a:buClr>
                <a:schemeClr val="dk1"/>
              </a:buClr>
              <a:buSzPts val="2550"/>
              <a:buFont typeface="Arial"/>
              <a:buChar char="-"/>
            </a:pPr>
            <a:r>
              <a:rPr lang="fr-FR" sz="2550" b="0" i="0" u="none" strike="noStrike" cap="none">
                <a:solidFill>
                  <a:schemeClr val="dk1"/>
                </a:solidFill>
                <a:latin typeface="Arial"/>
                <a:ea typeface="Arial"/>
                <a:cs typeface="Arial"/>
                <a:sym typeface="Arial"/>
              </a:rPr>
              <a:t>Référent handicap (besoin d’un tiers temps, aménagement des rendus) </a:t>
            </a:r>
            <a:endParaRPr sz="2550" b="0" i="0" u="none" strike="noStrike" cap="none">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r>
              <a:rPr lang="fr-FR" sz="2550" b="0" i="0" u="sng" strike="noStrike" cap="none">
                <a:solidFill>
                  <a:schemeClr val="hlink"/>
                </a:solidFill>
                <a:latin typeface="Arial"/>
                <a:ea typeface="Arial"/>
                <a:cs typeface="Arial"/>
                <a:sym typeface="Arial"/>
                <a:hlinkClick r:id="rId3"/>
              </a:rPr>
              <a:t>alain.gnanou@sciencespo-saintgermain.fr</a:t>
            </a:r>
            <a:endParaRPr sz="2550" b="0" i="0" u="none" strike="noStrike" cap="none">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endParaRPr sz="2550" b="0" i="0" u="none" strike="noStrike" cap="none">
              <a:solidFill>
                <a:schemeClr val="dk1"/>
              </a:solidFill>
              <a:latin typeface="Arial"/>
              <a:ea typeface="Arial"/>
              <a:cs typeface="Arial"/>
              <a:sym typeface="Arial"/>
            </a:endParaRPr>
          </a:p>
          <a:p>
            <a:pPr marL="457200" marR="0" lvl="0" indent="0" algn="l" rtl="0">
              <a:lnSpc>
                <a:spcPct val="90000"/>
              </a:lnSpc>
              <a:spcBef>
                <a:spcPts val="25"/>
              </a:spcBef>
              <a:spcAft>
                <a:spcPts val="0"/>
              </a:spcAft>
              <a:buClr>
                <a:srgbClr val="000000"/>
              </a:buClr>
              <a:buSzPts val="2550"/>
              <a:buFont typeface="Arial"/>
              <a:buNone/>
            </a:pPr>
            <a:endParaRPr sz="2550" b="0" i="0" u="none" strike="noStrike" cap="none">
              <a:solidFill>
                <a:schemeClr val="dk1"/>
              </a:solidFill>
              <a:latin typeface="Arial"/>
              <a:ea typeface="Arial"/>
              <a:cs typeface="Arial"/>
              <a:sym typeface="Arial"/>
            </a:endParaRPr>
          </a:p>
        </p:txBody>
      </p:sp>
      <p:sp>
        <p:nvSpPr>
          <p:cNvPr id="509" name="Google Shape;509;g2ae90372f67_0_0"/>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fr-FR" sz="3200" b="1" i="0" u="none" strike="noStrike" cap="none">
                <a:solidFill>
                  <a:srgbClr val="2E5D5A"/>
                </a:solidFill>
                <a:latin typeface="Calibri"/>
                <a:ea typeface="Calibri"/>
                <a:cs typeface="Calibri"/>
                <a:sym typeface="Calibri"/>
              </a:rPr>
              <a:t>Personnes ressources</a:t>
            </a: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g2abac93716c_0_5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fr-FR" sz="1000">
                <a:solidFill>
                  <a:srgbClr val="808080"/>
                </a:solidFill>
                <a:latin typeface="Arial"/>
                <a:ea typeface="Arial"/>
                <a:cs typeface="Arial"/>
                <a:sym typeface="Arial"/>
              </a:rPr>
              <a:t>49</a:t>
            </a:fld>
            <a:endParaRPr sz="1000">
              <a:solidFill>
                <a:srgbClr val="808080"/>
              </a:solidFill>
              <a:latin typeface="Arial"/>
              <a:ea typeface="Arial"/>
              <a:cs typeface="Arial"/>
              <a:sym typeface="Arial"/>
            </a:endParaRPr>
          </a:p>
        </p:txBody>
      </p:sp>
      <p:sp>
        <p:nvSpPr>
          <p:cNvPr id="515" name="Google Shape;515;g2abac93716c_0_50"/>
          <p:cNvSpPr/>
          <p:nvPr/>
        </p:nvSpPr>
        <p:spPr>
          <a:xfrm>
            <a:off x="0" y="0"/>
            <a:ext cx="9144000" cy="698100"/>
          </a:xfrm>
          <a:prstGeom prst="rect">
            <a:avLst/>
          </a:prstGeom>
          <a:solidFill>
            <a:srgbClr val="2E5D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6" name="Google Shape;516;g2abac93716c_0_50"/>
          <p:cNvSpPr txBox="1"/>
          <p:nvPr/>
        </p:nvSpPr>
        <p:spPr>
          <a:xfrm>
            <a:off x="6904408" y="142212"/>
            <a:ext cx="1975500" cy="428400"/>
          </a:xfrm>
          <a:prstGeom prst="rect">
            <a:avLst/>
          </a:prstGeom>
          <a:noFill/>
          <a:ln>
            <a:noFill/>
          </a:ln>
        </p:spPr>
        <p:txBody>
          <a:bodyPr spcFirstLastPara="1" wrap="square" lIns="91425" tIns="45700" rIns="91425" bIns="45700" anchor="t" anchorCtr="0">
            <a:noAutofit/>
          </a:bodyPr>
          <a:lstStyle/>
          <a:p>
            <a:pPr marL="0" marR="0" lvl="0" indent="0" algn="r" rtl="0">
              <a:lnSpc>
                <a:spcPct val="110000"/>
              </a:lnSpc>
              <a:spcBef>
                <a:spcPts val="0"/>
              </a:spcBef>
              <a:spcAft>
                <a:spcPts val="0"/>
              </a:spcAft>
              <a:buClr>
                <a:srgbClr val="000000"/>
              </a:buClr>
              <a:buSzPts val="1000"/>
              <a:buFont typeface="Arial"/>
              <a:buNone/>
            </a:pPr>
            <a:r>
              <a:rPr lang="fr-FR" sz="1000" b="1" i="0" u="none" strike="noStrike" cap="none">
                <a:solidFill>
                  <a:srgbClr val="FFFFFF"/>
                </a:solidFill>
                <a:latin typeface="Arial"/>
                <a:ea typeface="Arial"/>
                <a:cs typeface="Arial"/>
                <a:sym typeface="Arial"/>
              </a:rPr>
              <a:t>SEANCE 1</a:t>
            </a:r>
            <a:br>
              <a:rPr lang="fr-FR" sz="1000" b="0" i="0" u="none" strike="noStrike" cap="none">
                <a:solidFill>
                  <a:srgbClr val="FFFFFF"/>
                </a:solidFill>
                <a:latin typeface="Arial"/>
                <a:ea typeface="Arial"/>
                <a:cs typeface="Arial"/>
                <a:sym typeface="Arial"/>
              </a:rPr>
            </a:br>
            <a:r>
              <a:rPr lang="fr-FR" sz="1000" b="0" i="0" u="none" strike="noStrike" cap="none">
                <a:solidFill>
                  <a:srgbClr val="FFFFFF"/>
                </a:solidFill>
                <a:latin typeface="Arial"/>
                <a:ea typeface="Arial"/>
                <a:cs typeface="Arial"/>
                <a:sym typeface="Arial"/>
              </a:rPr>
              <a:t>Cours introductif</a:t>
            </a:r>
            <a:endParaRPr sz="1000" b="0" i="0" u="none" strike="noStrike" cap="none">
              <a:solidFill>
                <a:srgbClr val="FFFFFF"/>
              </a:solidFill>
              <a:latin typeface="Arial"/>
              <a:ea typeface="Arial"/>
              <a:cs typeface="Arial"/>
              <a:sym typeface="Arial"/>
            </a:endParaRPr>
          </a:p>
        </p:txBody>
      </p:sp>
      <p:sp>
        <p:nvSpPr>
          <p:cNvPr id="517" name="Google Shape;517;g2abac93716c_0_50"/>
          <p:cNvSpPr txBox="1"/>
          <p:nvPr/>
        </p:nvSpPr>
        <p:spPr>
          <a:xfrm>
            <a:off x="467925" y="1846650"/>
            <a:ext cx="8219100" cy="4215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25"/>
              </a:spcBef>
              <a:spcAft>
                <a:spcPts val="0"/>
              </a:spcAft>
              <a:buClr>
                <a:schemeClr val="dk1"/>
              </a:buClr>
              <a:buSzPts val="1100"/>
              <a:buFont typeface="Arial"/>
              <a:buNone/>
            </a:pPr>
            <a:r>
              <a:rPr lang="fr-FR" sz="1500" b="1" i="0" u="none" strike="noStrike" cap="none">
                <a:solidFill>
                  <a:schemeClr val="dk1"/>
                </a:solidFill>
                <a:latin typeface="Arial"/>
                <a:ea typeface="Arial"/>
                <a:cs typeface="Arial"/>
                <a:sym typeface="Arial"/>
              </a:rPr>
              <a:t>BERGSTRÖM Marie, </a:t>
            </a:r>
            <a:r>
              <a:rPr lang="fr-FR" sz="1500" b="0" i="0" u="none" strike="noStrike" cap="none">
                <a:solidFill>
                  <a:schemeClr val="dk1"/>
                </a:solidFill>
                <a:latin typeface="Arial"/>
                <a:ea typeface="Arial"/>
                <a:cs typeface="Arial"/>
                <a:sym typeface="Arial"/>
              </a:rPr>
              <a:t>« De quoi l’écart d’âge est-il le nombre ? L’apport des big data à l’étude de la différence d’âge au sein des couples », </a:t>
            </a:r>
            <a:r>
              <a:rPr lang="fr-FR" sz="1500" b="0" i="1" u="none" strike="noStrike" cap="none">
                <a:solidFill>
                  <a:schemeClr val="dk1"/>
                </a:solidFill>
                <a:latin typeface="Arial"/>
                <a:ea typeface="Arial"/>
                <a:cs typeface="Arial"/>
                <a:sym typeface="Arial"/>
              </a:rPr>
              <a:t>Revue française de sociologie</a:t>
            </a:r>
            <a:r>
              <a:rPr lang="fr-FR" sz="1500" b="0" i="0" u="none" strike="noStrike" cap="none">
                <a:solidFill>
                  <a:schemeClr val="dk1"/>
                </a:solidFill>
                <a:latin typeface="Arial"/>
                <a:ea typeface="Arial"/>
                <a:cs typeface="Arial"/>
                <a:sym typeface="Arial"/>
              </a:rPr>
              <a:t>, 2018/3 (Vol. 59), pp. 395-422.</a:t>
            </a:r>
            <a:endParaRPr/>
          </a:p>
          <a:p>
            <a:pPr marL="0" marR="0" lvl="0" indent="0" algn="l" rtl="0">
              <a:lnSpc>
                <a:spcPct val="90000"/>
              </a:lnSpc>
              <a:spcBef>
                <a:spcPts val="25"/>
              </a:spcBef>
              <a:spcAft>
                <a:spcPts val="0"/>
              </a:spcAft>
              <a:buClr>
                <a:schemeClr val="dk1"/>
              </a:buClr>
              <a:buSzPts val="1100"/>
              <a:buFont typeface="Arial"/>
              <a:buNone/>
            </a:pPr>
            <a:endParaRPr sz="1500" b="0" i="0" u="none" strike="noStrike" cap="none">
              <a:solidFill>
                <a:schemeClr val="dk1"/>
              </a:solidFill>
              <a:latin typeface="Arial"/>
              <a:ea typeface="Arial"/>
              <a:cs typeface="Arial"/>
              <a:sym typeface="Arial"/>
            </a:endParaRPr>
          </a:p>
          <a:p>
            <a:pPr marL="0" marR="0" lvl="0" indent="0" algn="l" rtl="0">
              <a:lnSpc>
                <a:spcPct val="90000"/>
              </a:lnSpc>
              <a:spcBef>
                <a:spcPts val="25"/>
              </a:spcBef>
              <a:spcAft>
                <a:spcPts val="0"/>
              </a:spcAft>
              <a:buClr>
                <a:schemeClr val="dk1"/>
              </a:buClr>
              <a:buSzPts val="1100"/>
              <a:buFont typeface="Arial"/>
              <a:buNone/>
            </a:pPr>
            <a:r>
              <a:rPr lang="fr-FR" sz="1600" b="1" i="0" u="none" strike="noStrike" cap="none">
                <a:solidFill>
                  <a:schemeClr val="dk1"/>
                </a:solidFill>
                <a:latin typeface="Arial"/>
                <a:ea typeface="Arial"/>
                <a:cs typeface="Arial"/>
                <a:sym typeface="Arial"/>
              </a:rPr>
              <a:t>BRUN, Solène, et COSQUER, Clair.</a:t>
            </a:r>
            <a:r>
              <a:rPr lang="fr-FR" sz="1600" b="0" i="0" u="none" strike="noStrike" cap="none">
                <a:solidFill>
                  <a:schemeClr val="dk1"/>
                </a:solidFill>
                <a:latin typeface="Arial"/>
                <a:ea typeface="Arial"/>
                <a:cs typeface="Arial"/>
                <a:sym typeface="Arial"/>
              </a:rPr>
              <a:t> « 9. Les défis méthodologiques d’une analyse sociologique de la race », dans </a:t>
            </a:r>
            <a:r>
              <a:rPr lang="fr-FR" sz="1600" b="0" i="1" u="none" strike="noStrike" cap="none">
                <a:solidFill>
                  <a:schemeClr val="dk1"/>
                </a:solidFill>
                <a:latin typeface="Arial"/>
                <a:ea typeface="Arial"/>
                <a:cs typeface="Arial"/>
                <a:sym typeface="Arial"/>
              </a:rPr>
              <a:t>Sociologie de la race</a:t>
            </a:r>
            <a:r>
              <a:rPr lang="fr-FR" sz="1600" b="0" i="0" u="none" strike="noStrike" cap="none">
                <a:solidFill>
                  <a:schemeClr val="dk1"/>
                </a:solidFill>
                <a:latin typeface="Arial"/>
                <a:ea typeface="Arial"/>
                <a:cs typeface="Arial"/>
                <a:sym typeface="Arial"/>
              </a:rPr>
              <a:t>. Armand Colin, 2022, pp. 111-124</a:t>
            </a:r>
            <a:endParaRPr sz="1500" b="0" i="0" u="none" strike="noStrike" cap="none">
              <a:solidFill>
                <a:schemeClr val="dk1"/>
              </a:solidFill>
              <a:latin typeface="Arial"/>
              <a:ea typeface="Arial"/>
              <a:cs typeface="Arial"/>
              <a:sym typeface="Arial"/>
            </a:endParaRPr>
          </a:p>
          <a:p>
            <a:pPr marL="0" marR="0" lvl="0" indent="0" algn="l" rtl="0">
              <a:lnSpc>
                <a:spcPct val="90000"/>
              </a:lnSpc>
              <a:spcBef>
                <a:spcPts val="25"/>
              </a:spcBef>
              <a:spcAft>
                <a:spcPts val="0"/>
              </a:spcAft>
              <a:buClr>
                <a:schemeClr val="dk1"/>
              </a:buClr>
              <a:buSzPts val="1100"/>
              <a:buFont typeface="Arial"/>
              <a:buNone/>
            </a:pPr>
            <a:endParaRPr sz="1500" b="0" i="0" u="none" strike="noStrike" cap="none">
              <a:solidFill>
                <a:schemeClr val="dk1"/>
              </a:solidFill>
              <a:latin typeface="Arial"/>
              <a:ea typeface="Arial"/>
              <a:cs typeface="Arial"/>
              <a:sym typeface="Arial"/>
            </a:endParaRPr>
          </a:p>
          <a:p>
            <a:pPr marL="0" marR="0" lvl="0" indent="0" algn="l" rtl="0">
              <a:lnSpc>
                <a:spcPct val="90000"/>
              </a:lnSpc>
              <a:spcBef>
                <a:spcPts val="25"/>
              </a:spcBef>
              <a:spcAft>
                <a:spcPts val="0"/>
              </a:spcAft>
              <a:buClr>
                <a:schemeClr val="dk1"/>
              </a:buClr>
              <a:buSzPts val="1100"/>
              <a:buFont typeface="Arial"/>
              <a:buNone/>
            </a:pPr>
            <a:r>
              <a:rPr lang="fr-FR" sz="1500" b="1" i="0" u="none" strike="noStrike" cap="none">
                <a:solidFill>
                  <a:schemeClr val="dk1"/>
                </a:solidFill>
                <a:latin typeface="Arial"/>
                <a:ea typeface="Arial"/>
                <a:cs typeface="Arial"/>
                <a:sym typeface="Arial"/>
              </a:rPr>
              <a:t>DAGIRAL, Éric, LICOPPE, Christian, MARTIN, Olivier, </a:t>
            </a:r>
            <a:r>
              <a:rPr lang="fr-FR" sz="1500" b="1" i="1" u="none" strike="noStrike" cap="none">
                <a:solidFill>
                  <a:schemeClr val="dk1"/>
                </a:solidFill>
                <a:latin typeface="Arial"/>
                <a:ea typeface="Arial"/>
                <a:cs typeface="Arial"/>
                <a:sym typeface="Arial"/>
              </a:rPr>
              <a:t>et al.</a:t>
            </a:r>
            <a:r>
              <a:rPr lang="fr-FR" sz="1500" b="0" i="0" u="none" strike="noStrike" cap="none">
                <a:solidFill>
                  <a:schemeClr val="dk1"/>
                </a:solidFill>
                <a:latin typeface="Arial"/>
                <a:ea typeface="Arial"/>
                <a:cs typeface="Arial"/>
                <a:sym typeface="Arial"/>
              </a:rPr>
              <a:t> Le Quantified Self en question (s) Un état des lieux des travaux de sciences sociales consacrés à l’automesure des individus. </a:t>
            </a:r>
            <a:r>
              <a:rPr lang="fr-FR" sz="1500" b="0" i="1" u="none" strike="noStrike" cap="none">
                <a:solidFill>
                  <a:schemeClr val="dk1"/>
                </a:solidFill>
                <a:latin typeface="Arial"/>
                <a:ea typeface="Arial"/>
                <a:cs typeface="Arial"/>
                <a:sym typeface="Arial"/>
              </a:rPr>
              <a:t>Réseaux</a:t>
            </a:r>
            <a:r>
              <a:rPr lang="fr-FR" sz="1500" b="0" i="0" u="none" strike="noStrike" cap="none">
                <a:solidFill>
                  <a:schemeClr val="dk1"/>
                </a:solidFill>
                <a:latin typeface="Arial"/>
                <a:ea typeface="Arial"/>
                <a:cs typeface="Arial"/>
                <a:sym typeface="Arial"/>
              </a:rPr>
              <a:t>, 2019, no 4, p. 17-54.</a:t>
            </a:r>
            <a:endParaRPr/>
          </a:p>
          <a:p>
            <a:pPr marL="0" marR="0" lvl="0" indent="0" algn="l" rtl="0">
              <a:lnSpc>
                <a:spcPct val="90000"/>
              </a:lnSpc>
              <a:spcBef>
                <a:spcPts val="25"/>
              </a:spcBef>
              <a:spcAft>
                <a:spcPts val="0"/>
              </a:spcAft>
              <a:buClr>
                <a:schemeClr val="dk1"/>
              </a:buClr>
              <a:buSzPts val="1100"/>
              <a:buFont typeface="Arial"/>
              <a:buNone/>
            </a:pPr>
            <a:endParaRPr sz="1500" b="0" i="0" u="none" strike="noStrike" cap="none">
              <a:solidFill>
                <a:schemeClr val="dk1"/>
              </a:solidFill>
              <a:latin typeface="Arial"/>
              <a:ea typeface="Arial"/>
              <a:cs typeface="Arial"/>
              <a:sym typeface="Arial"/>
            </a:endParaRPr>
          </a:p>
          <a:p>
            <a:pPr marL="0" marR="0" lvl="0" indent="0" algn="l" rtl="0">
              <a:lnSpc>
                <a:spcPct val="90000"/>
              </a:lnSpc>
              <a:spcBef>
                <a:spcPts val="25"/>
              </a:spcBef>
              <a:spcAft>
                <a:spcPts val="0"/>
              </a:spcAft>
              <a:buClr>
                <a:schemeClr val="dk1"/>
              </a:buClr>
              <a:buSzPts val="1100"/>
              <a:buFont typeface="Arial"/>
              <a:buNone/>
            </a:pPr>
            <a:r>
              <a:rPr lang="fr-FR" sz="1500" b="1" i="0" u="none" strike="noStrike" cap="none">
                <a:solidFill>
                  <a:schemeClr val="dk1"/>
                </a:solidFill>
                <a:latin typeface="Arial"/>
                <a:ea typeface="Arial"/>
                <a:cs typeface="Arial"/>
                <a:sym typeface="Arial"/>
              </a:rPr>
              <a:t>MARTIN Olivier</a:t>
            </a:r>
            <a:r>
              <a:rPr lang="fr-FR" sz="1500" b="0" i="0" u="none" strike="noStrike" cap="none">
                <a:solidFill>
                  <a:schemeClr val="dk1"/>
                </a:solidFill>
                <a:latin typeface="Arial"/>
                <a:ea typeface="Arial"/>
                <a:cs typeface="Arial"/>
                <a:sym typeface="Arial"/>
              </a:rPr>
              <a:t>, </a:t>
            </a:r>
            <a:r>
              <a:rPr lang="fr-FR" sz="1500" b="0" i="1" u="none" strike="noStrike" cap="none">
                <a:solidFill>
                  <a:schemeClr val="dk1"/>
                </a:solidFill>
                <a:latin typeface="Arial"/>
                <a:ea typeface="Arial"/>
                <a:cs typeface="Arial"/>
                <a:sym typeface="Arial"/>
              </a:rPr>
              <a:t>L'analyse quantitative des données. </a:t>
            </a:r>
            <a:r>
              <a:rPr lang="fr-FR" sz="1500" b="0" i="0" u="none" strike="noStrike" cap="none">
                <a:solidFill>
                  <a:schemeClr val="dk1"/>
                </a:solidFill>
                <a:latin typeface="Arial"/>
                <a:ea typeface="Arial"/>
                <a:cs typeface="Arial"/>
                <a:sym typeface="Arial"/>
              </a:rPr>
              <a:t>Armand Colin, « 128 », 2020. </a:t>
            </a:r>
            <a:endParaRPr/>
          </a:p>
          <a:p>
            <a:pPr marL="0" marR="0" lvl="0" indent="0" algn="l" rtl="0">
              <a:lnSpc>
                <a:spcPct val="90000"/>
              </a:lnSpc>
              <a:spcBef>
                <a:spcPts val="25"/>
              </a:spcBef>
              <a:spcAft>
                <a:spcPts val="0"/>
              </a:spcAft>
              <a:buClr>
                <a:schemeClr val="dk1"/>
              </a:buClr>
              <a:buSzPts val="1100"/>
              <a:buFont typeface="Arial"/>
              <a:buNone/>
            </a:pPr>
            <a:endParaRPr sz="1500" b="1" i="0" u="none" strike="noStrike" cap="none">
              <a:solidFill>
                <a:schemeClr val="dk1"/>
              </a:solidFill>
              <a:latin typeface="Arial"/>
              <a:ea typeface="Arial"/>
              <a:cs typeface="Arial"/>
              <a:sym typeface="Arial"/>
            </a:endParaRPr>
          </a:p>
          <a:p>
            <a:pPr marL="0" marR="0" lvl="0" indent="0" algn="l" rtl="0">
              <a:lnSpc>
                <a:spcPct val="90000"/>
              </a:lnSpc>
              <a:spcBef>
                <a:spcPts val="25"/>
              </a:spcBef>
              <a:spcAft>
                <a:spcPts val="0"/>
              </a:spcAft>
              <a:buClr>
                <a:schemeClr val="dk1"/>
              </a:buClr>
              <a:buSzPts val="1100"/>
              <a:buFont typeface="Arial"/>
              <a:buNone/>
            </a:pPr>
            <a:r>
              <a:rPr lang="fr-FR" sz="1500" b="1" i="0" u="none" strike="noStrike" cap="none">
                <a:solidFill>
                  <a:schemeClr val="dk1"/>
                </a:solidFill>
                <a:latin typeface="Arial"/>
                <a:ea typeface="Arial"/>
                <a:cs typeface="Arial"/>
                <a:sym typeface="Arial"/>
              </a:rPr>
              <a:t>ALAN, Sule, ERTAC, Seda, et MUMCU, Ipek</a:t>
            </a:r>
            <a:r>
              <a:rPr lang="fr-FR" sz="1500" b="0" i="0" u="none" strike="noStrike" cap="none">
                <a:solidFill>
                  <a:schemeClr val="dk1"/>
                </a:solidFill>
                <a:latin typeface="Arial"/>
                <a:ea typeface="Arial"/>
                <a:cs typeface="Arial"/>
                <a:sym typeface="Arial"/>
              </a:rPr>
              <a:t>. Gender stereotypes in the classroom and effects on achievement. </a:t>
            </a:r>
            <a:r>
              <a:rPr lang="fr-FR" sz="1500" b="0" i="1" u="none" strike="noStrike" cap="none">
                <a:solidFill>
                  <a:schemeClr val="dk1"/>
                </a:solidFill>
                <a:latin typeface="Arial"/>
                <a:ea typeface="Arial"/>
                <a:cs typeface="Arial"/>
                <a:sym typeface="Arial"/>
              </a:rPr>
              <a:t>Review of Economics and Statistics</a:t>
            </a:r>
            <a:r>
              <a:rPr lang="fr-FR" sz="1500" b="0" i="0" u="none" strike="noStrike" cap="none">
                <a:solidFill>
                  <a:schemeClr val="dk1"/>
                </a:solidFill>
                <a:latin typeface="Arial"/>
                <a:ea typeface="Arial"/>
                <a:cs typeface="Arial"/>
                <a:sym typeface="Arial"/>
              </a:rPr>
              <a:t>, 2018, vol. 100, no 5, p. 876-890.</a:t>
            </a:r>
            <a:endParaRPr/>
          </a:p>
          <a:p>
            <a:pPr marL="0" marR="0" lvl="0" indent="0" algn="l" rtl="0">
              <a:lnSpc>
                <a:spcPct val="90000"/>
              </a:lnSpc>
              <a:spcBef>
                <a:spcPts val="25"/>
              </a:spcBef>
              <a:spcAft>
                <a:spcPts val="0"/>
              </a:spcAft>
              <a:buClr>
                <a:schemeClr val="dk1"/>
              </a:buClr>
              <a:buSzPts val="1100"/>
              <a:buFont typeface="Arial"/>
              <a:buNone/>
            </a:pPr>
            <a:endParaRPr sz="1500" b="0" i="0" u="none" strike="noStrike" cap="none">
              <a:solidFill>
                <a:schemeClr val="dk1"/>
              </a:solidFill>
              <a:latin typeface="Arial"/>
              <a:ea typeface="Arial"/>
              <a:cs typeface="Arial"/>
              <a:sym typeface="Arial"/>
            </a:endParaRPr>
          </a:p>
          <a:p>
            <a:pPr marL="0" marR="0" lvl="0" indent="0" algn="l" rtl="0">
              <a:lnSpc>
                <a:spcPct val="90000"/>
              </a:lnSpc>
              <a:spcBef>
                <a:spcPts val="25"/>
              </a:spcBef>
              <a:spcAft>
                <a:spcPts val="0"/>
              </a:spcAft>
              <a:buClr>
                <a:schemeClr val="dk1"/>
              </a:buClr>
              <a:buSzPts val="1100"/>
              <a:buFont typeface="Arial"/>
              <a:buNone/>
            </a:pPr>
            <a:r>
              <a:rPr lang="fr-FR" sz="1500" b="1" i="0" u="none" strike="noStrike" cap="none">
                <a:solidFill>
                  <a:schemeClr val="dk1"/>
                </a:solidFill>
                <a:latin typeface="Arial"/>
                <a:ea typeface="Arial"/>
                <a:cs typeface="Arial"/>
                <a:sym typeface="Arial"/>
              </a:rPr>
              <a:t>STEELE, Claude M. et ARONSON, Joshua</a:t>
            </a:r>
            <a:r>
              <a:rPr lang="fr-FR" sz="1500" b="0" i="0" u="none" strike="noStrike" cap="none">
                <a:solidFill>
                  <a:schemeClr val="dk1"/>
                </a:solidFill>
                <a:latin typeface="Arial"/>
                <a:ea typeface="Arial"/>
                <a:cs typeface="Arial"/>
                <a:sym typeface="Arial"/>
              </a:rPr>
              <a:t>. Stereotype threat and the intellectual test performance of African Americans. </a:t>
            </a:r>
            <a:r>
              <a:rPr lang="fr-FR" sz="1500" b="0" i="1" u="none" strike="noStrike" cap="none">
                <a:solidFill>
                  <a:schemeClr val="dk1"/>
                </a:solidFill>
                <a:latin typeface="Arial"/>
                <a:ea typeface="Arial"/>
                <a:cs typeface="Arial"/>
                <a:sym typeface="Arial"/>
              </a:rPr>
              <a:t>Journal of personality and social psychology</a:t>
            </a:r>
            <a:r>
              <a:rPr lang="fr-FR" sz="1500" b="0" i="0" u="none" strike="noStrike" cap="none">
                <a:solidFill>
                  <a:schemeClr val="dk1"/>
                </a:solidFill>
                <a:latin typeface="Arial"/>
                <a:ea typeface="Arial"/>
                <a:cs typeface="Arial"/>
                <a:sym typeface="Arial"/>
              </a:rPr>
              <a:t>, 1995, vol. 69, no 5, p. 797.</a:t>
            </a:r>
            <a:endParaRPr/>
          </a:p>
          <a:p>
            <a:pPr marL="0" marR="0" lvl="0" indent="0" algn="l" rtl="0">
              <a:lnSpc>
                <a:spcPct val="90000"/>
              </a:lnSpc>
              <a:spcBef>
                <a:spcPts val="25"/>
              </a:spcBef>
              <a:spcAft>
                <a:spcPts val="0"/>
              </a:spcAft>
              <a:buClr>
                <a:schemeClr val="dk1"/>
              </a:buClr>
              <a:buSzPts val="1100"/>
              <a:buFont typeface="Arial"/>
              <a:buNone/>
            </a:pPr>
            <a:endParaRPr sz="1500" b="0" i="0" u="none" strike="noStrike" cap="none">
              <a:solidFill>
                <a:schemeClr val="dk1"/>
              </a:solidFill>
              <a:latin typeface="Arial"/>
              <a:ea typeface="Arial"/>
              <a:cs typeface="Arial"/>
              <a:sym typeface="Arial"/>
            </a:endParaRPr>
          </a:p>
          <a:p>
            <a:pPr marL="0" marR="0" lvl="0" indent="0" algn="l" rtl="0">
              <a:lnSpc>
                <a:spcPct val="90000"/>
              </a:lnSpc>
              <a:spcBef>
                <a:spcPts val="25"/>
              </a:spcBef>
              <a:spcAft>
                <a:spcPts val="0"/>
              </a:spcAft>
              <a:buClr>
                <a:schemeClr val="dk1"/>
              </a:buClr>
              <a:buSzPts val="1100"/>
              <a:buFont typeface="Arial"/>
              <a:buNone/>
            </a:pPr>
            <a:r>
              <a:rPr lang="fr-FR" sz="1500" b="1" i="0" u="none" strike="noStrike" cap="none">
                <a:solidFill>
                  <a:schemeClr val="dk1"/>
                </a:solidFill>
                <a:latin typeface="Arial"/>
                <a:ea typeface="Arial"/>
                <a:cs typeface="Arial"/>
                <a:sym typeface="Arial"/>
              </a:rPr>
              <a:t>TITTEL Katharina</a:t>
            </a:r>
            <a:r>
              <a:rPr lang="fr-FR" sz="1500" b="0" i="0" u="none" strike="noStrike" cap="none">
                <a:solidFill>
                  <a:schemeClr val="dk1"/>
                </a:solidFill>
                <a:latin typeface="Arial"/>
                <a:ea typeface="Arial"/>
                <a:cs typeface="Arial"/>
                <a:sym typeface="Arial"/>
              </a:rPr>
              <a:t>, « Ébrécher le plafond de verre sans le percer. Le pouvoir épisodique des internautes ordinaires dans le discours Français sur l’immigration sur Twitter », </a:t>
            </a:r>
            <a:r>
              <a:rPr lang="fr-FR" sz="1500" b="0" i="1" u="none" strike="noStrike" cap="none">
                <a:solidFill>
                  <a:schemeClr val="dk1"/>
                </a:solidFill>
                <a:latin typeface="Arial"/>
                <a:ea typeface="Arial"/>
                <a:cs typeface="Arial"/>
                <a:sym typeface="Arial"/>
              </a:rPr>
              <a:t>Hommes &amp; Migrations</a:t>
            </a:r>
            <a:r>
              <a:rPr lang="fr-FR" sz="1500" b="0" i="0" u="none" strike="noStrike" cap="none">
                <a:solidFill>
                  <a:schemeClr val="dk1"/>
                </a:solidFill>
                <a:latin typeface="Arial"/>
                <a:ea typeface="Arial"/>
                <a:cs typeface="Arial"/>
                <a:sym typeface="Arial"/>
              </a:rPr>
              <a:t>, 2022/2 (n° 1337), p. 21-33. </a:t>
            </a:r>
            <a:endParaRPr sz="1500" b="0" i="0" u="none" strike="noStrike" cap="none">
              <a:solidFill>
                <a:schemeClr val="dk1"/>
              </a:solidFill>
              <a:latin typeface="Arial"/>
              <a:ea typeface="Arial"/>
              <a:cs typeface="Arial"/>
              <a:sym typeface="Arial"/>
            </a:endParaRPr>
          </a:p>
        </p:txBody>
      </p:sp>
      <p:sp>
        <p:nvSpPr>
          <p:cNvPr id="518" name="Google Shape;518;g2abac93716c_0_50"/>
          <p:cNvSpPr txBox="1"/>
          <p:nvPr/>
        </p:nvSpPr>
        <p:spPr>
          <a:xfrm>
            <a:off x="467650" y="973475"/>
            <a:ext cx="8219100" cy="698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fr-FR" sz="3200" b="1" i="0" u="none" strike="noStrike" cap="none">
                <a:solidFill>
                  <a:srgbClr val="2E5D5A"/>
                </a:solidFill>
                <a:latin typeface="Calibri"/>
                <a:ea typeface="Calibri"/>
                <a:cs typeface="Calibri"/>
                <a:sym typeface="Calibri"/>
              </a:rPr>
              <a:t>Références bibliographiques</a:t>
            </a:r>
            <a:endParaRPr sz="3200" b="1" i="0" u="none" strike="noStrike" cap="none">
              <a:solidFill>
                <a:srgbClr val="2E5D5A"/>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Thème Office">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3314</Words>
  <Application>Microsoft Macintosh PowerPoint</Application>
  <PresentationFormat>On-screen Show (4:3)</PresentationFormat>
  <Paragraphs>464</Paragraphs>
  <Slides>49</Slides>
  <Notes>49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Georgia</vt:lpstr>
      <vt:lpstr>Thème Office</vt:lpstr>
      <vt:lpstr>Séance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 Template</dc:creator>
  <cp:lastModifiedBy>Alex Sheridan</cp:lastModifiedBy>
  <cp:revision>26</cp:revision>
  <dcterms:created xsi:type="dcterms:W3CDTF">2015-01-09T14:59:06Z</dcterms:created>
  <dcterms:modified xsi:type="dcterms:W3CDTF">2026-01-16T12:29:12Z</dcterms:modified>
</cp:coreProperties>
</file>